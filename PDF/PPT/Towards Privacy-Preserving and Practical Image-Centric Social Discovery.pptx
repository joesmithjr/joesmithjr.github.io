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58" r:id="rId5"/>
    <p:sldId id="259" r:id="rId6"/>
    <p:sldId id="260" r:id="rId7"/>
    <p:sldId id="263" r:id="rId8"/>
    <p:sldId id="273" r:id="rId9"/>
    <p:sldId id="278" r:id="rId10"/>
    <p:sldId id="286" r:id="rId11"/>
    <p:sldId id="290" r:id="rId12"/>
    <p:sldId id="291" r:id="rId13"/>
    <p:sldId id="294" r:id="rId14"/>
    <p:sldId id="292" r:id="rId15"/>
    <p:sldId id="293" r:id="rId16"/>
    <p:sldId id="265" r:id="rId17"/>
    <p:sldId id="295" r:id="rId18"/>
    <p:sldId id="280" r:id="rId19"/>
    <p:sldId id="296" r:id="rId20"/>
    <p:sldId id="297" r:id="rId21"/>
    <p:sldId id="268" r:id="rId22"/>
    <p:sldId id="276" r:id="rId23"/>
    <p:sldId id="287" r:id="rId24"/>
    <p:sldId id="285" r:id="rId25"/>
    <p:sldId id="298" r:id="rId26"/>
    <p:sldId id="288" r:id="rId27"/>
    <p:sldId id="277" r:id="rId28"/>
    <p:sldId id="289" r:id="rId29"/>
    <p:sldId id="269" r:id="rId30"/>
    <p:sldId id="274" r:id="rId31"/>
    <p:sldId id="256" r:id="rId32"/>
    <p:sldId id="264" r:id="rId33"/>
    <p:sldId id="272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54711635626537"/>
          <c:y val="0.13468380441656616"/>
          <c:w val="0.94489848265476672"/>
          <c:h val="0.695680804138835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美食</c:v>
                </c:pt>
                <c:pt idx="1">
                  <c:v>足球</c:v>
                </c:pt>
                <c:pt idx="2">
                  <c:v>滑板</c:v>
                </c:pt>
                <c:pt idx="3">
                  <c:v>电影</c:v>
                </c:pt>
                <c:pt idx="4">
                  <c:v>风景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9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65-4C48-9F9F-55E119FAC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6983992"/>
        <c:axId val="476986616"/>
      </c:barChart>
      <c:catAx>
        <c:axId val="476983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6986616"/>
        <c:crosses val="autoZero"/>
        <c:auto val="1"/>
        <c:lblAlgn val="ctr"/>
        <c:lblOffset val="100"/>
        <c:noMultiLvlLbl val="0"/>
      </c:catAx>
      <c:valAx>
        <c:axId val="47698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6983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164881006171796E-2"/>
          <c:y val="0.13468381336503149"/>
          <c:w val="0.94489848265476672"/>
          <c:h val="0.695680804138835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美食</c:v>
                </c:pt>
                <c:pt idx="1">
                  <c:v>足球</c:v>
                </c:pt>
                <c:pt idx="2">
                  <c:v>滑板</c:v>
                </c:pt>
                <c:pt idx="3">
                  <c:v>电影</c:v>
                </c:pt>
                <c:pt idx="4">
                  <c:v>风景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06-49F6-98D9-320099EF9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6983992"/>
        <c:axId val="476986616"/>
      </c:barChart>
      <c:catAx>
        <c:axId val="476983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6986616"/>
        <c:crosses val="autoZero"/>
        <c:auto val="1"/>
        <c:lblAlgn val="ctr"/>
        <c:lblOffset val="100"/>
        <c:noMultiLvlLbl val="0"/>
      </c:catAx>
      <c:valAx>
        <c:axId val="47698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6983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D97EE-50B5-4BC0-ABC4-07B4796BB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7252E7-9A46-4153-83DE-58617BC1C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8A2D8-F8A5-4A30-B559-26C49342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63455-7315-4DFF-9A14-80D74933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4AD52-CC99-4DC7-9C5C-7650BF0A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96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D175A-1659-4283-9C8B-AC7C66D7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D0904-AB97-4BF1-B079-ECD1F328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9FCEF6-1449-4F58-9BC7-C7D66254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733549-CB87-48FB-BC45-80652D52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D90F17-DB19-4BB4-AFA2-58DBF837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89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D7948-8632-4090-98F8-13668C323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1EEAF1-51DB-4333-9123-0449EBA0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70024-8812-42B8-AD48-43750632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962828-3CFE-47C0-8CDF-C9D70F62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9919E-E4A3-4056-BB2F-DBFF7C04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95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1814B-DAA4-40CF-8146-BF549A82B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CB5299-0109-45CD-A464-2599931AF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BB6922-C0D0-4612-A491-94CFB4BD4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19033F-BB6A-42A8-900C-ACD26D0B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A94CF4-5271-472A-A621-85ECA9BA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B4CD0C-CAF0-4E1C-85AE-BA173ACE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56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04698-5C77-4858-B5AA-7521ECCE1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FD4DE5-5E8E-4586-B367-09330E23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DA8944-FF80-4366-9879-999A84926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4B97F4-DD6A-4011-AD43-ABA613D1A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CCF9DD-4815-4A09-901C-854962CA2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94C8B64-C2F7-42A7-A9A6-BB1E5FC75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591B58-3359-4289-A69B-756B03F3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698272-4A0F-4FBB-986E-617CBDE4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29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18EFF-0E46-403E-8A3B-8A0A360C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E3826A-8316-45E7-B365-F41BF3BF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C8CF04-0999-4620-AF43-1B5C1E2A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17B76E-5E59-41A0-8523-12782F4F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2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3EEFAB-798F-409F-8941-9947B629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6D76F9-BCE4-4A43-B17A-9883677A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BA6A4B-E28F-4B39-81D5-8879AC1B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7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2641C-E6DB-4F1C-B785-4683227C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10057F-49FB-4EF4-8C53-65D7C523E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D89E88-459A-4C0D-B31D-3A33B5482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055E8F-5908-4835-957B-EE63B0E9C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17C578-EC3D-4632-98D4-13E3ADC1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4757D4-BE53-4896-937D-1BACF125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82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19F7-416D-4134-A943-53BAC106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9335F6-609B-4FF3-943B-E9E59654E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0251E4-C43F-40B1-8DEA-0B8C4616E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5EA145-E3DB-4B98-88F7-20B1F922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994967-195C-4F84-8F12-5CFCF99A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5CB41E-473E-4B06-854E-E79EE1DA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3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AF287-60AF-418D-A81C-A42C405F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7C0D4A-86D3-477B-BB0E-69BE3F8C8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02BB7-EEEE-4D21-93AC-503C7B98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0B08C4-EE97-4A5D-903C-48E79DDE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FD37D5-F291-42C3-9396-5DB12EF5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69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4A01B6-FA9A-451D-8F8D-87E109640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5DC1FB-233D-4B86-8097-6CADC5778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E15F4-EB54-48BC-AF31-95D136C5B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8130B-8017-4DF3-A2C0-AC9C6514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1A9E3A-D574-455D-927F-4ABE7D22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3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F43AB5-CADA-4DEF-B4CA-64421E47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18B734-8FBA-4F9D-BA17-D3CD448C5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660D7-5EF0-477B-94A1-7E493E68D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29E79-BD82-46A4-9E70-21B09C16E18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B5894-ECD3-4B9C-BABF-BDE014912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CA7687-7206-4693-837E-9BE9E82F3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7E9EF-3FB7-4E06-B3AE-E50822C61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20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70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0.png"/><Relationship Id="rId5" Type="http://schemas.openxmlformats.org/officeDocument/2006/relationships/image" Target="../media/image21.png"/><Relationship Id="rId10" Type="http://schemas.openxmlformats.org/officeDocument/2006/relationships/image" Target="../media/image250.png"/><Relationship Id="rId4" Type="http://schemas.openxmlformats.org/officeDocument/2006/relationships/image" Target="../media/image20.png"/><Relationship Id="rId9" Type="http://schemas.openxmlformats.org/officeDocument/2006/relationships/image" Target="../media/image240.png"/><Relationship Id="rId1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35.png"/><Relationship Id="rId12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39.png"/><Relationship Id="rId5" Type="http://schemas.openxmlformats.org/officeDocument/2006/relationships/image" Target="../media/image44.png"/><Relationship Id="rId10" Type="http://schemas.openxmlformats.org/officeDocument/2006/relationships/image" Target="../media/image38.png"/><Relationship Id="rId4" Type="http://schemas.openxmlformats.org/officeDocument/2006/relationships/image" Target="../media/image43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35.png"/><Relationship Id="rId12" Type="http://schemas.openxmlformats.org/officeDocument/2006/relationships/image" Target="../media/image4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39.png"/><Relationship Id="rId5" Type="http://schemas.openxmlformats.org/officeDocument/2006/relationships/image" Target="../media/image50.png"/><Relationship Id="rId10" Type="http://schemas.openxmlformats.org/officeDocument/2006/relationships/image" Target="../media/image38.png"/><Relationship Id="rId4" Type="http://schemas.openxmlformats.org/officeDocument/2006/relationships/image" Target="../media/image49.png"/><Relationship Id="rId9" Type="http://schemas.openxmlformats.org/officeDocument/2006/relationships/image" Target="../media/image37.png"/><Relationship Id="rId1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7.png"/><Relationship Id="rId3" Type="http://schemas.openxmlformats.org/officeDocument/2006/relationships/image" Target="../media/image53.png"/><Relationship Id="rId7" Type="http://schemas.openxmlformats.org/officeDocument/2006/relationships/image" Target="../media/image35.png"/><Relationship Id="rId12" Type="http://schemas.openxmlformats.org/officeDocument/2006/relationships/image" Target="../media/image4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39.png"/><Relationship Id="rId5" Type="http://schemas.openxmlformats.org/officeDocument/2006/relationships/image" Target="../media/image50.png"/><Relationship Id="rId10" Type="http://schemas.openxmlformats.org/officeDocument/2006/relationships/image" Target="../media/image38.png"/><Relationship Id="rId4" Type="http://schemas.openxmlformats.org/officeDocument/2006/relationships/image" Target="../media/image49.png"/><Relationship Id="rId9" Type="http://schemas.openxmlformats.org/officeDocument/2006/relationships/image" Target="../media/image37.png"/><Relationship Id="rId1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6.png"/><Relationship Id="rId7" Type="http://schemas.openxmlformats.org/officeDocument/2006/relationships/image" Target="../media/image3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39.png"/><Relationship Id="rId5" Type="http://schemas.openxmlformats.org/officeDocument/2006/relationships/image" Target="../media/image58.png"/><Relationship Id="rId10" Type="http://schemas.openxmlformats.org/officeDocument/2006/relationships/image" Target="../media/image38.png"/><Relationship Id="rId4" Type="http://schemas.openxmlformats.org/officeDocument/2006/relationships/image" Target="../media/image57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1.png"/><Relationship Id="rId7" Type="http://schemas.openxmlformats.org/officeDocument/2006/relationships/image" Target="../media/image3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39.png"/><Relationship Id="rId5" Type="http://schemas.openxmlformats.org/officeDocument/2006/relationships/image" Target="../media/image63.png"/><Relationship Id="rId10" Type="http://schemas.openxmlformats.org/officeDocument/2006/relationships/image" Target="../media/image38.png"/><Relationship Id="rId4" Type="http://schemas.openxmlformats.org/officeDocument/2006/relationships/image" Target="../media/image62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3" Type="http://schemas.openxmlformats.org/officeDocument/2006/relationships/image" Target="../media/image300.png"/><Relationship Id="rId7" Type="http://schemas.openxmlformats.org/officeDocument/2006/relationships/image" Target="../media/image30.emf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50.png"/><Relationship Id="rId5" Type="http://schemas.openxmlformats.org/officeDocument/2006/relationships/image" Target="../media/image320.png"/><Relationship Id="rId10" Type="http://schemas.openxmlformats.org/officeDocument/2006/relationships/image" Target="../media/image200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78.png"/><Relationship Id="rId7" Type="http://schemas.openxmlformats.org/officeDocument/2006/relationships/image" Target="../media/image430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1.png"/><Relationship Id="rId5" Type="http://schemas.openxmlformats.org/officeDocument/2006/relationships/image" Target="../media/image411.png"/><Relationship Id="rId4" Type="http://schemas.openxmlformats.org/officeDocument/2006/relationships/image" Target="../media/image401.png"/><Relationship Id="rId9" Type="http://schemas.openxmlformats.org/officeDocument/2006/relationships/image" Target="../media/image4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84.png"/><Relationship Id="rId18" Type="http://schemas.openxmlformats.org/officeDocument/2006/relationships/image" Target="../media/image86.png"/><Relationship Id="rId3" Type="http://schemas.openxmlformats.org/officeDocument/2006/relationships/image" Target="../media/image80.png"/><Relationship Id="rId7" Type="http://schemas.openxmlformats.org/officeDocument/2006/relationships/image" Target="../media/image380.png"/><Relationship Id="rId12" Type="http://schemas.openxmlformats.org/officeDocument/2006/relationships/image" Target="../media/image23.png"/><Relationship Id="rId17" Type="http://schemas.openxmlformats.org/officeDocument/2006/relationships/image" Target="../media/image85.png"/><Relationship Id="rId2" Type="http://schemas.openxmlformats.org/officeDocument/2006/relationships/image" Target="../media/image79.png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22.png"/><Relationship Id="rId5" Type="http://schemas.openxmlformats.org/officeDocument/2006/relationships/image" Target="../media/image82.png"/><Relationship Id="rId15" Type="http://schemas.openxmlformats.org/officeDocument/2006/relationships/image" Target="../media/image410.png"/><Relationship Id="rId10" Type="http://schemas.openxmlformats.org/officeDocument/2006/relationships/image" Target="../media/image21.png"/><Relationship Id="rId4" Type="http://schemas.openxmlformats.org/officeDocument/2006/relationships/image" Target="../media/image81.png"/><Relationship Id="rId9" Type="http://schemas.openxmlformats.org/officeDocument/2006/relationships/image" Target="../media/image20.png"/><Relationship Id="rId14" Type="http://schemas.openxmlformats.org/officeDocument/2006/relationships/image" Target="../media/image40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39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3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37.png"/><Relationship Id="rId5" Type="http://schemas.openxmlformats.org/officeDocument/2006/relationships/image" Target="../media/image90.png"/><Relationship Id="rId10" Type="http://schemas.openxmlformats.org/officeDocument/2006/relationships/image" Target="../media/image36.png"/><Relationship Id="rId4" Type="http://schemas.openxmlformats.org/officeDocument/2006/relationships/image" Target="../media/image89.png"/><Relationship Id="rId9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chart" Target="../charts/chart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2.xml"/><Relationship Id="rId4" Type="http://schemas.openxmlformats.org/officeDocument/2006/relationships/image" Target="../media/image97.png"/><Relationship Id="rId9" Type="http://schemas.openxmlformats.org/officeDocument/2006/relationships/image" Target="../media/image9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6.png"/><Relationship Id="rId5" Type="http://schemas.openxmlformats.org/officeDocument/2006/relationships/image" Target="../media/image102.png"/><Relationship Id="rId10" Type="http://schemas.openxmlformats.org/officeDocument/2006/relationships/image" Target="../media/image66.png"/><Relationship Id="rId4" Type="http://schemas.openxmlformats.org/officeDocument/2006/relationships/image" Target="../media/image101.png"/><Relationship Id="rId9" Type="http://schemas.openxmlformats.org/officeDocument/2006/relationships/image" Target="../media/image10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27032-FBCB-43BF-97CF-1AD9AD3D0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5943" y="868362"/>
            <a:ext cx="12583886" cy="2387600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Privacy-Preserving and </a:t>
            </a:r>
            <a:r>
              <a:rPr lang="en-US" altLang="zh-C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PracticaL</a:t>
            </a:r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Image-Centric </a:t>
            </a:r>
            <a:r>
              <a:rPr lang="en-US" altLang="zh-C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Discovery</a:t>
            </a:r>
            <a:endParaRPr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1FCC50-27F9-422B-AE12-D21E13EFA2D6}"/>
              </a:ext>
            </a:extLst>
          </p:cNvPr>
          <p:cNvSpPr txBox="1"/>
          <p:nvPr/>
        </p:nvSpPr>
        <p:spPr>
          <a:xfrm>
            <a:off x="1074057" y="186143"/>
            <a:ext cx="11117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DEPENDABLE AND SECURE COMPUTING, VOL. 15, NO. 5, SEPTEMBER/OCTOBER 2018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46CDD5-437F-4E1D-9C60-2C2E1404D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71" y="3938181"/>
            <a:ext cx="9742857" cy="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4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56248B6-EC2C-4BE7-9321-0CC50E985DD2}"/>
              </a:ext>
            </a:extLst>
          </p:cNvPr>
          <p:cNvSpPr/>
          <p:nvPr/>
        </p:nvSpPr>
        <p:spPr>
          <a:xfrm>
            <a:off x="-1" y="419114"/>
            <a:ext cx="25346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b="1" dirty="0"/>
              <a:t> </a:t>
            </a:r>
            <a:r>
              <a:rPr lang="en-US" altLang="zh-CN" sz="2800" b="1" dirty="0"/>
              <a:t>Background</a:t>
            </a:r>
            <a:endParaRPr lang="zh-CN" altLang="en-US" sz="2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18C681-5A5D-4048-9B0E-8439D806E86F}"/>
              </a:ext>
            </a:extLst>
          </p:cNvPr>
          <p:cNvSpPr txBox="1"/>
          <p:nvPr/>
        </p:nvSpPr>
        <p:spPr>
          <a:xfrm>
            <a:off x="-1" y="1165618"/>
            <a:ext cx="12191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images contain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 information</a:t>
            </a:r>
          </a:p>
          <a:p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effectively handle the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large-scale computation and storage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social media applications is to adopt the public cloud platforms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protection mechanisms primarily focus on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access control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public cloud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known to have a very broad attack surface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19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AD1A689-B8E9-4212-B933-74B421E15432}"/>
              </a:ext>
            </a:extLst>
          </p:cNvPr>
          <p:cNvSpPr/>
          <p:nvPr/>
        </p:nvSpPr>
        <p:spPr>
          <a:xfrm>
            <a:off x="0" y="520995"/>
            <a:ext cx="27542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b="1" dirty="0"/>
              <a:t> </a:t>
            </a:r>
            <a:r>
              <a:rPr lang="en-US" altLang="zh-CN" sz="2800" b="1" dirty="0"/>
              <a:t>contributions</a:t>
            </a:r>
            <a:endParaRPr lang="zh-CN" altLang="en-US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07425F-DDB5-46CD-8CD3-0858585EDA62}"/>
              </a:ext>
            </a:extLst>
          </p:cNvPr>
          <p:cNvSpPr txBox="1"/>
          <p:nvPr/>
        </p:nvSpPr>
        <p:spPr>
          <a:xfrm>
            <a:off x="0" y="1395090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index structure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guarantees the privacy protection on image content and user image profiles.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extend the system functionality by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secure insertion and secure deletion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updates of user image profiles. </a:t>
            </a:r>
          </a:p>
        </p:txBody>
      </p:sp>
    </p:spTree>
    <p:extLst>
      <p:ext uri="{BB962C8B-B14F-4D97-AF65-F5344CB8AC3E}">
        <p14:creationId xmlns:p14="http://schemas.microsoft.com/office/powerpoint/2010/main" val="63544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8674D81-B176-434E-AE3F-91F1EB81C85C}"/>
              </a:ext>
            </a:extLst>
          </p:cNvPr>
          <p:cNvSpPr/>
          <p:nvPr/>
        </p:nvSpPr>
        <p:spPr>
          <a:xfrm>
            <a:off x="0" y="350874"/>
            <a:ext cx="37481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b="1" dirty="0"/>
              <a:t> </a:t>
            </a:r>
            <a:r>
              <a:rPr lang="en-US" altLang="zh-CN" sz="2800" b="1" dirty="0"/>
              <a:t>system architecture</a:t>
            </a:r>
            <a:endParaRPr lang="zh-CN" altLang="en-US" sz="28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C8B02A-D6DC-4543-879E-33D18DE2E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97" y="874094"/>
            <a:ext cx="9694005" cy="589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0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35087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9A25F4-39DE-4B5A-A155-D8598AA0AC76}"/>
              </a:ext>
            </a:extLst>
          </p:cNvPr>
          <p:cNvSpPr/>
          <p:nvPr/>
        </p:nvSpPr>
        <p:spPr>
          <a:xfrm>
            <a:off x="852895" y="1985252"/>
            <a:ext cx="4352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Locality-sensitive Hashing (LSH)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0010DA-039A-4CBE-9BF5-71DA9F04B508}"/>
              </a:ext>
            </a:extLst>
          </p:cNvPr>
          <p:cNvSpPr/>
          <p:nvPr/>
        </p:nvSpPr>
        <p:spPr>
          <a:xfrm>
            <a:off x="7757720" y="1985252"/>
            <a:ext cx="22445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Cuckoo Hashing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97603A-914D-4CCF-9D1E-89B11956C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73" y="3062897"/>
            <a:ext cx="4793940" cy="23672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101F35-6280-4F14-986E-71449BCFB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815" y="3429845"/>
            <a:ext cx="5308334" cy="163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2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21AB58C-12DC-4E6B-9BF0-C35BE21B03C6}"/>
              </a:ext>
            </a:extLst>
          </p:cNvPr>
          <p:cNvSpPr/>
          <p:nvPr/>
        </p:nvSpPr>
        <p:spPr>
          <a:xfrm>
            <a:off x="0" y="350874"/>
            <a:ext cx="12057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4CB6D45-C9D3-46DD-A45B-E405D02F8315}"/>
              </a:ext>
            </a:extLst>
          </p:cNvPr>
          <p:cNvSpPr/>
          <p:nvPr/>
        </p:nvSpPr>
        <p:spPr>
          <a:xfrm>
            <a:off x="4533014" y="1129892"/>
            <a:ext cx="542260" cy="9333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8C692DE-0564-4162-A0E7-D500544A1F92}"/>
              </a:ext>
            </a:extLst>
          </p:cNvPr>
          <p:cNvSpPr/>
          <p:nvPr/>
        </p:nvSpPr>
        <p:spPr>
          <a:xfrm>
            <a:off x="4533014" y="2188606"/>
            <a:ext cx="542260" cy="404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586D9C0-8932-42C8-A255-5474FF07BC1C}"/>
              </a:ext>
            </a:extLst>
          </p:cNvPr>
          <p:cNvSpPr/>
          <p:nvPr/>
        </p:nvSpPr>
        <p:spPr>
          <a:xfrm>
            <a:off x="244550" y="1129892"/>
            <a:ext cx="3586714" cy="4040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Image Profile Generation {S}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8EAB720-D57A-42A5-949A-9BAF47072D6E}"/>
              </a:ext>
            </a:extLst>
          </p:cNvPr>
          <p:cNvSpPr/>
          <p:nvPr/>
        </p:nvSpPr>
        <p:spPr>
          <a:xfrm>
            <a:off x="244549" y="1659249"/>
            <a:ext cx="3586714" cy="4040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Metadata Generation {V}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ED0B1EC-62DA-4177-AC0E-49D4BD2DE8F4}"/>
              </a:ext>
            </a:extLst>
          </p:cNvPr>
          <p:cNvSpPr/>
          <p:nvPr/>
        </p:nvSpPr>
        <p:spPr>
          <a:xfrm>
            <a:off x="244548" y="2188606"/>
            <a:ext cx="3586714" cy="404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Encrypts images {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9CCD7E60-AD62-4FDB-8AAF-A64BAE669E6D}"/>
              </a:ext>
            </a:extLst>
          </p:cNvPr>
          <p:cNvSpPr/>
          <p:nvPr/>
        </p:nvSpPr>
        <p:spPr>
          <a:xfrm>
            <a:off x="3955312" y="1244009"/>
            <a:ext cx="542260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325CF9D4-CB03-4A9E-B13C-4FAA04DD5E9C}"/>
              </a:ext>
            </a:extLst>
          </p:cNvPr>
          <p:cNvSpPr/>
          <p:nvPr/>
        </p:nvSpPr>
        <p:spPr>
          <a:xfrm>
            <a:off x="3955312" y="1758619"/>
            <a:ext cx="542260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DAAE214F-CDA2-4377-9283-626DD95290A1}"/>
              </a:ext>
            </a:extLst>
          </p:cNvPr>
          <p:cNvSpPr/>
          <p:nvPr/>
        </p:nvSpPr>
        <p:spPr>
          <a:xfrm>
            <a:off x="3960628" y="2294931"/>
            <a:ext cx="542260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606EF9-CE36-4B49-B65F-0D904090BEDB}"/>
              </a:ext>
            </a:extLst>
          </p:cNvPr>
          <p:cNvSpPr/>
          <p:nvPr/>
        </p:nvSpPr>
        <p:spPr>
          <a:xfrm>
            <a:off x="-1" y="342900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1E4694-7BB5-46C2-9F9E-3E8FB8474F4F}"/>
              </a:ext>
            </a:extLst>
          </p:cNvPr>
          <p:cNvSpPr/>
          <p:nvPr/>
        </p:nvSpPr>
        <p:spPr>
          <a:xfrm>
            <a:off x="6308651" y="347624"/>
            <a:ext cx="933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9AC38F6-A9F2-4A9A-A319-8371FA4412F8}"/>
              </a:ext>
            </a:extLst>
          </p:cNvPr>
          <p:cNvSpPr/>
          <p:nvPr/>
        </p:nvSpPr>
        <p:spPr>
          <a:xfrm>
            <a:off x="4533013" y="4214154"/>
            <a:ext cx="666308" cy="14627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CFA7F1E-F02C-41C1-B3DB-9EAB12B882B6}"/>
              </a:ext>
            </a:extLst>
          </p:cNvPr>
          <p:cNvSpPr/>
          <p:nvPr/>
        </p:nvSpPr>
        <p:spPr>
          <a:xfrm>
            <a:off x="4533013" y="5772605"/>
            <a:ext cx="666308" cy="404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C35E156-3C4D-4FEE-A4BF-9C3E29F9046B}"/>
              </a:ext>
            </a:extLst>
          </p:cNvPr>
          <p:cNvSpPr/>
          <p:nvPr/>
        </p:nvSpPr>
        <p:spPr>
          <a:xfrm>
            <a:off x="343783" y="4214155"/>
            <a:ext cx="3487479" cy="4040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&amp; Rebuild secure index I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2D74CAE-2E1C-45FB-A9EB-2444AD7077C2}"/>
                  </a:ext>
                </a:extLst>
              </p:cNvPr>
              <p:cNvSpPr/>
              <p:nvPr/>
            </p:nvSpPr>
            <p:spPr>
              <a:xfrm>
                <a:off x="343784" y="4743512"/>
                <a:ext cx="3487478" cy="4040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Encrypt profile {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2D74CAE-2E1C-45FB-A9EB-2444AD707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84" y="4743512"/>
                <a:ext cx="3487478" cy="404037"/>
              </a:xfrm>
              <a:prstGeom prst="roundRect">
                <a:avLst/>
              </a:prstGeom>
              <a:blipFill>
                <a:blip r:embed="rId2"/>
                <a:stretch>
                  <a:fillRect t="-1471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B440110-8C53-4859-8A47-DA0E128A7F75}"/>
              </a:ext>
            </a:extLst>
          </p:cNvPr>
          <p:cNvSpPr/>
          <p:nvPr/>
        </p:nvSpPr>
        <p:spPr>
          <a:xfrm>
            <a:off x="343783" y="5772605"/>
            <a:ext cx="3487478" cy="404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Decrypt M, filter to R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773A091D-536F-41E8-8906-36C651F25C2D}"/>
              </a:ext>
            </a:extLst>
          </p:cNvPr>
          <p:cNvSpPr/>
          <p:nvPr/>
        </p:nvSpPr>
        <p:spPr>
          <a:xfrm>
            <a:off x="3955311" y="4328272"/>
            <a:ext cx="542260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7E9A0B8D-A9F9-4FC5-B66D-35C90C889B88}"/>
              </a:ext>
            </a:extLst>
          </p:cNvPr>
          <p:cNvSpPr/>
          <p:nvPr/>
        </p:nvSpPr>
        <p:spPr>
          <a:xfrm>
            <a:off x="3955311" y="4842882"/>
            <a:ext cx="542260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A292621-E330-466B-946A-DD46A981268B}"/>
              </a:ext>
            </a:extLst>
          </p:cNvPr>
          <p:cNvSpPr/>
          <p:nvPr/>
        </p:nvSpPr>
        <p:spPr>
          <a:xfrm>
            <a:off x="3960627" y="5878930"/>
            <a:ext cx="542260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5887AD8-187B-4567-8095-F0157E5D0263}"/>
              </a:ext>
            </a:extLst>
          </p:cNvPr>
          <p:cNvSpPr/>
          <p:nvPr/>
        </p:nvSpPr>
        <p:spPr>
          <a:xfrm>
            <a:off x="343783" y="5272869"/>
            <a:ext cx="3487478" cy="4040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request trapdoor t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6453C089-15B8-48CB-BC08-E2CF3CFE1EDC}"/>
              </a:ext>
            </a:extLst>
          </p:cNvPr>
          <p:cNvSpPr/>
          <p:nvPr/>
        </p:nvSpPr>
        <p:spPr>
          <a:xfrm>
            <a:off x="3960627" y="5379194"/>
            <a:ext cx="542260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2968CDD-7DF7-4781-9780-990DFAB7C77C}"/>
              </a:ext>
            </a:extLst>
          </p:cNvPr>
          <p:cNvSpPr/>
          <p:nvPr/>
        </p:nvSpPr>
        <p:spPr>
          <a:xfrm>
            <a:off x="10170042" y="2725755"/>
            <a:ext cx="568842" cy="5215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667DB71-DB7C-4BA4-AD87-5380A25D2788}"/>
              </a:ext>
            </a:extLst>
          </p:cNvPr>
          <p:cNvSpPr/>
          <p:nvPr/>
        </p:nvSpPr>
        <p:spPr>
          <a:xfrm>
            <a:off x="6893442" y="1129892"/>
            <a:ext cx="3845441" cy="404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 images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B60277D-8704-4EB8-8A26-D2D5103C4D3B}"/>
              </a:ext>
            </a:extLst>
          </p:cNvPr>
          <p:cNvSpPr/>
          <p:nvPr/>
        </p:nvSpPr>
        <p:spPr>
          <a:xfrm>
            <a:off x="6893442" y="1659249"/>
            <a:ext cx="3845441" cy="404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 profiles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C677B65-3376-4AD7-99C3-0661C1718AA2}"/>
              </a:ext>
            </a:extLst>
          </p:cNvPr>
          <p:cNvSpPr/>
          <p:nvPr/>
        </p:nvSpPr>
        <p:spPr>
          <a:xfrm>
            <a:off x="6893442" y="2725755"/>
            <a:ext cx="2712471" cy="5215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Discovery &amp;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 match M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F6377E58-7A8B-4227-8D9E-D7225E651230}"/>
              </a:ext>
            </a:extLst>
          </p:cNvPr>
          <p:cNvSpPr/>
          <p:nvPr/>
        </p:nvSpPr>
        <p:spPr>
          <a:xfrm>
            <a:off x="9748286" y="2890844"/>
            <a:ext cx="421756" cy="191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EC38DA42-1785-4162-A364-4EF94BB92040}"/>
              </a:ext>
            </a:extLst>
          </p:cNvPr>
          <p:cNvSpPr/>
          <p:nvPr/>
        </p:nvSpPr>
        <p:spPr>
          <a:xfrm>
            <a:off x="6893442" y="2188606"/>
            <a:ext cx="3845442" cy="404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index I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01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E4D4158-E0E5-4D3A-AC86-8CF478A2BECA}"/>
              </a:ext>
            </a:extLst>
          </p:cNvPr>
          <p:cNvSpPr txBox="1"/>
          <p:nvPr/>
        </p:nvSpPr>
        <p:spPr>
          <a:xfrm>
            <a:off x="5068314" y="191386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Bag-of-words</a:t>
            </a:r>
            <a:r>
              <a:rPr lang="zh-CN" altLang="en-US" dirty="0"/>
              <a:t>模型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3E522EA-00A9-498D-B669-E486F2193F7F}"/>
              </a:ext>
            </a:extLst>
          </p:cNvPr>
          <p:cNvSpPr/>
          <p:nvPr/>
        </p:nvSpPr>
        <p:spPr>
          <a:xfrm>
            <a:off x="2861586" y="1178999"/>
            <a:ext cx="1309403" cy="2335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A82630-3F74-4066-8D08-7A57842A6D38}"/>
              </a:ext>
            </a:extLst>
          </p:cNvPr>
          <p:cNvSpPr txBox="1"/>
          <p:nvPr/>
        </p:nvSpPr>
        <p:spPr>
          <a:xfrm>
            <a:off x="3158980" y="823413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SIFT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4AF9BF-6C54-4C55-BA98-53FB69DDC5A0}"/>
              </a:ext>
            </a:extLst>
          </p:cNvPr>
          <p:cNvSpPr txBox="1"/>
          <p:nvPr/>
        </p:nvSpPr>
        <p:spPr>
          <a:xfrm>
            <a:off x="3158980" y="135478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SURF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0BCA21-ABB9-4508-A03D-C6942F393760}"/>
              </a:ext>
            </a:extLst>
          </p:cNvPr>
          <p:cNvSpPr txBox="1"/>
          <p:nvPr/>
        </p:nvSpPr>
        <p:spPr>
          <a:xfrm>
            <a:off x="4157207" y="1107779"/>
            <a:ext cx="271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image feature vectors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06EF16-8D1C-49CB-AD30-D256F62D9647}"/>
              </a:ext>
            </a:extLst>
          </p:cNvPr>
          <p:cNvSpPr txBox="1"/>
          <p:nvPr/>
        </p:nvSpPr>
        <p:spPr>
          <a:xfrm>
            <a:off x="9533213" y="1104168"/>
            <a:ext cx="177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visual words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A6A4E4A-E47E-4954-8F90-D844C623E38D}"/>
              </a:ext>
            </a:extLst>
          </p:cNvPr>
          <p:cNvGrpSpPr/>
          <p:nvPr/>
        </p:nvGrpSpPr>
        <p:grpSpPr>
          <a:xfrm>
            <a:off x="115553" y="5773959"/>
            <a:ext cx="9403536" cy="992388"/>
            <a:chOff x="3312710" y="5678168"/>
            <a:chExt cx="9403536" cy="9923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97F63E7-DC3A-46BF-891B-9A4B80244699}"/>
                </a:ext>
              </a:extLst>
            </p:cNvPr>
            <p:cNvSpPr/>
            <p:nvPr/>
          </p:nvSpPr>
          <p:spPr>
            <a:xfrm>
              <a:off x="3312710" y="5678168"/>
              <a:ext cx="94035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err="1">
                  <a:solidFill>
                    <a:schemeClr val="tx1"/>
                  </a:solidFill>
                </a:rPr>
                <a:t>Note:the</a:t>
              </a:r>
              <a:r>
                <a:rPr lang="en-US" altLang="zh-CN" dirty="0">
                  <a:solidFill>
                    <a:schemeClr val="tx1"/>
                  </a:solidFill>
                </a:rPr>
                <a:t> visual word vocabulary 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△ </a:t>
              </a:r>
              <a:r>
                <a:rPr lang="en-US" altLang="zh-CN" dirty="0"/>
                <a:t>be pre-trained by SF and provisioned to each user client.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3CE1CDF6-B1FE-43C7-8EB9-E3681A27D408}"/>
                    </a:ext>
                  </a:extLst>
                </p:cNvPr>
                <p:cNvSpPr/>
                <p:nvPr/>
              </p:nvSpPr>
              <p:spPr>
                <a:xfrm>
                  <a:off x="3312710" y="6301224"/>
                  <a:ext cx="88792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a14:m>
                  <a:r>
                    <a:rPr lang="en-US" altLang="zh-CN" dirty="0"/>
                    <a:t>denotes the occurrences of the corresponding visual word m is the cardinality of </a:t>
                  </a:r>
                  <a:r>
                    <a:rPr lang="en-US" altLang="zh-CN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△</a:t>
                  </a:r>
                  <a:r>
                    <a:rPr lang="en-US" altLang="zh-CN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3CE1CDF6-B1FE-43C7-8EB9-E3681A27D4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710" y="6301224"/>
                  <a:ext cx="887929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3115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0446D79C-62A0-44B6-9A7E-CED1EBAFAA9B}"/>
                    </a:ext>
                  </a:extLst>
                </p:cNvPr>
                <p:cNvSpPr/>
                <p:nvPr/>
              </p:nvSpPr>
              <p:spPr>
                <a:xfrm>
                  <a:off x="3312710" y="6019600"/>
                  <a:ext cx="805534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/>
                    <a:t>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𝒔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reflects the strength of user’s preference on the </a:t>
                  </a:r>
                  <a:r>
                    <a:rPr lang="en-US" altLang="zh-CN" dirty="0" err="1"/>
                    <a:t>ith</a:t>
                  </a:r>
                  <a:r>
                    <a:rPr lang="en-US" altLang="zh-CN" dirty="0"/>
                    <a:t> visual word in </a:t>
                  </a:r>
                  <a:r>
                    <a:rPr lang="en-US" altLang="zh-CN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△</a:t>
                  </a:r>
                  <a:r>
                    <a:rPr lang="en-US" altLang="zh-CN" dirty="0"/>
                    <a:t>.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0446D79C-62A0-44B6-9A7E-CED1EBAFAA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710" y="6019600"/>
                  <a:ext cx="8055347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681" t="-13115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4F1C05A-8EAC-46EB-9DC5-16066B8859EF}"/>
                  </a:ext>
                </a:extLst>
              </p:cNvPr>
              <p:cNvSpPr/>
              <p:nvPr/>
            </p:nvSpPr>
            <p:spPr>
              <a:xfrm>
                <a:off x="6338958" y="3174074"/>
                <a:ext cx="4841659" cy="36933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Bow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vector 1</a:t>
                </a:r>
                <a:r>
                  <a:rPr lang="zh-CN" altLang="en-US" dirty="0"/>
                  <a:t>：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W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,,,,,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4F1C05A-8EAC-46EB-9DC5-16066B8859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958" y="3174074"/>
                <a:ext cx="4841659" cy="369332"/>
              </a:xfrm>
              <a:prstGeom prst="rect">
                <a:avLst/>
              </a:prstGeom>
              <a:blipFill>
                <a:blip r:embed="rId4"/>
                <a:stretch>
                  <a:fillRect t="-12903" b="-25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649605B-070E-427A-8076-50B735F06580}"/>
                  </a:ext>
                </a:extLst>
              </p:cNvPr>
              <p:cNvSpPr/>
              <p:nvPr/>
            </p:nvSpPr>
            <p:spPr>
              <a:xfrm>
                <a:off x="6338957" y="3590701"/>
                <a:ext cx="4841659" cy="36933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Bow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vector 2</a:t>
                </a:r>
                <a:r>
                  <a:rPr lang="zh-CN" altLang="en-US" dirty="0"/>
                  <a:t>：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W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,,,,,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dirty="0"/>
              </a:p>
            </p:txBody>
          </p:sp>
        </mc:Choice>
        <mc:Fallback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649605B-070E-427A-8076-50B735F06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957" y="3590701"/>
                <a:ext cx="4841659" cy="369332"/>
              </a:xfrm>
              <a:prstGeom prst="rect">
                <a:avLst/>
              </a:prstGeom>
              <a:blipFill>
                <a:blip r:embed="rId5"/>
                <a:stretch>
                  <a:fillRect t="-11111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270833C-1FF4-42C8-BB73-C7C3150BCBBF}"/>
                  </a:ext>
                </a:extLst>
              </p:cNvPr>
              <p:cNvSpPr/>
              <p:nvPr/>
            </p:nvSpPr>
            <p:spPr>
              <a:xfrm>
                <a:off x="6338956" y="3999927"/>
                <a:ext cx="4841659" cy="36933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Bow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vector 3</a:t>
                </a:r>
                <a:r>
                  <a:rPr lang="zh-CN" altLang="en-US" dirty="0"/>
                  <a:t>：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W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,,,,,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dirty="0"/>
              </a:p>
            </p:txBody>
          </p:sp>
        </mc:Choice>
        <mc:Fallback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270833C-1FF4-42C8-BB73-C7C3150BCB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956" y="3999927"/>
                <a:ext cx="4841659" cy="369332"/>
              </a:xfrm>
              <a:prstGeom prst="rect">
                <a:avLst/>
              </a:prstGeom>
              <a:blipFill>
                <a:blip r:embed="rId6"/>
                <a:stretch>
                  <a:fillRect t="-11111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30BF7EB-1AA6-4161-A7DC-4B64130067A0}"/>
                  </a:ext>
                </a:extLst>
              </p:cNvPr>
              <p:cNvSpPr/>
              <p:nvPr/>
            </p:nvSpPr>
            <p:spPr>
              <a:xfrm>
                <a:off x="6335361" y="4757986"/>
                <a:ext cx="4845254" cy="36933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Bow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vector n</a:t>
                </a:r>
                <a:r>
                  <a:rPr lang="zh-CN" altLang="en-US" dirty="0"/>
                  <a:t>：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W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,,,,,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dirty="0"/>
              </a:p>
            </p:txBody>
          </p:sp>
        </mc:Choice>
        <mc:Fallback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30BF7EB-1AA6-4161-A7DC-4B64130067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61" y="4757986"/>
                <a:ext cx="4845254" cy="369332"/>
              </a:xfrm>
              <a:prstGeom prst="rect">
                <a:avLst/>
              </a:prstGeom>
              <a:blipFill>
                <a:blip r:embed="rId7"/>
                <a:stretch>
                  <a:fillRect t="-12903" b="-25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F7F52AA8-39B9-4DA9-8E0A-A7DE8DF425EB}"/>
              </a:ext>
            </a:extLst>
          </p:cNvPr>
          <p:cNvSpPr txBox="1"/>
          <p:nvPr/>
        </p:nvSpPr>
        <p:spPr>
          <a:xfrm rot="5400000">
            <a:off x="8334713" y="438714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70774891-5705-453D-B66D-9CCB0BA6C4F9}"/>
                  </a:ext>
                </a:extLst>
              </p:cNvPr>
              <p:cNvSpPr/>
              <p:nvPr/>
            </p:nvSpPr>
            <p:spPr>
              <a:xfrm>
                <a:off x="1165351" y="3736268"/>
                <a:ext cx="4220139" cy="80190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the user image profile vector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algn="ctr"/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S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,,,,,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70774891-5705-453D-B66D-9CCB0BA6C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51" y="3736268"/>
                <a:ext cx="4220139" cy="8019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左大括号 26">
            <a:extLst>
              <a:ext uri="{FF2B5EF4-FFF2-40B4-BE49-F238E27FC236}">
                <a16:creationId xmlns:a16="http://schemas.microsoft.com/office/drawing/2014/main" id="{441075B6-A56C-41BB-9519-02FB6D3D2CE4}"/>
              </a:ext>
            </a:extLst>
          </p:cNvPr>
          <p:cNvSpPr/>
          <p:nvPr/>
        </p:nvSpPr>
        <p:spPr>
          <a:xfrm>
            <a:off x="5615516" y="3160001"/>
            <a:ext cx="665490" cy="1953244"/>
          </a:xfrm>
          <a:prstGeom prst="leftBrace">
            <a:avLst>
              <a:gd name="adj1" fmla="val 8333"/>
              <a:gd name="adj2" fmla="val 511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88A454A-58C0-408F-8CCB-37D29F443DBB}"/>
              </a:ext>
            </a:extLst>
          </p:cNvPr>
          <p:cNvSpPr/>
          <p:nvPr/>
        </p:nvSpPr>
        <p:spPr>
          <a:xfrm>
            <a:off x="6676158" y="643220"/>
            <a:ext cx="3111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the visual word vocabulary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△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0663CA-A0FE-4AD4-B4C8-EF35874965F5}"/>
              </a:ext>
            </a:extLst>
          </p:cNvPr>
          <p:cNvSpPr/>
          <p:nvPr/>
        </p:nvSpPr>
        <p:spPr>
          <a:xfrm>
            <a:off x="2650753" y="3360550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normalizes it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0FE067-85FB-4B5B-A798-A33F12498DDA}"/>
              </a:ext>
            </a:extLst>
          </p:cNvPr>
          <p:cNvSpPr/>
          <p:nvPr/>
        </p:nvSpPr>
        <p:spPr>
          <a:xfrm>
            <a:off x="0" y="191386"/>
            <a:ext cx="12057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76B519-5AE7-44B1-A5C9-E41185D7D9E2}"/>
              </a:ext>
            </a:extLst>
          </p:cNvPr>
          <p:cNvSpPr/>
          <p:nvPr/>
        </p:nvSpPr>
        <p:spPr>
          <a:xfrm>
            <a:off x="7123685" y="1612399"/>
            <a:ext cx="2098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K-means clustering</a:t>
            </a: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FFEF42CF-CC73-4942-AFB1-083E8C8A03BE}"/>
              </a:ext>
            </a:extLst>
          </p:cNvPr>
          <p:cNvSpPr/>
          <p:nvPr/>
        </p:nvSpPr>
        <p:spPr>
          <a:xfrm>
            <a:off x="6820611" y="1183472"/>
            <a:ext cx="2509803" cy="273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8E76897-D50F-4CE4-A4FD-8C9C2B5389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2804" y="892642"/>
            <a:ext cx="1261388" cy="79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6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40880C9-91FF-4E67-BE9E-E8B6CDC10D02}"/>
                  </a:ext>
                </a:extLst>
              </p:cNvPr>
              <p:cNvSpPr/>
              <p:nvPr/>
            </p:nvSpPr>
            <p:spPr>
              <a:xfrm>
                <a:off x="687662" y="2383842"/>
                <a:ext cx="62047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Metadata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40880C9-91FF-4E67-BE9E-E8B6CDC10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62" y="2383842"/>
                <a:ext cx="6204712" cy="461665"/>
              </a:xfrm>
              <a:prstGeom prst="rect">
                <a:avLst/>
              </a:prstGeom>
              <a:blipFill>
                <a:blip r:embed="rId2"/>
                <a:stretch>
                  <a:fillRect l="-1572" t="-15789" r="-491" b="-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E3FF9BD-9B86-4255-88F5-B0AD9F4466AF}"/>
                  </a:ext>
                </a:extLst>
              </p:cNvPr>
              <p:cNvSpPr/>
              <p:nvPr/>
            </p:nvSpPr>
            <p:spPr>
              <a:xfrm>
                <a:off x="687662" y="2968958"/>
                <a:ext cx="1150433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231F20"/>
                    </a:solidFill>
                    <a:latin typeface="AdvP1491"/>
                  </a:rPr>
                  <a:t>The parameter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h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rgbClr val="231F20"/>
                    </a:solidFill>
                    <a:latin typeface="AdvP1491"/>
                  </a:rPr>
                  <a:t>denotes the set parameters of </a:t>
                </a:r>
                <a:r>
                  <a:rPr lang="en-US" altLang="zh-CN" sz="2400" dirty="0">
                    <a:solidFill>
                      <a:srgbClr val="231F20"/>
                    </a:solidFill>
                    <a:latin typeface="AdvP4C4E51"/>
                  </a:rPr>
                  <a:t>l </a:t>
                </a:r>
                <a:r>
                  <a:rPr lang="en-US" altLang="zh-CN" sz="2400" dirty="0">
                    <a:solidFill>
                      <a:srgbClr val="231F20"/>
                    </a:solidFill>
                    <a:latin typeface="AdvP1491"/>
                  </a:rPr>
                  <a:t>concatenation </a:t>
                </a:r>
                <a:r>
                  <a:rPr lang="en-US" altLang="zh-CN" sz="2400" b="1" dirty="0">
                    <a:solidFill>
                      <a:srgbClr val="231F20"/>
                    </a:solidFill>
                    <a:latin typeface="AdvP1491"/>
                  </a:rPr>
                  <a:t>LSH functions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E3FF9BD-9B86-4255-88F5-B0AD9F4466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62" y="2968958"/>
                <a:ext cx="11504338" cy="830997"/>
              </a:xfrm>
              <a:prstGeom prst="rect">
                <a:avLst/>
              </a:prstGeom>
              <a:blipFill>
                <a:blip r:embed="rId3"/>
                <a:stretch>
                  <a:fillRect l="-848" t="-8824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4BCACCB-02A8-405E-806E-561456693280}"/>
              </a:ext>
            </a:extLst>
          </p:cNvPr>
          <p:cNvSpPr txBox="1"/>
          <p:nvPr/>
        </p:nvSpPr>
        <p:spPr>
          <a:xfrm>
            <a:off x="666879" y="4142648"/>
            <a:ext cx="4950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metadata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V </a:t>
            </a:r>
            <a:r>
              <a:rPr lang="en-US" altLang="zh-CN" sz="2400" dirty="0"/>
              <a:t>uploaded directly to SF.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BA05CA-6028-4264-9D9B-AE950ACF0FBD}"/>
                  </a:ext>
                </a:extLst>
              </p:cNvPr>
              <p:cNvSpPr txBox="1"/>
              <p:nvPr/>
            </p:nvSpPr>
            <p:spPr>
              <a:xfrm>
                <a:off x="765401" y="673955"/>
                <a:ext cx="26854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BA05CA-6028-4264-9D9B-AE950ACF0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01" y="673955"/>
                <a:ext cx="2685415" cy="461665"/>
              </a:xfrm>
              <a:prstGeom prst="rect">
                <a:avLst/>
              </a:prstGeom>
              <a:blipFill>
                <a:blip r:embed="rId4"/>
                <a:stretch>
                  <a:fillRect l="-3636" t="-10667" r="-2955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158A07F-E6C6-44D3-AB72-DEE15854B1FC}"/>
                  </a:ext>
                </a:extLst>
              </p:cNvPr>
              <p:cNvSpPr/>
              <p:nvPr/>
            </p:nvSpPr>
            <p:spPr>
              <a:xfrm>
                <a:off x="758227" y="1073407"/>
                <a:ext cx="285988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}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158A07F-E6C6-44D3-AB72-DEE15854B1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27" y="1073407"/>
                <a:ext cx="2859885" cy="461665"/>
              </a:xfrm>
              <a:prstGeom prst="rect">
                <a:avLst/>
              </a:prstGeom>
              <a:blipFill>
                <a:blip r:embed="rId5"/>
                <a:stretch>
                  <a:fillRect l="-3191" t="-10526" r="-2340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33C89E46-B0DB-46EE-8F0D-F3FC4FCCBF7C}"/>
              </a:ext>
            </a:extLst>
          </p:cNvPr>
          <p:cNvSpPr/>
          <p:nvPr/>
        </p:nvSpPr>
        <p:spPr>
          <a:xfrm>
            <a:off x="765401" y="152524"/>
            <a:ext cx="15536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 users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2E272F-FDA7-4359-9F04-5F5E1A722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79" y="5097096"/>
            <a:ext cx="8598386" cy="127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6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8D886E5-855C-4433-87A0-42FCE37B3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412931"/>
              </p:ext>
            </p:extLst>
          </p:nvPr>
        </p:nvGraphicFramePr>
        <p:xfrm>
          <a:off x="2577557" y="1102777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F083B34-88D0-4F21-97EB-2016BCAB9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747477"/>
              </p:ext>
            </p:extLst>
          </p:nvPr>
        </p:nvGraphicFramePr>
        <p:xfrm>
          <a:off x="2577557" y="1906999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BC91C75-EA36-4325-AE17-31A1B1108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162550"/>
              </p:ext>
            </p:extLst>
          </p:nvPr>
        </p:nvGraphicFramePr>
        <p:xfrm>
          <a:off x="2577557" y="2705230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1E23829-56AD-456F-B320-E8768C971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111492"/>
              </p:ext>
            </p:extLst>
          </p:nvPr>
        </p:nvGraphicFramePr>
        <p:xfrm>
          <a:off x="2577557" y="3503461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FCCFCEE-B1C5-487A-B7A5-558420005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214170"/>
              </p:ext>
            </p:extLst>
          </p:nvPr>
        </p:nvGraphicFramePr>
        <p:xfrm>
          <a:off x="2577557" y="4884788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354E9F7-C931-4D2A-A62D-ABD3330E06A0}"/>
              </a:ext>
            </a:extLst>
          </p:cNvPr>
          <p:cNvSpPr txBox="1"/>
          <p:nvPr/>
        </p:nvSpPr>
        <p:spPr>
          <a:xfrm rot="5400000" flipH="1">
            <a:off x="5053611" y="4300589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EF4C7988-EC0E-4807-A1B4-351394A12A7B}"/>
              </a:ext>
            </a:extLst>
          </p:cNvPr>
          <p:cNvSpPr/>
          <p:nvPr/>
        </p:nvSpPr>
        <p:spPr>
          <a:xfrm>
            <a:off x="8581343" y="1103967"/>
            <a:ext cx="373047" cy="43357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D60E46-4F03-4BDA-88E6-B723BAFB12F6}"/>
              </a:ext>
            </a:extLst>
          </p:cNvPr>
          <p:cNvSpPr txBox="1"/>
          <p:nvPr/>
        </p:nvSpPr>
        <p:spPr>
          <a:xfrm>
            <a:off x="9352993" y="3075499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</a:t>
            </a:r>
            <a:r>
              <a:rPr lang="zh-CN" altLang="en-US" dirty="0"/>
              <a:t>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632934-8C89-4E09-8BCA-1DA67DBF2BD6}"/>
              </a:ext>
            </a:extLst>
          </p:cNvPr>
          <p:cNvSpPr txBox="1"/>
          <p:nvPr/>
        </p:nvSpPr>
        <p:spPr>
          <a:xfrm>
            <a:off x="3472070" y="33855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 = 2</a:t>
            </a:r>
            <a:endParaRPr lang="zh-CN" altLang="en-US" dirty="0"/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335A2CF0-6787-4A84-B461-CC2E32D64599}"/>
              </a:ext>
            </a:extLst>
          </p:cNvPr>
          <p:cNvSpPr/>
          <p:nvPr/>
        </p:nvSpPr>
        <p:spPr>
          <a:xfrm rot="5400000">
            <a:off x="5052507" y="3177027"/>
            <a:ext cx="373047" cy="53229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A9AF38D-3A9B-4761-AA29-9C4DBF649418}"/>
              </a:ext>
            </a:extLst>
          </p:cNvPr>
          <p:cNvSpPr txBox="1"/>
          <p:nvPr/>
        </p:nvSpPr>
        <p:spPr>
          <a:xfrm>
            <a:off x="5083406" y="605261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E715E5-966F-4999-ADEE-39F96D176079}"/>
              </a:ext>
            </a:extLst>
          </p:cNvPr>
          <p:cNvSpPr txBox="1"/>
          <p:nvPr/>
        </p:nvSpPr>
        <p:spPr>
          <a:xfrm>
            <a:off x="8360542" y="5683283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N=L*w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8011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E69F023-9657-4980-A15F-65242A8A0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498634"/>
              </p:ext>
            </p:extLst>
          </p:nvPr>
        </p:nvGraphicFramePr>
        <p:xfrm>
          <a:off x="1225836" y="731716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76A49C7-6821-4126-B963-F2319CC25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341478"/>
              </p:ext>
            </p:extLst>
          </p:nvPr>
        </p:nvGraphicFramePr>
        <p:xfrm>
          <a:off x="1225836" y="1535938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781CCD-D317-4EBE-9CD1-D0D0B3138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06899"/>
              </p:ext>
            </p:extLst>
          </p:nvPr>
        </p:nvGraphicFramePr>
        <p:xfrm>
          <a:off x="1225836" y="2334169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DBD640C-9FC5-4530-AF4A-D17246F91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8696"/>
              </p:ext>
            </p:extLst>
          </p:nvPr>
        </p:nvGraphicFramePr>
        <p:xfrm>
          <a:off x="1225836" y="3132400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13299C1-FE98-40F6-BF31-4BF98F8FF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955498"/>
              </p:ext>
            </p:extLst>
          </p:nvPr>
        </p:nvGraphicFramePr>
        <p:xfrm>
          <a:off x="1225836" y="4513727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642E291-CAB5-4787-9E48-9D8DAE1334F4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151945F-6753-42A5-8CD9-B5368F5CC103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151945F-6753-42A5-8CD9-B5368F5CC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077382A-AF2C-43F2-8FC0-B707A81318BF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077382A-AF2C-43F2-8FC0-B707A8131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4855D6-28A6-4BDA-91F2-E7998144F500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4855D6-28A6-4BDA-91F2-E7998144F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5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18EABBF-8ECA-4F9F-B0D3-9B06E0840E86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18EABBF-8ECA-4F9F-B0D3-9B06E0840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6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7F9220C-64DE-44BC-AABD-018F057E9807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7F9220C-64DE-44BC-AABD-018F057E9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E315A125-FC6B-4247-A2EB-C4B75E17B3DC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CFE277-0FCE-48C8-A4EE-6DF65BC2F352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7AA1E43-372A-4885-976F-FEE7FEBC71B7}"/>
                  </a:ext>
                </a:extLst>
              </p:cNvPr>
              <p:cNvSpPr txBox="1"/>
              <p:nvPr/>
            </p:nvSpPr>
            <p:spPr>
              <a:xfrm>
                <a:off x="7454400" y="5016667"/>
                <a:ext cx="3653936" cy="55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−&gt;</m:t>
                      </m:r>
                      <m:r>
                        <a:rPr lang="el-GR" altLang="zh-CN" sz="2800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−&gt;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C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L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7AA1E43-372A-4885-976F-FEE7FEBC7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00" y="5016667"/>
                <a:ext cx="3653936" cy="5579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E3F5A84-3BFE-4D66-80A6-CD8B620756A6}"/>
                  </a:ext>
                </a:extLst>
              </p:cNvPr>
              <p:cNvSpPr/>
              <p:nvPr/>
            </p:nvSpPr>
            <p:spPr>
              <a:xfrm>
                <a:off x="8905712" y="2499741"/>
                <a:ext cx="1804245" cy="645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ƒ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E3F5A84-3BFE-4D66-80A6-CD8B620756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712" y="2499741"/>
                <a:ext cx="1804245" cy="645048"/>
              </a:xfrm>
              <a:prstGeom prst="rect">
                <a:avLst/>
              </a:prstGeom>
              <a:blipFill>
                <a:blip r:embed="rId9"/>
                <a:stretch>
                  <a:fillRect r="-23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F6FD7EF-0922-48D4-8643-779BB832CAE7}"/>
                  </a:ext>
                </a:extLst>
              </p:cNvPr>
              <p:cNvSpPr/>
              <p:nvPr/>
            </p:nvSpPr>
            <p:spPr>
              <a:xfrm>
                <a:off x="6832374" y="2916525"/>
                <a:ext cx="920188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l-GR" altLang="zh-CN" sz="2400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b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F6FD7EF-0922-48D4-8643-779BB832CA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374" y="2916525"/>
                <a:ext cx="920188" cy="491417"/>
              </a:xfrm>
              <a:prstGeom prst="rect">
                <a:avLst/>
              </a:prstGeom>
              <a:blipFill>
                <a:blip r:embed="rId10"/>
                <a:stretch>
                  <a:fillRect l="-1987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248670B-3CE3-4701-A832-D6DD1FEAF75E}"/>
                  </a:ext>
                </a:extLst>
              </p:cNvPr>
              <p:cNvSpPr/>
              <p:nvPr/>
            </p:nvSpPr>
            <p:spPr>
              <a:xfrm>
                <a:off x="8882221" y="3357284"/>
                <a:ext cx="2672078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ƒ</m:t>
                      </m:r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||</m:t>
                      </m:r>
                      <m:r>
                        <a:rPr lang="zh-CN" alt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𝞭</m:t>
                      </m:r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248670B-3CE3-4701-A832-D6DD1FEAF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221" y="3357284"/>
                <a:ext cx="2672078" cy="491417"/>
              </a:xfrm>
              <a:prstGeom prst="rect">
                <a:avLst/>
              </a:prstGeom>
              <a:blipFill>
                <a:blip r:embed="rId11"/>
                <a:stretch>
                  <a:fillRect r="-457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左大括号 35">
            <a:extLst>
              <a:ext uri="{FF2B5EF4-FFF2-40B4-BE49-F238E27FC236}">
                <a16:creationId xmlns:a16="http://schemas.microsoft.com/office/drawing/2014/main" id="{178ABBDF-3B1D-41BC-832E-E1180C080126}"/>
              </a:ext>
            </a:extLst>
          </p:cNvPr>
          <p:cNvSpPr/>
          <p:nvPr/>
        </p:nvSpPr>
        <p:spPr>
          <a:xfrm>
            <a:off x="7656091" y="2714233"/>
            <a:ext cx="462355" cy="888760"/>
          </a:xfrm>
          <a:prstGeom prst="leftBrace">
            <a:avLst>
              <a:gd name="adj1" fmla="val 8333"/>
              <a:gd name="adj2" fmla="val 544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26B2310-6AB2-48B0-A25E-9E46A1BE9DD6}"/>
              </a:ext>
            </a:extLst>
          </p:cNvPr>
          <p:cNvSpPr/>
          <p:nvPr/>
        </p:nvSpPr>
        <p:spPr>
          <a:xfrm>
            <a:off x="8192204" y="3407942"/>
            <a:ext cx="379099" cy="393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6DBB2D-24E3-4F01-B4DA-95111F16DF26}"/>
              </a:ext>
            </a:extLst>
          </p:cNvPr>
          <p:cNvSpPr/>
          <p:nvPr/>
        </p:nvSpPr>
        <p:spPr>
          <a:xfrm>
            <a:off x="8192204" y="2562614"/>
            <a:ext cx="379099" cy="3937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0F3666A-D8C5-4693-BA0A-4FDDC28DE19C}"/>
              </a:ext>
            </a:extLst>
          </p:cNvPr>
          <p:cNvGrpSpPr/>
          <p:nvPr/>
        </p:nvGrpSpPr>
        <p:grpSpPr>
          <a:xfrm>
            <a:off x="6805657" y="261610"/>
            <a:ext cx="5065563" cy="1600208"/>
            <a:chOff x="7259862" y="3559975"/>
            <a:chExt cx="5395070" cy="1600208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69EC7982-A939-4479-9D83-A140B406A42B}"/>
                </a:ext>
              </a:extLst>
            </p:cNvPr>
            <p:cNvGrpSpPr/>
            <p:nvPr/>
          </p:nvGrpSpPr>
          <p:grpSpPr>
            <a:xfrm>
              <a:off x="7259862" y="4116051"/>
              <a:ext cx="5395070" cy="1044132"/>
              <a:chOff x="7221683" y="4158702"/>
              <a:chExt cx="5395070" cy="1044132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5B233A61-E623-4317-98E6-C00A8E30A6AD}"/>
                  </a:ext>
                </a:extLst>
              </p:cNvPr>
              <p:cNvGrpSpPr/>
              <p:nvPr/>
            </p:nvGrpSpPr>
            <p:grpSpPr>
              <a:xfrm>
                <a:off x="7221683" y="4158702"/>
                <a:ext cx="2973447" cy="1044132"/>
                <a:chOff x="7353386" y="4399548"/>
                <a:chExt cx="2973447" cy="10441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矩形 58">
                      <a:extLst>
                        <a:ext uri="{FF2B5EF4-FFF2-40B4-BE49-F238E27FC236}">
                          <a16:creationId xmlns:a16="http://schemas.microsoft.com/office/drawing/2014/main" id="{EBC5DAAF-5F92-428D-B848-2662C183D6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8087" y="4399548"/>
                      <a:ext cx="2208746" cy="10441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zh-CN" sz="240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ƒ</m:t>
                            </m:r>
                            <m:d>
                              <m:d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oMath>
                        </m:oMathPara>
                      </a14:m>
                      <a:endParaRPr lang="en-US" altLang="zh-CN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zh-CN" sz="240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ƒ</m:t>
                            </m:r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)||</m:t>
                            </m:r>
                            <m:r>
                              <a:rPr lang="zh-CN" altLang="en-US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𝞭</m:t>
                            </m:r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oMath>
                        </m:oMathPara>
                      </a14:m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矩形 36">
                      <a:extLst>
                        <a:ext uri="{FF2B5EF4-FFF2-40B4-BE49-F238E27FC236}">
                          <a16:creationId xmlns:a16="http://schemas.microsoft.com/office/drawing/2014/main" id="{50065389-9D34-427D-A0D3-3E1995F95F3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18087" y="4399548"/>
                      <a:ext cx="2208746" cy="10441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353" r="-4706" b="-52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矩形 59">
                      <a:extLst>
                        <a:ext uri="{FF2B5EF4-FFF2-40B4-BE49-F238E27FC236}">
                          <a16:creationId xmlns:a16="http://schemas.microsoft.com/office/drawing/2014/main" id="{28046887-9228-4A77-9496-16E8679656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3386" y="4619961"/>
                      <a:ext cx="55303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a14:m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矩形 37">
                      <a:extLst>
                        <a:ext uri="{FF2B5EF4-FFF2-40B4-BE49-F238E27FC236}">
                          <a16:creationId xmlns:a16="http://schemas.microsoft.com/office/drawing/2014/main" id="{FC5A27E1-0A59-4D4A-88B5-BF63857E498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53386" y="4619961"/>
                      <a:ext cx="553037" cy="46166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9302" t="-10526" r="-23256" b="-289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1" name="左大括号 60">
                  <a:extLst>
                    <a:ext uri="{FF2B5EF4-FFF2-40B4-BE49-F238E27FC236}">
                      <a16:creationId xmlns:a16="http://schemas.microsoft.com/office/drawing/2014/main" id="{3DC2E5D1-CF6D-4637-A6CF-A21A4F560077}"/>
                    </a:ext>
                  </a:extLst>
                </p:cNvPr>
                <p:cNvSpPr/>
                <p:nvPr/>
              </p:nvSpPr>
              <p:spPr>
                <a:xfrm>
                  <a:off x="7906176" y="4471101"/>
                  <a:ext cx="138153" cy="667052"/>
                </a:xfrm>
                <a:prstGeom prst="leftBrace">
                  <a:avLst>
                    <a:gd name="adj1" fmla="val 8333"/>
                    <a:gd name="adj2" fmla="val 54473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85ED9F79-73FE-41E9-89C9-632C1B2132FA}"/>
                  </a:ext>
                </a:extLst>
              </p:cNvPr>
              <p:cNvSpPr/>
              <p:nvPr/>
            </p:nvSpPr>
            <p:spPr>
              <a:xfrm>
                <a:off x="10419148" y="4230255"/>
                <a:ext cx="21976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 1≤j≤L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E3002DE-15DE-46A4-99D8-5490BC276409}"/>
                </a:ext>
              </a:extLst>
            </p:cNvPr>
            <p:cNvSpPr txBox="1"/>
            <p:nvPr/>
          </p:nvSpPr>
          <p:spPr>
            <a:xfrm>
              <a:off x="8902313" y="3559975"/>
              <a:ext cx="22087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1≤i≤n users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38A34145-016C-4C58-BE1A-3034F02405CA}"/>
              </a:ext>
            </a:extLst>
          </p:cNvPr>
          <p:cNvSpPr/>
          <p:nvPr/>
        </p:nvSpPr>
        <p:spPr>
          <a:xfrm>
            <a:off x="8118167" y="4181542"/>
            <a:ext cx="2063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7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E69F023-9657-4980-A15F-65242A8A0A6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25836" y="731716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76A49C7-6821-4126-B963-F2319CC25CA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25836" y="1535938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9781CCD-D317-4EBE-9CD1-D0D0B313832A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9781CCD-D317-4EBE-9CD1-D0D0B31383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2427195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DBD640C-9FC5-4530-AF4A-D17246F91B9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25836" y="3132400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13299C1-FE98-40F6-BF31-4BF98F8FF76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25836" y="4513727"/>
          <a:ext cx="5322950" cy="5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95">
                  <a:extLst>
                    <a:ext uri="{9D8B030D-6E8A-4147-A177-3AD203B41FA5}">
                      <a16:colId xmlns:a16="http://schemas.microsoft.com/office/drawing/2014/main" val="36196707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465373116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82403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9354024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8430012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956856863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413994198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893201875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3377245624"/>
                    </a:ext>
                  </a:extLst>
                </a:gridCol>
                <a:gridCol w="532295">
                  <a:extLst>
                    <a:ext uri="{9D8B030D-6E8A-4147-A177-3AD203B41FA5}">
                      <a16:colId xmlns:a16="http://schemas.microsoft.com/office/drawing/2014/main" val="1605247586"/>
                    </a:ext>
                  </a:extLst>
                </a:gridCol>
              </a:tblGrid>
              <a:tr h="5549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6236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642E291-CAB5-4787-9E48-9D8DAE1334F4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151945F-6753-42A5-8CD9-B5368F5CC103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151945F-6753-42A5-8CD9-B5368F5CC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077382A-AF2C-43F2-8FC0-B707A81318BF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077382A-AF2C-43F2-8FC0-B707A8131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4855D6-28A6-4BDA-91F2-E7998144F500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4855D6-28A6-4BDA-91F2-E7998144F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5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18EABBF-8ECA-4F9F-B0D3-9B06E0840E86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18EABBF-8ECA-4F9F-B0D3-9B06E0840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6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7F9220C-64DE-44BC-AABD-018F057E9807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7F9220C-64DE-44BC-AABD-018F057E9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E315A125-FC6B-4247-A2EB-C4B75E17B3DC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4AD447A-BE07-48FE-8D8B-230142C83231}"/>
                  </a:ext>
                </a:extLst>
              </p:cNvPr>
              <p:cNvSpPr txBox="1"/>
              <p:nvPr/>
            </p:nvSpPr>
            <p:spPr>
              <a:xfrm>
                <a:off x="7454400" y="5016667"/>
                <a:ext cx="3653936" cy="55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−&gt;</m:t>
                      </m:r>
                      <m:r>
                        <a:rPr lang="el-GR" altLang="zh-CN" sz="2800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−&gt;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2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C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4AD447A-BE07-48FE-8D8B-230142C83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00" y="5016667"/>
                <a:ext cx="3653936" cy="5579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>
            <a:extLst>
              <a:ext uri="{FF2B5EF4-FFF2-40B4-BE49-F238E27FC236}">
                <a16:creationId xmlns:a16="http://schemas.microsoft.com/office/drawing/2014/main" id="{91CFE277-0FCE-48C8-A4EE-6DF65BC2F352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8A58E46-6FA5-4CC2-9D84-4C38CEF05FFA}"/>
                  </a:ext>
                </a:extLst>
              </p:cNvPr>
              <p:cNvSpPr/>
              <p:nvPr/>
            </p:nvSpPr>
            <p:spPr>
              <a:xfrm>
                <a:off x="8905712" y="2499741"/>
                <a:ext cx="1804245" cy="645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ƒ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8A58E46-6FA5-4CC2-9D84-4C38CEF05F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712" y="2499741"/>
                <a:ext cx="1804245" cy="645048"/>
              </a:xfrm>
              <a:prstGeom prst="rect">
                <a:avLst/>
              </a:prstGeom>
              <a:blipFill>
                <a:blip r:embed="rId9"/>
                <a:stretch>
                  <a:fillRect r="-23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2947D1C-25CF-4C74-A0BC-CB917590B11C}"/>
                  </a:ext>
                </a:extLst>
              </p:cNvPr>
              <p:cNvSpPr/>
              <p:nvPr/>
            </p:nvSpPr>
            <p:spPr>
              <a:xfrm>
                <a:off x="6832374" y="2916525"/>
                <a:ext cx="920188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l-GR" altLang="zh-CN" sz="2400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b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2947D1C-25CF-4C74-A0BC-CB917590B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374" y="2916525"/>
                <a:ext cx="920188" cy="491417"/>
              </a:xfrm>
              <a:prstGeom prst="rect">
                <a:avLst/>
              </a:prstGeom>
              <a:blipFill>
                <a:blip r:embed="rId10"/>
                <a:stretch>
                  <a:fillRect l="-1987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7E4A3274-4B27-4667-9520-92BB95D2C4D8}"/>
                  </a:ext>
                </a:extLst>
              </p:cNvPr>
              <p:cNvSpPr/>
              <p:nvPr/>
            </p:nvSpPr>
            <p:spPr>
              <a:xfrm>
                <a:off x="8882221" y="3357284"/>
                <a:ext cx="2672078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ƒ</m:t>
                      </m:r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||</m:t>
                      </m:r>
                      <m:r>
                        <a:rPr lang="zh-CN" alt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𝞭</m:t>
                      </m:r>
                      <m:r>
                        <a:rPr lang="en-US" altLang="zh-CN" sz="24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7E4A3274-4B27-4667-9520-92BB95D2C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221" y="3357284"/>
                <a:ext cx="2672078" cy="491417"/>
              </a:xfrm>
              <a:prstGeom prst="rect">
                <a:avLst/>
              </a:prstGeom>
              <a:blipFill>
                <a:blip r:embed="rId11"/>
                <a:stretch>
                  <a:fillRect r="-457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左大括号 46">
            <a:extLst>
              <a:ext uri="{FF2B5EF4-FFF2-40B4-BE49-F238E27FC236}">
                <a16:creationId xmlns:a16="http://schemas.microsoft.com/office/drawing/2014/main" id="{752D5268-5B6D-43BE-89BC-8026A425ACBC}"/>
              </a:ext>
            </a:extLst>
          </p:cNvPr>
          <p:cNvSpPr/>
          <p:nvPr/>
        </p:nvSpPr>
        <p:spPr>
          <a:xfrm>
            <a:off x="7656091" y="2714233"/>
            <a:ext cx="462355" cy="888760"/>
          </a:xfrm>
          <a:prstGeom prst="leftBrace">
            <a:avLst>
              <a:gd name="adj1" fmla="val 8333"/>
              <a:gd name="adj2" fmla="val 544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52FC725-55B6-4275-9BC6-04E18260E843}"/>
              </a:ext>
            </a:extLst>
          </p:cNvPr>
          <p:cNvSpPr/>
          <p:nvPr/>
        </p:nvSpPr>
        <p:spPr>
          <a:xfrm>
            <a:off x="8192204" y="3407942"/>
            <a:ext cx="379099" cy="393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7FD991B-C806-41D4-8C6E-EE6125DBBF60}"/>
              </a:ext>
            </a:extLst>
          </p:cNvPr>
          <p:cNvSpPr/>
          <p:nvPr/>
        </p:nvSpPr>
        <p:spPr>
          <a:xfrm>
            <a:off x="8192204" y="2562614"/>
            <a:ext cx="379099" cy="3937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67A55CF-B5D7-48E4-8B78-5F517D3208AD}"/>
              </a:ext>
            </a:extLst>
          </p:cNvPr>
          <p:cNvGrpSpPr/>
          <p:nvPr/>
        </p:nvGrpSpPr>
        <p:grpSpPr>
          <a:xfrm>
            <a:off x="6805657" y="261610"/>
            <a:ext cx="5065563" cy="1600208"/>
            <a:chOff x="7259862" y="3559975"/>
            <a:chExt cx="5395070" cy="1600208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99F92F70-3EF1-42BC-9C12-850E1686F582}"/>
                </a:ext>
              </a:extLst>
            </p:cNvPr>
            <p:cNvGrpSpPr/>
            <p:nvPr/>
          </p:nvGrpSpPr>
          <p:grpSpPr>
            <a:xfrm>
              <a:off x="7259862" y="4116051"/>
              <a:ext cx="5395070" cy="1044132"/>
              <a:chOff x="7221683" y="4158702"/>
              <a:chExt cx="5395070" cy="1044132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41478ACA-306A-4E92-BED7-A8E6364D58A2}"/>
                  </a:ext>
                </a:extLst>
              </p:cNvPr>
              <p:cNvGrpSpPr/>
              <p:nvPr/>
            </p:nvGrpSpPr>
            <p:grpSpPr>
              <a:xfrm>
                <a:off x="7221683" y="4158702"/>
                <a:ext cx="2973447" cy="1044132"/>
                <a:chOff x="7353386" y="4399548"/>
                <a:chExt cx="2973447" cy="10441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矩形 54">
                      <a:extLst>
                        <a:ext uri="{FF2B5EF4-FFF2-40B4-BE49-F238E27FC236}">
                          <a16:creationId xmlns:a16="http://schemas.microsoft.com/office/drawing/2014/main" id="{54284B05-74BA-45FF-A4C3-00B726B35C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8087" y="4399548"/>
                      <a:ext cx="2208746" cy="10441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zh-CN" sz="240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ƒ</m:t>
                            </m:r>
                            <m:d>
                              <m:d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oMath>
                        </m:oMathPara>
                      </a14:m>
                      <a:endParaRPr lang="en-US" altLang="zh-CN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zh-CN" sz="240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ƒ</m:t>
                            </m:r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2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)||</m:t>
                            </m:r>
                            <m:r>
                              <a:rPr lang="zh-CN" altLang="en-US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𝞭</m:t>
                            </m:r>
                            <m:r>
                              <a:rPr lang="en-US" altLang="zh-CN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oMath>
                        </m:oMathPara>
                      </a14:m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矩形 36">
                      <a:extLst>
                        <a:ext uri="{FF2B5EF4-FFF2-40B4-BE49-F238E27FC236}">
                          <a16:creationId xmlns:a16="http://schemas.microsoft.com/office/drawing/2014/main" id="{50065389-9D34-427D-A0D3-3E1995F95F3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18087" y="4399548"/>
                      <a:ext cx="2208746" cy="10441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353" r="-4706" b="-52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矩形 55">
                      <a:extLst>
                        <a:ext uri="{FF2B5EF4-FFF2-40B4-BE49-F238E27FC236}">
                          <a16:creationId xmlns:a16="http://schemas.microsoft.com/office/drawing/2014/main" id="{4048BA2D-730C-4A6C-9FC4-60E708FACA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3386" y="4619961"/>
                      <a:ext cx="55303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a14:m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矩形 37">
                      <a:extLst>
                        <a:ext uri="{FF2B5EF4-FFF2-40B4-BE49-F238E27FC236}">
                          <a16:creationId xmlns:a16="http://schemas.microsoft.com/office/drawing/2014/main" id="{FC5A27E1-0A59-4D4A-88B5-BF63857E498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53386" y="4619961"/>
                      <a:ext cx="553037" cy="46166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9302" t="-10526" r="-23256" b="-289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7" name="左大括号 56">
                  <a:extLst>
                    <a:ext uri="{FF2B5EF4-FFF2-40B4-BE49-F238E27FC236}">
                      <a16:creationId xmlns:a16="http://schemas.microsoft.com/office/drawing/2014/main" id="{529362B4-BC19-4481-B60B-1098C8879AB2}"/>
                    </a:ext>
                  </a:extLst>
                </p:cNvPr>
                <p:cNvSpPr/>
                <p:nvPr/>
              </p:nvSpPr>
              <p:spPr>
                <a:xfrm>
                  <a:off x="7906176" y="4471101"/>
                  <a:ext cx="138153" cy="667052"/>
                </a:xfrm>
                <a:prstGeom prst="leftBrace">
                  <a:avLst>
                    <a:gd name="adj1" fmla="val 8333"/>
                    <a:gd name="adj2" fmla="val 54473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58DF7994-EDD1-45F3-B9DE-7AC79C2792A4}"/>
                  </a:ext>
                </a:extLst>
              </p:cNvPr>
              <p:cNvSpPr/>
              <p:nvPr/>
            </p:nvSpPr>
            <p:spPr>
              <a:xfrm>
                <a:off x="10419148" y="4230255"/>
                <a:ext cx="21976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 1≤j≤L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A81DE9E-25D7-4979-989A-56F7144CCD0F}"/>
                </a:ext>
              </a:extLst>
            </p:cNvPr>
            <p:cNvSpPr txBox="1"/>
            <p:nvPr/>
          </p:nvSpPr>
          <p:spPr>
            <a:xfrm>
              <a:off x="8902313" y="3559975"/>
              <a:ext cx="22087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1≤i≤n users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9008C09C-4DED-468E-BAE8-18314887DBA6}"/>
              </a:ext>
            </a:extLst>
          </p:cNvPr>
          <p:cNvSpPr/>
          <p:nvPr/>
        </p:nvSpPr>
        <p:spPr>
          <a:xfrm>
            <a:off x="8118167" y="4181542"/>
            <a:ext cx="2063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4D74729-46FA-4F3D-BCA7-C656336ED6A3}"/>
                  </a:ext>
                </a:extLst>
              </p:cNvPr>
              <p:cNvSpPr/>
              <p:nvPr/>
            </p:nvSpPr>
            <p:spPr>
              <a:xfrm>
                <a:off x="10869555" y="3996876"/>
                <a:ext cx="12243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𝞭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∈[1,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𝑑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4D74729-46FA-4F3D-BCA7-C656336ED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9555" y="3996876"/>
                <a:ext cx="122431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DB3E9240-B880-4BF4-BAE3-DD042E72B6A4}"/>
              </a:ext>
            </a:extLst>
          </p:cNvPr>
          <p:cNvSpPr/>
          <p:nvPr/>
        </p:nvSpPr>
        <p:spPr>
          <a:xfrm>
            <a:off x="2639853" y="5710388"/>
            <a:ext cx="1947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insertion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43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09FD5CB-2991-4265-958C-11A96382F0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2518715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09FD5CB-2991-4265-958C-11A96382F0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2518715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2174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389FA40-6689-45DE-B176-65570D38C4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9681719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389FA40-6689-45DE-B176-65570D38C4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9681719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1087" r="-708046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EA89FAD2-8F99-4EA9-94C4-BFB616BFEF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062873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EA89FAD2-8F99-4EA9-94C4-BFB616BFEF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062873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1DA92C1-2D8A-4562-82AB-22A8F6A08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4312713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1DA92C1-2D8A-4562-82AB-22A8F6A08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4312713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03448" t="-1087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C141DC2-B312-4D65-A78C-731433721B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78831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C141DC2-B312-4D65-A78C-731433721B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78831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1087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9F636EA7-CD96-481E-AB66-8C0B028A7ABA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8679E5A-262C-4DDC-A492-D0BC4259A885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8679E5A-262C-4DDC-A492-D0BC4259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1D7245-E71D-4F1E-B132-0A01C71125DC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1D7245-E71D-4F1E-B132-0A01C7112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C6BD7F4-1415-4546-B865-6392A1E4BD74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C6BD7F4-1415-4546-B865-6392A1E4BD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8787E74-FA69-4400-BDF1-51C082B2EC1A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8787E74-FA69-4400-BDF1-51C082B2E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0CD8BAC-5C18-4F19-82E0-454D8636D8C0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0CD8BAC-5C18-4F19-82E0-454D8636D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95B182B8-1AFD-436D-BD8F-D37D524FA565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E5DF09-BE88-4F3C-B153-6C2443AA019F}"/>
              </a:ext>
            </a:extLst>
          </p:cNvPr>
          <p:cNvSpPr/>
          <p:nvPr/>
        </p:nvSpPr>
        <p:spPr>
          <a:xfrm>
            <a:off x="7680613" y="593684"/>
            <a:ext cx="36736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</a:t>
            </a:r>
            <a:r>
              <a:rPr lang="el-GR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[1,L]</a:t>
            </a:r>
          </a:p>
          <a:p>
            <a:r>
              <a:rPr lang="en-US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 L,</a:t>
            </a:r>
            <a:r>
              <a:rPr lang="el-GR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α </a:t>
            </a:r>
            <a:r>
              <a:rPr lang="en-US" altLang="zh-CN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+L-1 mod L]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3A8E6D-715B-4166-9D27-500571105923}"/>
              </a:ext>
            </a:extLst>
          </p:cNvPr>
          <p:cNvSpPr txBox="1"/>
          <p:nvPr/>
        </p:nvSpPr>
        <p:spPr>
          <a:xfrm>
            <a:off x="9432723" y="1918830"/>
            <a:ext cx="1921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[1,2,3,4,5,6,7]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0A1F0F-952A-46F9-9BD2-B9DA98A07A52}"/>
              </a:ext>
            </a:extLst>
          </p:cNvPr>
          <p:cNvSpPr/>
          <p:nvPr/>
        </p:nvSpPr>
        <p:spPr>
          <a:xfrm>
            <a:off x="9253819" y="2889104"/>
            <a:ext cx="2335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j=3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74FF4C-D2A6-40E8-885E-86F94916EDEE}"/>
              </a:ext>
            </a:extLst>
          </p:cNvPr>
          <p:cNvSpPr/>
          <p:nvPr/>
        </p:nvSpPr>
        <p:spPr>
          <a:xfrm>
            <a:off x="9425556" y="3395608"/>
            <a:ext cx="19287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[1,2,3,4,5,6,7]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D003E8EA-BE77-476C-8F47-7602D6BD2AEC}"/>
              </a:ext>
            </a:extLst>
          </p:cNvPr>
          <p:cNvSpPr/>
          <p:nvPr/>
        </p:nvSpPr>
        <p:spPr>
          <a:xfrm>
            <a:off x="10514532" y="3911638"/>
            <a:ext cx="161851" cy="3050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1E7EE91-2B24-4FC9-B8ED-F74C4528B073}"/>
                  </a:ext>
                </a:extLst>
              </p:cNvPr>
              <p:cNvSpPr/>
              <p:nvPr/>
            </p:nvSpPr>
            <p:spPr>
              <a:xfrm>
                <a:off x="7048283" y="2111261"/>
                <a:ext cx="6283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m:t> 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1E7EE91-2B24-4FC9-B8ED-F74C4528B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283" y="2111261"/>
                <a:ext cx="628314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箭头: 上 21">
            <a:extLst>
              <a:ext uri="{FF2B5EF4-FFF2-40B4-BE49-F238E27FC236}">
                <a16:creationId xmlns:a16="http://schemas.microsoft.com/office/drawing/2014/main" id="{3DFD4B3E-7CE9-4164-AE2D-E229A348F16B}"/>
              </a:ext>
            </a:extLst>
          </p:cNvPr>
          <p:cNvSpPr/>
          <p:nvPr/>
        </p:nvSpPr>
        <p:spPr>
          <a:xfrm>
            <a:off x="10769147" y="3911638"/>
            <a:ext cx="161851" cy="3050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上 22">
            <a:extLst>
              <a:ext uri="{FF2B5EF4-FFF2-40B4-BE49-F238E27FC236}">
                <a16:creationId xmlns:a16="http://schemas.microsoft.com/office/drawing/2014/main" id="{599B0F03-7342-4226-B554-59A047D43ED3}"/>
              </a:ext>
            </a:extLst>
          </p:cNvPr>
          <p:cNvSpPr/>
          <p:nvPr/>
        </p:nvSpPr>
        <p:spPr>
          <a:xfrm>
            <a:off x="11018892" y="3911697"/>
            <a:ext cx="161851" cy="3050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上 23">
            <a:extLst>
              <a:ext uri="{FF2B5EF4-FFF2-40B4-BE49-F238E27FC236}">
                <a16:creationId xmlns:a16="http://schemas.microsoft.com/office/drawing/2014/main" id="{36ED6202-679D-4BC3-8340-FFEB36A3D2D6}"/>
              </a:ext>
            </a:extLst>
          </p:cNvPr>
          <p:cNvSpPr/>
          <p:nvPr/>
        </p:nvSpPr>
        <p:spPr>
          <a:xfrm>
            <a:off x="9634684" y="3911113"/>
            <a:ext cx="161851" cy="3050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上 24">
            <a:extLst>
              <a:ext uri="{FF2B5EF4-FFF2-40B4-BE49-F238E27FC236}">
                <a16:creationId xmlns:a16="http://schemas.microsoft.com/office/drawing/2014/main" id="{159E6EE8-F6B6-43A1-BF58-9C2A36B4CBA3}"/>
              </a:ext>
            </a:extLst>
          </p:cNvPr>
          <p:cNvSpPr/>
          <p:nvPr/>
        </p:nvSpPr>
        <p:spPr>
          <a:xfrm>
            <a:off x="9872729" y="3911113"/>
            <a:ext cx="161851" cy="30505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上 25">
            <a:extLst>
              <a:ext uri="{FF2B5EF4-FFF2-40B4-BE49-F238E27FC236}">
                <a16:creationId xmlns:a16="http://schemas.microsoft.com/office/drawing/2014/main" id="{F5C3BCE1-4B5E-4102-A096-C13AC78645FA}"/>
              </a:ext>
            </a:extLst>
          </p:cNvPr>
          <p:cNvSpPr/>
          <p:nvPr/>
        </p:nvSpPr>
        <p:spPr>
          <a:xfrm>
            <a:off x="10095097" y="3913128"/>
            <a:ext cx="161851" cy="3050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上 26">
            <a:extLst>
              <a:ext uri="{FF2B5EF4-FFF2-40B4-BE49-F238E27FC236}">
                <a16:creationId xmlns:a16="http://schemas.microsoft.com/office/drawing/2014/main" id="{EFB3FA27-724C-45AF-8CA5-F09CA6B04B15}"/>
              </a:ext>
            </a:extLst>
          </p:cNvPr>
          <p:cNvSpPr/>
          <p:nvPr/>
        </p:nvSpPr>
        <p:spPr>
          <a:xfrm>
            <a:off x="10308734" y="3911697"/>
            <a:ext cx="161851" cy="305056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6319557-0057-41B8-9F37-43B4FB15B214}"/>
              </a:ext>
            </a:extLst>
          </p:cNvPr>
          <p:cNvCxnSpPr>
            <a:stCxn id="21" idx="1"/>
          </p:cNvCxnSpPr>
          <p:nvPr/>
        </p:nvCxnSpPr>
        <p:spPr>
          <a:xfrm flipH="1" flipV="1">
            <a:off x="2743201" y="1918830"/>
            <a:ext cx="4305082" cy="42326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265BF225-2881-450C-9802-EBEC5C06DE8A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274582-4F14-4CB3-82B3-CCCFCDEB87A2}"/>
              </a:ext>
            </a:extLst>
          </p:cNvPr>
          <p:cNvSpPr/>
          <p:nvPr/>
        </p:nvSpPr>
        <p:spPr>
          <a:xfrm>
            <a:off x="2628201" y="5727737"/>
            <a:ext cx="1661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probe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0F5B415-400C-4C03-913D-C8660D2410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006555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0F5B415-400C-4C03-913D-C8660D2410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006555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174" r="-79886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2174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403448" t="-2174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7326121-B99F-4693-B0A8-7C2E6F171289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7326121-B99F-4693-B0A8-7C2E6F171289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1087" r="-708046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96591" t="-1087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F73B0108-898F-41F5-8B3F-4124077D8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908575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F73B0108-898F-41F5-8B3F-4124077D8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908575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87" r="-79886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C2C49F3-DC82-4DCA-A3A4-93ED89C8C6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7610714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C2C49F3-DC82-4DCA-A3A4-93ED89C8C6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7610714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3448" t="-1087" r="-5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03448" t="-1087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80BCE57-C27F-48EE-91ED-9FA85EAB5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620147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80BCE57-C27F-48EE-91ED-9FA85EAB5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620147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3448" t="-1087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1087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96591" t="-1087" r="-30227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92142C52-34C7-46C3-BBBF-97386F9A640D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8B3C0EF-7C8B-479B-98FE-C680E43AE6FB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8B3C0EF-7C8B-479B-98FE-C680E43AE6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26D83E6-9D09-4370-A377-8FAB5A483961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26D83E6-9D09-4370-A377-8FAB5A483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B66C469-63F6-474F-9C0B-ADE772DF1EED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B66C469-63F6-474F-9C0B-ADE772DF1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70C5392-F8F5-469C-A0B2-935ECC0A29F7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70C5392-F8F5-469C-A0B2-935ECC0A29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3CAE00D-5C46-44D5-A32B-D5A03AAC798E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3CAE00D-5C46-44D5-A32B-D5A03AAC7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3CDF4A47-FE10-49A2-8DAD-870E7986373B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FAE0BA6-09D1-4090-BA05-00F33A34F979}"/>
                  </a:ext>
                </a:extLst>
              </p:cNvPr>
              <p:cNvSpPr/>
              <p:nvPr/>
            </p:nvSpPr>
            <p:spPr>
              <a:xfrm>
                <a:off x="7920077" y="362852"/>
                <a:ext cx="6769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FAE0BA6-09D1-4090-BA05-00F33A34F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77" y="362852"/>
                <a:ext cx="676916" cy="461665"/>
              </a:xfrm>
              <a:prstGeom prst="rect">
                <a:avLst/>
              </a:prstGeom>
              <a:blipFill>
                <a:blip r:embed="rId12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3871484E-C1AB-4B36-8CFC-947B8D105564}"/>
              </a:ext>
            </a:extLst>
          </p:cNvPr>
          <p:cNvSpPr/>
          <p:nvPr/>
        </p:nvSpPr>
        <p:spPr>
          <a:xfrm>
            <a:off x="8800336" y="417878"/>
            <a:ext cx="2335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j=2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DA0C326-1081-4A06-9862-87060E8F2503}"/>
              </a:ext>
            </a:extLst>
          </p:cNvPr>
          <p:cNvCxnSpPr>
            <a:cxnSpLocks/>
          </p:cNvCxnSpPr>
          <p:nvPr/>
        </p:nvCxnSpPr>
        <p:spPr>
          <a:xfrm flipH="1">
            <a:off x="5950227" y="897917"/>
            <a:ext cx="1601205" cy="91548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66F8B43-1DB8-49A8-B8B5-E3CABC5DC770}"/>
                  </a:ext>
                </a:extLst>
              </p:cNvPr>
              <p:cNvSpPr/>
              <p:nvPr/>
            </p:nvSpPr>
            <p:spPr>
              <a:xfrm>
                <a:off x="7536593" y="656325"/>
                <a:ext cx="651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dirty="0"/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66F8B43-1DB8-49A8-B8B5-E3CABC5DC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593" y="656325"/>
                <a:ext cx="6510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3D834E85-593A-4180-8F1F-6186A0FCA2B4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D148AB-3094-4411-A370-3CE598F0F70B}"/>
              </a:ext>
            </a:extLst>
          </p:cNvPr>
          <p:cNvSpPr/>
          <p:nvPr/>
        </p:nvSpPr>
        <p:spPr>
          <a:xfrm>
            <a:off x="2502205" y="5710388"/>
            <a:ext cx="2012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Cuckoo kick-away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61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0F5B415-400C-4C03-913D-C8660D2410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86127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0F5B415-400C-4C03-913D-C8660D2410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86127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174" r="-79886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2174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403448" t="-2174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7326121-B99F-4693-B0A8-7C2E6F171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862228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7326121-B99F-4693-B0A8-7C2E6F171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862228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1087" r="-708046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96591" t="-1087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F73B0108-898F-41F5-8B3F-4124077D8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0818896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F73B0108-898F-41F5-8B3F-4124077D8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0818896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87" r="-79886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C2C49F3-DC82-4DCA-A3A4-93ED89C8C6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021093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C2C49F3-DC82-4DCA-A3A4-93ED89C8C6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021093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3448" t="-1087" r="-5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03448" t="-1087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80BCE57-C27F-48EE-91ED-9FA85EAB5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6686701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80BCE57-C27F-48EE-91ED-9FA85EAB5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6686701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3448" t="-1087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1087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96591" t="-1087" r="-30227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92142C52-34C7-46C3-BBBF-97386F9A640D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8B3C0EF-7C8B-479B-98FE-C680E43AE6FB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8B3C0EF-7C8B-479B-98FE-C680E43AE6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26D83E6-9D09-4370-A377-8FAB5A483961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26D83E6-9D09-4370-A377-8FAB5A483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B66C469-63F6-474F-9C0B-ADE772DF1EED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B66C469-63F6-474F-9C0B-ADE772DF1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70C5392-F8F5-469C-A0B2-935ECC0A29F7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70C5392-F8F5-469C-A0B2-935ECC0A29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3CAE00D-5C46-44D5-A32B-D5A03AAC798E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3CAE00D-5C46-44D5-A32B-D5A03AAC7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3CDF4A47-FE10-49A2-8DAD-870E7986373B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FAE0BA6-09D1-4090-BA05-00F33A34F979}"/>
                  </a:ext>
                </a:extLst>
              </p:cNvPr>
              <p:cNvSpPr/>
              <p:nvPr/>
            </p:nvSpPr>
            <p:spPr>
              <a:xfrm>
                <a:off x="7920077" y="362852"/>
                <a:ext cx="6769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FAE0BA6-09D1-4090-BA05-00F33A34F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77" y="362852"/>
                <a:ext cx="676916" cy="461665"/>
              </a:xfrm>
              <a:prstGeom prst="rect">
                <a:avLst/>
              </a:prstGeom>
              <a:blipFill>
                <a:blip r:embed="rId12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3871484E-C1AB-4B36-8CFC-947B8D105564}"/>
              </a:ext>
            </a:extLst>
          </p:cNvPr>
          <p:cNvSpPr/>
          <p:nvPr/>
        </p:nvSpPr>
        <p:spPr>
          <a:xfrm>
            <a:off x="8800336" y="417878"/>
            <a:ext cx="2335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j=2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DA0C326-1081-4A06-9862-87060E8F2503}"/>
              </a:ext>
            </a:extLst>
          </p:cNvPr>
          <p:cNvCxnSpPr>
            <a:cxnSpLocks/>
          </p:cNvCxnSpPr>
          <p:nvPr/>
        </p:nvCxnSpPr>
        <p:spPr>
          <a:xfrm flipH="1">
            <a:off x="5950227" y="897917"/>
            <a:ext cx="1601205" cy="91548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1D21B69-DB34-4291-B1F1-A61881EDE254}"/>
              </a:ext>
            </a:extLst>
          </p:cNvPr>
          <p:cNvCxnSpPr>
            <a:cxnSpLocks/>
          </p:cNvCxnSpPr>
          <p:nvPr/>
        </p:nvCxnSpPr>
        <p:spPr>
          <a:xfrm>
            <a:off x="5950228" y="1920973"/>
            <a:ext cx="1815546" cy="99629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66F8B43-1DB8-49A8-B8B5-E3CABC5DC770}"/>
                  </a:ext>
                </a:extLst>
              </p:cNvPr>
              <p:cNvSpPr/>
              <p:nvPr/>
            </p:nvSpPr>
            <p:spPr>
              <a:xfrm>
                <a:off x="7536593" y="656325"/>
                <a:ext cx="651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dirty="0"/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66F8B43-1DB8-49A8-B8B5-E3CABC5DC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593" y="656325"/>
                <a:ext cx="6510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D433A84-4648-4274-AA5B-FA56FBD11DAA}"/>
                  </a:ext>
                </a:extLst>
              </p:cNvPr>
              <p:cNvSpPr/>
              <p:nvPr/>
            </p:nvSpPr>
            <p:spPr>
              <a:xfrm>
                <a:off x="7645033" y="2840167"/>
                <a:ext cx="5500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dirty="0"/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D433A84-4648-4274-AA5B-FA56FBD11D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033" y="2840167"/>
                <a:ext cx="55008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E8F8E8AB-9FEA-4120-BEE4-2D04927097D3}"/>
              </a:ext>
            </a:extLst>
          </p:cNvPr>
          <p:cNvSpPr/>
          <p:nvPr/>
        </p:nvSpPr>
        <p:spPr>
          <a:xfrm>
            <a:off x="8800336" y="2747834"/>
            <a:ext cx="2335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j=L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35B1E97-7ADF-4D27-8002-35E4D4AE3C84}"/>
              </a:ext>
            </a:extLst>
          </p:cNvPr>
          <p:cNvCxnSpPr>
            <a:cxnSpLocks/>
          </p:cNvCxnSpPr>
          <p:nvPr/>
        </p:nvCxnSpPr>
        <p:spPr>
          <a:xfrm flipH="1">
            <a:off x="5353878" y="3116775"/>
            <a:ext cx="2377680" cy="158683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D69D3005-D695-44F3-AAEB-A23EB8758403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6073C4-21C8-48CA-9774-4705557DFF28}"/>
              </a:ext>
            </a:extLst>
          </p:cNvPr>
          <p:cNvSpPr/>
          <p:nvPr/>
        </p:nvSpPr>
        <p:spPr>
          <a:xfrm>
            <a:off x="2502205" y="5710388"/>
            <a:ext cx="2012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Cuckoo kick-away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14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0F5B415-400C-4C03-913D-C8660D241076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0F5B415-400C-4C03-913D-C8660D241076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174" r="-79886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2174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403448" t="-2174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7326121-B99F-4693-B0A8-7C2E6F171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507791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7326121-B99F-4693-B0A8-7C2E6F171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507791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1087" r="-708046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96591" t="-1087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F73B0108-898F-41F5-8B3F-4124077D894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F73B0108-898F-41F5-8B3F-4124077D894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87" r="-79886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C2C49F3-DC82-4DCA-A3A4-93ED89C8C6F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C2C49F3-DC82-4DCA-A3A4-93ED89C8C6F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3448" t="-1087" r="-5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03448" t="-1087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80BCE57-C27F-48EE-91ED-9FA85EAB5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891755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80BCE57-C27F-48EE-91ED-9FA85EAB5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891755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3448" t="-1087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1087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96591" t="-1087" r="-30227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704598" t="-1087" r="-20574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92142C52-34C7-46C3-BBBF-97386F9A640D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8B3C0EF-7C8B-479B-98FE-C680E43AE6FB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8B3C0EF-7C8B-479B-98FE-C680E43AE6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26D83E6-9D09-4370-A377-8FAB5A483961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26D83E6-9D09-4370-A377-8FAB5A483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B66C469-63F6-474F-9C0B-ADE772DF1EED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B66C469-63F6-474F-9C0B-ADE772DF1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70C5392-F8F5-469C-A0B2-935ECC0A29F7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70C5392-F8F5-469C-A0B2-935ECC0A29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3CAE00D-5C46-44D5-A32B-D5A03AAC798E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3CAE00D-5C46-44D5-A32B-D5A03AAC7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3CDF4A47-FE10-49A2-8DAD-870E7986373B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FAE0BA6-09D1-4090-BA05-00F33A34F979}"/>
                  </a:ext>
                </a:extLst>
              </p:cNvPr>
              <p:cNvSpPr/>
              <p:nvPr/>
            </p:nvSpPr>
            <p:spPr>
              <a:xfrm>
                <a:off x="7920077" y="362852"/>
                <a:ext cx="6769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FAE0BA6-09D1-4090-BA05-00F33A34F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77" y="362852"/>
                <a:ext cx="676916" cy="461665"/>
              </a:xfrm>
              <a:prstGeom prst="rect">
                <a:avLst/>
              </a:prstGeom>
              <a:blipFill>
                <a:blip r:embed="rId12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3871484E-C1AB-4B36-8CFC-947B8D105564}"/>
              </a:ext>
            </a:extLst>
          </p:cNvPr>
          <p:cNvSpPr/>
          <p:nvPr/>
        </p:nvSpPr>
        <p:spPr>
          <a:xfrm>
            <a:off x="8800336" y="417878"/>
            <a:ext cx="2335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j=2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DA0C326-1081-4A06-9862-87060E8F2503}"/>
              </a:ext>
            </a:extLst>
          </p:cNvPr>
          <p:cNvCxnSpPr>
            <a:cxnSpLocks/>
          </p:cNvCxnSpPr>
          <p:nvPr/>
        </p:nvCxnSpPr>
        <p:spPr>
          <a:xfrm flipH="1">
            <a:off x="5950227" y="897917"/>
            <a:ext cx="1601205" cy="91548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1D21B69-DB34-4291-B1F1-A61881EDE254}"/>
              </a:ext>
            </a:extLst>
          </p:cNvPr>
          <p:cNvCxnSpPr>
            <a:cxnSpLocks/>
          </p:cNvCxnSpPr>
          <p:nvPr/>
        </p:nvCxnSpPr>
        <p:spPr>
          <a:xfrm>
            <a:off x="5950228" y="1920973"/>
            <a:ext cx="1815546" cy="996292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66F8B43-1DB8-49A8-B8B5-E3CABC5DC770}"/>
                  </a:ext>
                </a:extLst>
              </p:cNvPr>
              <p:cNvSpPr/>
              <p:nvPr/>
            </p:nvSpPr>
            <p:spPr>
              <a:xfrm>
                <a:off x="7536593" y="656325"/>
                <a:ext cx="651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dirty="0"/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66F8B43-1DB8-49A8-B8B5-E3CABC5DC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593" y="656325"/>
                <a:ext cx="6510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D433A84-4648-4274-AA5B-FA56FBD11DAA}"/>
                  </a:ext>
                </a:extLst>
              </p:cNvPr>
              <p:cNvSpPr/>
              <p:nvPr/>
            </p:nvSpPr>
            <p:spPr>
              <a:xfrm>
                <a:off x="7645033" y="2840167"/>
                <a:ext cx="5500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dirty="0"/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D433A84-4648-4274-AA5B-FA56FBD11D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033" y="2840167"/>
                <a:ext cx="55008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E8F8E8AB-9FEA-4120-BEE4-2D04927097D3}"/>
              </a:ext>
            </a:extLst>
          </p:cNvPr>
          <p:cNvSpPr/>
          <p:nvPr/>
        </p:nvSpPr>
        <p:spPr>
          <a:xfrm>
            <a:off x="8800336" y="2747834"/>
            <a:ext cx="2335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j=L 1≤j≤L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35B1E97-7ADF-4D27-8002-35E4D4AE3C84}"/>
              </a:ext>
            </a:extLst>
          </p:cNvPr>
          <p:cNvCxnSpPr>
            <a:cxnSpLocks/>
          </p:cNvCxnSpPr>
          <p:nvPr/>
        </p:nvCxnSpPr>
        <p:spPr>
          <a:xfrm flipH="1">
            <a:off x="5353878" y="3116775"/>
            <a:ext cx="2377680" cy="158683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289D5ECB-164D-467E-A6E2-3E0BCB6F44B7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2E6AF9-E131-4458-A5CD-4E21ED397ADF}"/>
              </a:ext>
            </a:extLst>
          </p:cNvPr>
          <p:cNvSpPr/>
          <p:nvPr/>
        </p:nvSpPr>
        <p:spPr>
          <a:xfrm>
            <a:off x="2502205" y="5710388"/>
            <a:ext cx="2012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Cuckoo kick-away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56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矩形 233">
            <a:extLst>
              <a:ext uri="{FF2B5EF4-FFF2-40B4-BE49-F238E27FC236}">
                <a16:creationId xmlns:a16="http://schemas.microsoft.com/office/drawing/2014/main" id="{C98402BA-B8D8-4DC9-ACB3-CC741FE30C16}"/>
              </a:ext>
            </a:extLst>
          </p:cNvPr>
          <p:cNvSpPr/>
          <p:nvPr/>
        </p:nvSpPr>
        <p:spPr>
          <a:xfrm>
            <a:off x="8493331" y="2716825"/>
            <a:ext cx="556591" cy="5398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str</a:t>
            </a:r>
            <a:endParaRPr lang="zh-CN" altLang="en-US" dirty="0"/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8CF7A53-2D0E-40CC-BD95-1219AF6C18A5}"/>
              </a:ext>
            </a:extLst>
          </p:cNvPr>
          <p:cNvSpPr txBox="1"/>
          <p:nvPr/>
        </p:nvSpPr>
        <p:spPr>
          <a:xfrm>
            <a:off x="8454887" y="2226365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N-n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FEE7FFF2-F466-451F-AD94-92F9432BC1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1741370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FEE7FFF2-F466-451F-AD94-92F9432BC1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1741370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174" r="-79886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2174" r="-7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2174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403448" t="-2174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2174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4598" t="-2174" r="-20574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95455" t="-2174" r="-103409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905747" t="-2174" r="-4598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6280C1CB-D842-4EC4-A41A-208E6B212E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0304576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6280C1CB-D842-4EC4-A41A-208E6B212E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0304576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149" t="-1087" r="-909195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1087" r="-708046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03448" t="-1087" r="-5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03448" t="-1087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96591" t="-1087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F517DB21-CB14-4B03-8C95-E4FC26AC8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4270609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F517DB21-CB14-4B03-8C95-E4FC26AC8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4270609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1087" r="-909195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87" r="-79886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96591" t="-1087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04598" t="-1087" r="-20574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95455" t="-1087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905747" t="-1087" r="-4598" b="-5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25DEF7F6-AACD-4EEE-9359-9DB1E04D1E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0122029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25DEF7F6-AACD-4EEE-9359-9DB1E04D1E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0122029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087" r="-79886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98864" t="-1087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3448" t="-1087" r="-5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03448" t="-1087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96591" t="-1087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04598" t="-1087" r="-20574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5747" t="-1087" r="-4598" b="-5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8EEB29C3-6B00-4042-9E6A-58336CA094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0449188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8EEB29C3-6B00-4042-9E6A-58336CA094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0449188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149" t="-1087" r="-9091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2299" t="-1087" r="-7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3448" t="-1087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1087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96591" t="-1087" r="-30227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704598" t="-1087" r="-20574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5747" t="-1087" r="-4598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6C74A4-28CB-4892-A8CA-46DC95A0C3D8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94F89E7-3551-4CB4-8603-7CB10110AA48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94F89E7-3551-4CB4-8603-7CB10110A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D5018ED-D91A-468C-B498-7CD0EE80FD0E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D5018ED-D91A-468C-B498-7CD0EE80F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0B2664F-D262-4CFD-AD7F-078938D17D22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0B2664F-D262-4CFD-AD7F-078938D17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0CA319-E8B2-43B3-9527-D639E49DBC01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0CA319-E8B2-43B3-9527-D639E49DB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6DDF6AC-CA2F-4886-B658-90808ED4CE13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6DDF6AC-CA2F-4886-B658-90808ED4CE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A6514D54-EE27-4CD9-A6AC-FB3082A5BD6E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4A4537-B085-4EFD-81E4-CEBEE5B8E168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FDB50B-565D-407B-AB01-54E1FD7A8A13}"/>
              </a:ext>
            </a:extLst>
          </p:cNvPr>
          <p:cNvSpPr/>
          <p:nvPr/>
        </p:nvSpPr>
        <p:spPr>
          <a:xfrm>
            <a:off x="2470049" y="5879638"/>
            <a:ext cx="1896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padding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85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矩形 233">
            <a:extLst>
              <a:ext uri="{FF2B5EF4-FFF2-40B4-BE49-F238E27FC236}">
                <a16:creationId xmlns:a16="http://schemas.microsoft.com/office/drawing/2014/main" id="{C98402BA-B8D8-4DC9-ACB3-CC741FE30C16}"/>
              </a:ext>
            </a:extLst>
          </p:cNvPr>
          <p:cNvSpPr/>
          <p:nvPr/>
        </p:nvSpPr>
        <p:spPr>
          <a:xfrm>
            <a:off x="9598232" y="2877600"/>
            <a:ext cx="556591" cy="5398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8CF7A53-2D0E-40CC-BD95-1219AF6C18A5}"/>
              </a:ext>
            </a:extLst>
          </p:cNvPr>
          <p:cNvSpPr txBox="1"/>
          <p:nvPr/>
        </p:nvSpPr>
        <p:spPr>
          <a:xfrm>
            <a:off x="9559788" y="238714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N-n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514D54-EE27-4CD9-A6AC-FB3082A5BD6E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4A4537-B085-4EFD-81E4-CEBEE5B8E168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FDB50B-565D-407B-AB01-54E1FD7A8A13}"/>
              </a:ext>
            </a:extLst>
          </p:cNvPr>
          <p:cNvSpPr/>
          <p:nvPr/>
        </p:nvSpPr>
        <p:spPr>
          <a:xfrm>
            <a:off x="2470049" y="6126284"/>
            <a:ext cx="1896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padding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0A44E0-6B07-40A0-958D-2A8197824F18}"/>
              </a:ext>
            </a:extLst>
          </p:cNvPr>
          <p:cNvSpPr/>
          <p:nvPr/>
        </p:nvSpPr>
        <p:spPr>
          <a:xfrm>
            <a:off x="8734226" y="3683652"/>
            <a:ext cx="2284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u bits random strings</a:t>
            </a:r>
            <a:endParaRPr lang="zh-CN" altLang="en-US" dirty="0"/>
          </a:p>
        </p:txBody>
      </p:sp>
      <p:sp>
        <p:nvSpPr>
          <p:cNvPr id="24" name="右大括号 23">
            <a:extLst>
              <a:ext uri="{FF2B5EF4-FFF2-40B4-BE49-F238E27FC236}">
                <a16:creationId xmlns:a16="http://schemas.microsoft.com/office/drawing/2014/main" id="{4AA14474-0722-4052-B285-363E83B23C66}"/>
              </a:ext>
            </a:extLst>
          </p:cNvPr>
          <p:cNvSpPr/>
          <p:nvPr/>
        </p:nvSpPr>
        <p:spPr>
          <a:xfrm>
            <a:off x="6779047" y="752772"/>
            <a:ext cx="373047" cy="43357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DEAC7FC-DB0E-45E7-918F-EA23FE8C9A2F}"/>
              </a:ext>
            </a:extLst>
          </p:cNvPr>
          <p:cNvSpPr txBox="1"/>
          <p:nvPr/>
        </p:nvSpPr>
        <p:spPr>
          <a:xfrm>
            <a:off x="7550697" y="2724304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</a:t>
            </a:r>
            <a:r>
              <a:rPr lang="zh-CN" altLang="en-US" dirty="0"/>
              <a:t>层</a:t>
            </a:r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7F4EF414-FDD7-460C-A112-5729A8305275}"/>
              </a:ext>
            </a:extLst>
          </p:cNvPr>
          <p:cNvSpPr/>
          <p:nvPr/>
        </p:nvSpPr>
        <p:spPr>
          <a:xfrm rot="5400000">
            <a:off x="3250211" y="2825832"/>
            <a:ext cx="373047" cy="53229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0D16F82-D739-4C38-B3B9-9DFF60117DBE}"/>
              </a:ext>
            </a:extLst>
          </p:cNvPr>
          <p:cNvSpPr txBox="1"/>
          <p:nvPr/>
        </p:nvSpPr>
        <p:spPr>
          <a:xfrm>
            <a:off x="3281110" y="57014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CE64334-5828-4DA0-B2F5-5E9A61C5D43A}"/>
              </a:ext>
            </a:extLst>
          </p:cNvPr>
          <p:cNvSpPr txBox="1"/>
          <p:nvPr/>
        </p:nvSpPr>
        <p:spPr>
          <a:xfrm>
            <a:off x="6558246" y="5332088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N=L*w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66AA61-456E-4E7F-97DB-25E2E7F98CDD}"/>
              </a:ext>
            </a:extLst>
          </p:cNvPr>
          <p:cNvSpPr txBox="1"/>
          <p:nvPr/>
        </p:nvSpPr>
        <p:spPr>
          <a:xfrm>
            <a:off x="9117900" y="778350"/>
            <a:ext cx="2073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1≤i≤n users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表格 29">
                <a:extLst>
                  <a:ext uri="{FF2B5EF4-FFF2-40B4-BE49-F238E27FC236}">
                    <a16:creationId xmlns:a16="http://schemas.microsoft.com/office/drawing/2014/main" id="{2579DE41-2838-4736-9018-186FCBBE4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4131790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表格 29">
                <a:extLst>
                  <a:ext uri="{FF2B5EF4-FFF2-40B4-BE49-F238E27FC236}">
                    <a16:creationId xmlns:a16="http://schemas.microsoft.com/office/drawing/2014/main" id="{2579DE41-2838-4736-9018-186FCBBE4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4131790"/>
                  </p:ext>
                </p:extLst>
              </p:nvPr>
            </p:nvGraphicFramePr>
            <p:xfrm>
              <a:off x="1225836" y="73171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5435" r="-79886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5435" r="-7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5435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403448" t="-5435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5435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4598" t="-5435" r="-20574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95455" t="-5435" r="-103409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905747" t="-5435" r="-4598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表格 30">
                <a:extLst>
                  <a:ext uri="{FF2B5EF4-FFF2-40B4-BE49-F238E27FC236}">
                    <a16:creationId xmlns:a16="http://schemas.microsoft.com/office/drawing/2014/main" id="{74D83DE8-51DF-42B6-A922-510DCCF2E5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62709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表格 30">
                <a:extLst>
                  <a:ext uri="{FF2B5EF4-FFF2-40B4-BE49-F238E27FC236}">
                    <a16:creationId xmlns:a16="http://schemas.microsoft.com/office/drawing/2014/main" id="{74D83DE8-51DF-42B6-A922-510DCCF2E5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62709"/>
                  </p:ext>
                </p:extLst>
              </p:nvPr>
            </p:nvGraphicFramePr>
            <p:xfrm>
              <a:off x="1225836" y="1535938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149" t="-5435" r="-909195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5435" r="-708046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98864" t="-5435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03448" t="-5435" r="-5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03448" t="-5435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96591" t="-5435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5455" t="-5435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表格 31">
                <a:extLst>
                  <a:ext uri="{FF2B5EF4-FFF2-40B4-BE49-F238E27FC236}">
                    <a16:creationId xmlns:a16="http://schemas.microsoft.com/office/drawing/2014/main" id="{E218A553-0F97-446B-975A-B96D01871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344691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表格 31">
                <a:extLst>
                  <a:ext uri="{FF2B5EF4-FFF2-40B4-BE49-F238E27FC236}">
                    <a16:creationId xmlns:a16="http://schemas.microsoft.com/office/drawing/2014/main" id="{E218A553-0F97-446B-975A-B96D01871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344691"/>
                  </p:ext>
                </p:extLst>
              </p:nvPr>
            </p:nvGraphicFramePr>
            <p:xfrm>
              <a:off x="1225836" y="2334169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5435" r="-909195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5435" r="-79886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864" t="-5435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96591" t="-5435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04598" t="-5435" r="-20574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95455" t="-5435" r="-103409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905747" t="-5435" r="-4598" b="-5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表格 32">
                <a:extLst>
                  <a:ext uri="{FF2B5EF4-FFF2-40B4-BE49-F238E27FC236}">
                    <a16:creationId xmlns:a16="http://schemas.microsoft.com/office/drawing/2014/main" id="{F50CC293-6D4A-482C-A3DD-BE97DD53B5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077170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表格 32">
                <a:extLst>
                  <a:ext uri="{FF2B5EF4-FFF2-40B4-BE49-F238E27FC236}">
                    <a16:creationId xmlns:a16="http://schemas.microsoft.com/office/drawing/2014/main" id="{F50CC293-6D4A-482C-A3DD-BE97DD53B5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077170"/>
                  </p:ext>
                </p:extLst>
              </p:nvPr>
            </p:nvGraphicFramePr>
            <p:xfrm>
              <a:off x="1225836" y="3132400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149" t="-5435" r="-909195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5435" r="-79886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2299" t="-5435" r="-708046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98864" t="-5435" r="-600000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3448" t="-5435" r="-5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03448" t="-5435" r="-40689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96591" t="-5435" r="-302273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04598" t="-5435" r="-205747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5747" t="-5435" r="-4598" b="-5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A7E05FAF-067B-4213-BDF7-AA0D660BAC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10174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A7E05FAF-067B-4213-BDF7-AA0D660BAC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10174"/>
                  </p:ext>
                </p:extLst>
              </p:nvPr>
            </p:nvGraphicFramePr>
            <p:xfrm>
              <a:off x="1225836" y="4513727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149" t="-5435" r="-9091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5435" r="-79886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2299" t="-5435" r="-7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3448" t="-5435" r="-5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5435" r="-4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96591" t="-5435" r="-30227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704598" t="-5435" r="-20574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5747" t="-5435" r="-4598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BBF655B5-503A-4559-A924-0AC25C7D149B}"/>
              </a:ext>
            </a:extLst>
          </p:cNvPr>
          <p:cNvSpPr txBox="1"/>
          <p:nvPr/>
        </p:nvSpPr>
        <p:spPr>
          <a:xfrm rot="5400000" flipH="1">
            <a:off x="3701890" y="3929528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35B42796-5954-48E6-B99E-D4E960E4B8D3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35B42796-5954-48E6-B99E-D4E960E4B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0CDA09F5-2B41-4F00-A182-7D710ABBBDDD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0CDA09F5-2B41-4F00-A182-7D710ABBBD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34BF92A-BC89-40ED-8BE0-EA628DFEE617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34BF92A-BC89-40ED-8BE0-EA628DFEE6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38BA636-0C6F-4D70-AD75-FD6D64337F5C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38BA636-0C6F-4D70-AD75-FD6D64337F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99A7BE7-6AB4-4230-B669-4FB82736BA7B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99A7BE7-6AB4-4230-B669-4FB82736BA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69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F39FB98-1AAD-45D1-AFB7-AEE9EAB56E32}"/>
                  </a:ext>
                </a:extLst>
              </p:cNvPr>
              <p:cNvSpPr/>
              <p:nvPr/>
            </p:nvSpPr>
            <p:spPr>
              <a:xfrm>
                <a:off x="528423" y="547065"/>
                <a:ext cx="7666281" cy="894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1 ≤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n, generate the random mask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CN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l-GR" altLang="zh-CN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US" altLang="zh-CN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encrypt bucket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F39FB98-1AAD-45D1-AFB7-AEE9EAB56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23" y="547065"/>
                <a:ext cx="7666281" cy="894989"/>
              </a:xfrm>
              <a:prstGeom prst="rect">
                <a:avLst/>
              </a:prstGeom>
              <a:blipFill>
                <a:blip r:embed="rId2"/>
                <a:stretch>
                  <a:fillRect l="-1273" t="-5442" b="-10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8EA18DB-26C3-49C0-B76C-1E2E01A92446}"/>
                  </a:ext>
                </a:extLst>
              </p:cNvPr>
              <p:cNvSpPr/>
              <p:nvPr/>
            </p:nvSpPr>
            <p:spPr>
              <a:xfrm>
                <a:off x="3650246" y="3241837"/>
                <a:ext cx="2239203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m:rPr>
                          <m:nor/>
                        </m:rPr>
                        <a:rPr lang="en-US" altLang="zh-CN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ƒ</m:t>
                      </m:r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8EA18DB-26C3-49C0-B76C-1E2E01A92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246" y="3241837"/>
                <a:ext cx="2239203" cy="491417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DAD6611-433E-4C11-802D-1225B6A99A15}"/>
                  </a:ext>
                </a:extLst>
              </p:cNvPr>
              <p:cNvSpPr/>
              <p:nvPr/>
            </p:nvSpPr>
            <p:spPr>
              <a:xfrm>
                <a:off x="3311050" y="4159735"/>
                <a:ext cx="904478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m:rPr>
                        <m:sty m:val="p"/>
                      </m:rPr>
                      <a:rPr lang="el-GR" altLang="zh-CN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DAD6611-433E-4C11-802D-1225B6A99A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050" y="4159735"/>
                <a:ext cx="904478" cy="491417"/>
              </a:xfrm>
              <a:prstGeom prst="rect">
                <a:avLst/>
              </a:prstGeom>
              <a:blipFill>
                <a:blip r:embed="rId4"/>
                <a:stretch>
                  <a:fillRect l="-1342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0635A05-9A90-41E7-9DC9-809E77770439}"/>
                  </a:ext>
                </a:extLst>
              </p:cNvPr>
              <p:cNvSpPr/>
              <p:nvPr/>
            </p:nvSpPr>
            <p:spPr>
              <a:xfrm>
                <a:off x="2069710" y="2327624"/>
                <a:ext cx="2219903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l-GR" altLang="zh-CN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0635A05-9A90-41E7-9DC9-809E77770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710" y="2327624"/>
                <a:ext cx="2219903" cy="491417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D9A1868-9FDD-4A8D-B743-EE6127B98E00}"/>
                  </a:ext>
                </a:extLst>
              </p:cNvPr>
              <p:cNvSpPr/>
              <p:nvPr/>
            </p:nvSpPr>
            <p:spPr>
              <a:xfrm>
                <a:off x="1454256" y="1575241"/>
                <a:ext cx="156549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D9A1868-9FDD-4A8D-B743-EE6127B98E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56" y="1575241"/>
                <a:ext cx="1565493" cy="461665"/>
              </a:xfrm>
              <a:prstGeom prst="rect">
                <a:avLst/>
              </a:prstGeom>
              <a:blipFill>
                <a:blip r:embed="rId6"/>
                <a:stretch>
                  <a:fillRect l="-1172" t="-15789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CB71698-970E-474A-930D-ED29CFA4CCEF}"/>
              </a:ext>
            </a:extLst>
          </p:cNvPr>
          <p:cNvCxnSpPr>
            <a:cxnSpLocks/>
          </p:cNvCxnSpPr>
          <p:nvPr/>
        </p:nvCxnSpPr>
        <p:spPr>
          <a:xfrm flipV="1">
            <a:off x="3932001" y="3654268"/>
            <a:ext cx="1" cy="4581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B36A346-EF32-42BB-9453-44281D5E4922}"/>
              </a:ext>
            </a:extLst>
          </p:cNvPr>
          <p:cNvCxnSpPr/>
          <p:nvPr/>
        </p:nvCxnSpPr>
        <p:spPr>
          <a:xfrm flipV="1">
            <a:off x="3932002" y="2787809"/>
            <a:ext cx="0" cy="485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5961CD-8BD9-484A-9469-C4A2C621E9F2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237002" y="2036906"/>
            <a:ext cx="1" cy="290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FB513ED9-8250-4CA3-8909-A8EBBC3F2D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2639" y="1573102"/>
            <a:ext cx="482706" cy="558938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9B895AF-ACA4-418A-B916-0FAFC1381BDA}"/>
              </a:ext>
            </a:extLst>
          </p:cNvPr>
          <p:cNvCxnSpPr>
            <a:cxnSpLocks/>
          </p:cNvCxnSpPr>
          <p:nvPr/>
        </p:nvCxnSpPr>
        <p:spPr>
          <a:xfrm>
            <a:off x="3179661" y="1807177"/>
            <a:ext cx="51559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74545ED-2834-4C57-93FB-0ED5E2802047}"/>
                  </a:ext>
                </a:extLst>
              </p:cNvPr>
              <p:cNvSpPr/>
              <p:nvPr/>
            </p:nvSpPr>
            <p:spPr>
              <a:xfrm>
                <a:off x="3421114" y="5543012"/>
                <a:ext cx="188090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74545ED-2834-4C57-93FB-0ED5E28020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114" y="5543012"/>
                <a:ext cx="1880900" cy="461665"/>
              </a:xfrm>
              <a:prstGeom prst="rect">
                <a:avLst/>
              </a:prstGeom>
              <a:blipFill>
                <a:blip r:embed="rId8"/>
                <a:stretch>
                  <a:fillRect l="-4854"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40EA687-86CF-41D3-A4DA-9416B2410291}"/>
                  </a:ext>
                </a:extLst>
              </p:cNvPr>
              <p:cNvSpPr/>
              <p:nvPr/>
            </p:nvSpPr>
            <p:spPr>
              <a:xfrm>
                <a:off x="8052522" y="5524869"/>
                <a:ext cx="56611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40EA687-86CF-41D3-A4DA-9416B24102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522" y="5524869"/>
                <a:ext cx="56611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48B0F29-5366-4768-85EA-BE777D33E249}"/>
              </a:ext>
            </a:extLst>
          </p:cNvPr>
          <p:cNvCxnSpPr/>
          <p:nvPr/>
        </p:nvCxnSpPr>
        <p:spPr>
          <a:xfrm>
            <a:off x="5302014" y="5755701"/>
            <a:ext cx="2598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EBB233A-683B-4779-AC89-576075F6D9E6}"/>
              </a:ext>
            </a:extLst>
          </p:cNvPr>
          <p:cNvCxnSpPr/>
          <p:nvPr/>
        </p:nvCxnSpPr>
        <p:spPr>
          <a:xfrm>
            <a:off x="420914" y="5123543"/>
            <a:ext cx="1139371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4CCF8A0-0A11-49B6-9537-C0901715A6D1}"/>
                  </a:ext>
                </a:extLst>
              </p:cNvPr>
              <p:cNvSpPr/>
              <p:nvPr/>
            </p:nvSpPr>
            <p:spPr>
              <a:xfrm>
                <a:off x="8297559" y="310487"/>
                <a:ext cx="33630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V 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S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4CCF8A0-0A11-49B6-9537-C0901715A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559" y="310487"/>
                <a:ext cx="3363037" cy="369332"/>
              </a:xfrm>
              <a:prstGeom prst="rect">
                <a:avLst/>
              </a:prstGeom>
              <a:blipFill>
                <a:blip r:embed="rId10"/>
                <a:stretch>
                  <a:fillRect l="-1449" t="-14754" r="-725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4FB713D-E389-4732-8A25-6327606368E8}"/>
                  </a:ext>
                </a:extLst>
              </p:cNvPr>
              <p:cNvSpPr txBox="1"/>
              <p:nvPr/>
            </p:nvSpPr>
            <p:spPr>
              <a:xfrm>
                <a:off x="8287490" y="885321"/>
                <a:ext cx="1289648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=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4FB713D-E389-4732-8A25-632760636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490" y="885321"/>
                <a:ext cx="1289648" cy="391646"/>
              </a:xfrm>
              <a:prstGeom prst="rect">
                <a:avLst/>
              </a:prstGeom>
              <a:blipFill>
                <a:blip r:embed="rId11"/>
                <a:stretch>
                  <a:fillRect t="-6250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DB9EBD22-378C-4A20-9252-6CE4411467BC}"/>
              </a:ext>
            </a:extLst>
          </p:cNvPr>
          <p:cNvSpPr/>
          <p:nvPr/>
        </p:nvSpPr>
        <p:spPr>
          <a:xfrm>
            <a:off x="5096367" y="4699086"/>
            <a:ext cx="1999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Bucket encryption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98D037-0C85-4E09-844A-2A461E2CAB3B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958221-8454-4729-A3C5-0E9043610BF1}"/>
              </a:ext>
            </a:extLst>
          </p:cNvPr>
          <p:cNvSpPr/>
          <p:nvPr/>
        </p:nvSpPr>
        <p:spPr>
          <a:xfrm>
            <a:off x="4802827" y="6452168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profile encryption</a:t>
            </a:r>
            <a:endParaRPr lang="zh-CN" altLang="en-US" b="1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60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C01C4CD-043F-4A90-8C98-CCEDF530C1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6392249"/>
                  </p:ext>
                </p:extLst>
              </p:nvPr>
            </p:nvGraphicFramePr>
            <p:xfrm>
              <a:off x="773050" y="519682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C01C4CD-043F-4A90-8C98-CCEDF530C1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6392249"/>
                  </p:ext>
                </p:extLst>
              </p:nvPr>
            </p:nvGraphicFramePr>
            <p:xfrm>
              <a:off x="773050" y="519682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5435" r="-8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5435" r="-7091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98864" t="-5435" r="-60113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403448" t="-5435" r="-5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5435" r="-4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4598" t="-5435" r="-2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95455" t="-5435" r="-10454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905747" t="-5435" r="-5747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FDDABB9-0A5F-4994-AC73-EBED9E6DA0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4227717"/>
                  </p:ext>
                </p:extLst>
              </p:nvPr>
            </p:nvGraphicFramePr>
            <p:xfrm>
              <a:off x="773050" y="1323904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FDDABB9-0A5F-4994-AC73-EBED9E6DA0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4227717"/>
                  </p:ext>
                </p:extLst>
              </p:nvPr>
            </p:nvGraphicFramePr>
            <p:xfrm>
              <a:off x="773050" y="1323904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149" t="-5435" r="-91034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5435" r="-7091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98864" t="-5435" r="-60113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03448" t="-5435" r="-5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03448" t="-5435" r="-4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96591" t="-5435" r="-303409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5455" t="-5435" r="-10454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7B5A06D-E6B0-4381-ABF9-0CCAF4A30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5355090"/>
                  </p:ext>
                </p:extLst>
              </p:nvPr>
            </p:nvGraphicFramePr>
            <p:xfrm>
              <a:off x="773050" y="2122135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7B5A06D-E6B0-4381-ABF9-0CCAF4A30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5355090"/>
                  </p:ext>
                </p:extLst>
              </p:nvPr>
            </p:nvGraphicFramePr>
            <p:xfrm>
              <a:off x="773050" y="2122135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5435" r="-91034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5435" r="-8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864" t="-5435" r="-60113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96591" t="-5435" r="-303409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04598" t="-5435" r="-2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95455" t="-5435" r="-10454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905747" t="-5435" r="-5747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A1BBEE24-5A79-41F0-901B-9F95A3D136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0480595"/>
                  </p:ext>
                </p:extLst>
              </p:nvPr>
            </p:nvGraphicFramePr>
            <p:xfrm>
              <a:off x="773050" y="292036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𝟑𝟔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𝟏𝟗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A1BBEE24-5A79-41F0-901B-9F95A3D136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0480595"/>
                  </p:ext>
                </p:extLst>
              </p:nvPr>
            </p:nvGraphicFramePr>
            <p:xfrm>
              <a:off x="773050" y="2920366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149" t="-5435" r="-91034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5435" r="-8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2299" t="-5435" r="-7091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98864" t="-5435" r="-60113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3448" t="-5435" r="-5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03448" t="-5435" r="-4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96591" t="-5435" r="-303409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04598" t="-5435" r="-2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5747" t="-5435" r="-5747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75D0CE0-1B7B-4D32-90C4-43FEE81F1E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260534"/>
                  </p:ext>
                </p:extLst>
              </p:nvPr>
            </p:nvGraphicFramePr>
            <p:xfrm>
              <a:off x="773050" y="4301693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𝟑𝟕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b="1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 sz="1800" dirty="0"/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75D0CE0-1B7B-4D32-90C4-43FEE81F1E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260534"/>
                  </p:ext>
                </p:extLst>
              </p:nvPr>
            </p:nvGraphicFramePr>
            <p:xfrm>
              <a:off x="773050" y="4301693"/>
              <a:ext cx="5322950" cy="554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295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32295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549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149" t="-5435" r="-91034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5435" r="-8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2299" t="-5435" r="-7091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3448" t="-5435" r="-5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5435" r="-40804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96591" t="-5435" r="-303409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704598" t="-5435" r="-20689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5747" t="-5435" r="-5747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27484030-1DEA-4A30-92F2-34D44A4B5CB3}"/>
              </a:ext>
            </a:extLst>
          </p:cNvPr>
          <p:cNvSpPr txBox="1"/>
          <p:nvPr/>
        </p:nvSpPr>
        <p:spPr>
          <a:xfrm rot="5400000" flipH="1">
            <a:off x="3249104" y="3717494"/>
            <a:ext cx="370841" cy="37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0ED5056-BA50-405B-9C20-211E0A6C2F43}"/>
                  </a:ext>
                </a:extLst>
              </p:cNvPr>
              <p:cNvSpPr/>
              <p:nvPr/>
            </p:nvSpPr>
            <p:spPr>
              <a:xfrm>
                <a:off x="8962247" y="2920366"/>
                <a:ext cx="8033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0ED5056-BA50-405B-9C20-211E0A6C2F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247" y="2920366"/>
                <a:ext cx="803361" cy="461665"/>
              </a:xfrm>
              <a:prstGeom prst="rect">
                <a:avLst/>
              </a:prstGeom>
              <a:blipFill>
                <a:blip r:embed="rId7"/>
                <a:stretch>
                  <a:fillRect l="-758" r="-758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03335FBD-B3A8-448F-8C3F-B01BCFA8A6B8}"/>
              </a:ext>
            </a:extLst>
          </p:cNvPr>
          <p:cNvSpPr txBox="1"/>
          <p:nvPr/>
        </p:nvSpPr>
        <p:spPr>
          <a:xfrm>
            <a:off x="8570954" y="3442352"/>
            <a:ext cx="2073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1≤i≤n users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AEA4C3-1635-4D17-A036-3038978CE286}"/>
              </a:ext>
            </a:extLst>
          </p:cNvPr>
          <p:cNvSpPr txBox="1"/>
          <p:nvPr/>
        </p:nvSpPr>
        <p:spPr>
          <a:xfrm>
            <a:off x="3044554" y="5072431"/>
            <a:ext cx="115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I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3262823-A6E4-46A0-A0FA-65C1FA4D831F}"/>
              </a:ext>
            </a:extLst>
          </p:cNvPr>
          <p:cNvGrpSpPr/>
          <p:nvPr/>
        </p:nvGrpSpPr>
        <p:grpSpPr>
          <a:xfrm>
            <a:off x="1021223" y="1572371"/>
            <a:ext cx="5072544" cy="294575"/>
            <a:chOff x="1023456" y="819592"/>
            <a:chExt cx="5072544" cy="294575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8FA6D43D-1C6C-4FE0-8750-A0347A274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456" y="823217"/>
              <a:ext cx="288509" cy="28850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0FDE980-D8B0-408B-B2DA-D4B1A4F58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2371" y="823217"/>
              <a:ext cx="288509" cy="288509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0067F527-67C4-4B4F-A09C-8D2181DA9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1286" y="825658"/>
              <a:ext cx="288509" cy="28850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62E3782-C3AE-476E-951E-C0FEFBFD8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0201" y="823217"/>
              <a:ext cx="288509" cy="288509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FD5365F-C631-4FAC-8F19-97E87A625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9116" y="823217"/>
              <a:ext cx="288509" cy="288509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9ADB4594-BEA2-439E-8306-D5F791ABC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8031" y="823217"/>
              <a:ext cx="288509" cy="288509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76F021FD-1DDC-45D5-A5BC-DE76B8912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6946" y="823217"/>
              <a:ext cx="288509" cy="288509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D1597C7-D391-45D0-84C2-2002C7919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5861" y="819592"/>
              <a:ext cx="288509" cy="288509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41A653BA-47FC-4262-89B9-2B4A20FA8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1675" y="819592"/>
              <a:ext cx="288509" cy="288509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09C1E1BC-4349-4D2F-9233-B99D0716D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7491" y="819592"/>
              <a:ext cx="288509" cy="288509"/>
            </a:xfrm>
            <a:prstGeom prst="rect">
              <a:avLst/>
            </a:prstGeom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C4F075C-4CCF-4224-A16D-94280BC0DDBF}"/>
              </a:ext>
            </a:extLst>
          </p:cNvPr>
          <p:cNvGrpSpPr/>
          <p:nvPr/>
        </p:nvGrpSpPr>
        <p:grpSpPr>
          <a:xfrm>
            <a:off x="1023456" y="797149"/>
            <a:ext cx="5072544" cy="294575"/>
            <a:chOff x="1023456" y="819592"/>
            <a:chExt cx="5072544" cy="294575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FAA04870-A060-43C1-A437-CE2BE9AB6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456" y="823217"/>
              <a:ext cx="288509" cy="288509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B217BF3A-79BF-41C4-851D-6C168513B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2371" y="823217"/>
              <a:ext cx="288509" cy="288509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01048338-13BE-4D86-A449-E5768AB64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1286" y="825658"/>
              <a:ext cx="288509" cy="288509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BBFAE0B7-35A0-44A8-B4A8-DB751A3B4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0201" y="823217"/>
              <a:ext cx="288509" cy="288509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8F0E934D-B9D2-4ABB-9A75-1AE20CD8A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9116" y="823217"/>
              <a:ext cx="288509" cy="288509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A2F77336-7B1C-43A4-8E16-3B1457C6C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8031" y="823217"/>
              <a:ext cx="288509" cy="288509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872DF39F-D966-4598-91C0-393B7D0F6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6946" y="823217"/>
              <a:ext cx="288509" cy="288509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CB6EE6D3-3926-4D17-98BB-CF704C36C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5861" y="819592"/>
              <a:ext cx="288509" cy="288509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FEF58889-B041-4FEC-8CF5-6472D487C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1675" y="819592"/>
              <a:ext cx="288509" cy="288509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748E43A8-25F6-47EC-BE7F-46A52ED5F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7491" y="819592"/>
              <a:ext cx="288509" cy="288509"/>
            </a:xfrm>
            <a:prstGeom prst="rect">
              <a:avLst/>
            </a:prstGeom>
          </p:spPr>
        </p:pic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6CE60A5C-09BF-4C4F-BE6D-561439C48D9B}"/>
              </a:ext>
            </a:extLst>
          </p:cNvPr>
          <p:cNvGrpSpPr/>
          <p:nvPr/>
        </p:nvGrpSpPr>
        <p:grpSpPr>
          <a:xfrm>
            <a:off x="1023456" y="2370602"/>
            <a:ext cx="5072544" cy="294575"/>
            <a:chOff x="1023456" y="819592"/>
            <a:chExt cx="5072544" cy="294575"/>
          </a:xfrm>
        </p:grpSpPr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9DAAA9B3-C445-4590-8265-C471785D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456" y="823217"/>
              <a:ext cx="288509" cy="288509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E4B34581-B687-418B-B1AA-EF01A8E3C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2371" y="823217"/>
              <a:ext cx="288509" cy="288509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44CC1EDB-3939-4EDB-A30A-7419437B6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1286" y="825658"/>
              <a:ext cx="288509" cy="288509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EDF5CB31-FB3B-4116-AE8B-1C8364F6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0201" y="823217"/>
              <a:ext cx="288509" cy="288509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8A5DFC86-317E-4456-B8E4-2B8AF2F71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9116" y="823217"/>
              <a:ext cx="288509" cy="288509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5147DE7E-1738-471C-AEC9-ACD380EE5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8031" y="823217"/>
              <a:ext cx="288509" cy="288509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83FFEB7A-7209-4F57-A620-67D85C76C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6946" y="823217"/>
              <a:ext cx="288509" cy="288509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9425752A-D74A-4BD1-8601-337FECD3E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5861" y="819592"/>
              <a:ext cx="288509" cy="288509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0085B28B-67B6-497B-95B1-5FD14E5AC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1675" y="819592"/>
              <a:ext cx="288509" cy="288509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2B6D1A6A-0553-4AE8-B137-0C4450D96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7491" y="819592"/>
              <a:ext cx="288509" cy="288509"/>
            </a:xfrm>
            <a:prstGeom prst="rect">
              <a:avLst/>
            </a:prstGeom>
          </p:spPr>
        </p:pic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4A4391F2-E08B-4DBF-979A-949F15708A18}"/>
              </a:ext>
            </a:extLst>
          </p:cNvPr>
          <p:cNvGrpSpPr/>
          <p:nvPr/>
        </p:nvGrpSpPr>
        <p:grpSpPr>
          <a:xfrm>
            <a:off x="1021223" y="3172448"/>
            <a:ext cx="5072544" cy="294575"/>
            <a:chOff x="1023456" y="819592"/>
            <a:chExt cx="5072544" cy="294575"/>
          </a:xfrm>
        </p:grpSpPr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A6CD96A3-E398-49BD-AE2C-EAB4948BA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456" y="823217"/>
              <a:ext cx="288509" cy="288509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5BC6FF45-F50E-4672-A172-B6B925BE1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2371" y="823217"/>
              <a:ext cx="288509" cy="288509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971E9658-31C6-408D-ABB8-F5688AC16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1286" y="825658"/>
              <a:ext cx="288509" cy="288509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BFBA7789-222E-49F4-B5B5-F60A62B87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0201" y="823217"/>
              <a:ext cx="288509" cy="288509"/>
            </a:xfrm>
            <a:prstGeom prst="rect">
              <a:avLst/>
            </a:prstGeom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88738C09-4C26-490F-AD6F-E85C930BB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9116" y="823217"/>
              <a:ext cx="288509" cy="288509"/>
            </a:xfrm>
            <a:prstGeom prst="rect">
              <a:avLst/>
            </a:prstGeom>
          </p:spPr>
        </p:pic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52660750-17BD-4C5A-B490-DA2B57DD8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8031" y="823217"/>
              <a:ext cx="288509" cy="288509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0FEABC3D-A40B-4ED8-9CA3-C9138528B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6946" y="823217"/>
              <a:ext cx="288509" cy="288509"/>
            </a:xfrm>
            <a:prstGeom prst="rect">
              <a:avLst/>
            </a:prstGeom>
          </p:spPr>
        </p:pic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2D5815EA-7A0C-4412-AB8F-74CE359AE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5861" y="819592"/>
              <a:ext cx="288509" cy="288509"/>
            </a:xfrm>
            <a:prstGeom prst="rect">
              <a:avLst/>
            </a:prstGeom>
          </p:spPr>
        </p:pic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6FEA6279-9713-4F0A-98CB-CF6A0CAA6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1675" y="819592"/>
              <a:ext cx="288509" cy="288509"/>
            </a:xfrm>
            <a:prstGeom prst="rect">
              <a:avLst/>
            </a:prstGeom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D2F66382-2619-448B-8F55-5BC8BD4DB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7491" y="819592"/>
              <a:ext cx="288509" cy="288509"/>
            </a:xfrm>
            <a:prstGeom prst="rect">
              <a:avLst/>
            </a:prstGeom>
          </p:spPr>
        </p:pic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719CFB8-2E50-49A7-9D5D-16F4DE663551}"/>
              </a:ext>
            </a:extLst>
          </p:cNvPr>
          <p:cNvGrpSpPr/>
          <p:nvPr/>
        </p:nvGrpSpPr>
        <p:grpSpPr>
          <a:xfrm>
            <a:off x="1021223" y="4579160"/>
            <a:ext cx="5072544" cy="294575"/>
            <a:chOff x="1023456" y="819592"/>
            <a:chExt cx="5072544" cy="294575"/>
          </a:xfrm>
        </p:grpSpPr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AE47EB82-F321-4973-BE53-17892C1BE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456" y="823217"/>
              <a:ext cx="288509" cy="288509"/>
            </a:xfrm>
            <a:prstGeom prst="rect">
              <a:avLst/>
            </a:prstGeom>
          </p:spPr>
        </p:pic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37B206BC-D0F8-4983-B378-748EF426F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2371" y="823217"/>
              <a:ext cx="288509" cy="288509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A25AFB44-658F-455D-83D4-CB619F32D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1286" y="825658"/>
              <a:ext cx="288509" cy="288509"/>
            </a:xfrm>
            <a:prstGeom prst="rect">
              <a:avLst/>
            </a:prstGeom>
          </p:spPr>
        </p:pic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D5D37A15-7C82-4F6F-A9EA-61A4775CE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0201" y="823217"/>
              <a:ext cx="288509" cy="288509"/>
            </a:xfrm>
            <a:prstGeom prst="rect">
              <a:avLst/>
            </a:pr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9E1B75BB-E3BA-459C-94A3-32D7472A7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9116" y="823217"/>
              <a:ext cx="288509" cy="288509"/>
            </a:xfrm>
            <a:prstGeom prst="rect">
              <a:avLst/>
            </a:prstGeom>
          </p:spPr>
        </p:pic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B46EE2B4-3A51-48CA-8061-829BE7D26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8031" y="823217"/>
              <a:ext cx="288509" cy="288509"/>
            </a:xfrm>
            <a:prstGeom prst="rect">
              <a:avLst/>
            </a:prstGeom>
          </p:spPr>
        </p:pic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683AF5AC-C11D-4201-A447-AD2E1A141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6946" y="823217"/>
              <a:ext cx="288509" cy="288509"/>
            </a:xfrm>
            <a:prstGeom prst="rect">
              <a:avLst/>
            </a:prstGeom>
          </p:spPr>
        </p:pic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7DADF702-8856-4020-B9B2-C74A40A7A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5861" y="819592"/>
              <a:ext cx="288509" cy="288509"/>
            </a:xfrm>
            <a:prstGeom prst="rect">
              <a:avLst/>
            </a:prstGeom>
          </p:spPr>
        </p:pic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86576712-1963-47DA-95B1-8780F0C52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1675" y="819592"/>
              <a:ext cx="288509" cy="288509"/>
            </a:xfrm>
            <a:prstGeom prst="rect">
              <a:avLst/>
            </a:prstGeom>
          </p:spPr>
        </p:pic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D3F699DA-D56D-40AD-B88D-AFE8A283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7491" y="819592"/>
              <a:ext cx="288509" cy="288509"/>
            </a:xfrm>
            <a:prstGeom prst="rect">
              <a:avLst/>
            </a:prstGeom>
          </p:spPr>
        </p:pic>
      </p:grpSp>
      <p:pic>
        <p:nvPicPr>
          <p:cNvPr id="86" name="图片 85">
            <a:extLst>
              <a:ext uri="{FF2B5EF4-FFF2-40B4-BE49-F238E27FC236}">
                <a16:creationId xmlns:a16="http://schemas.microsoft.com/office/drawing/2014/main" id="{8AEFDC15-A5AB-4743-ADF7-8ACEC8B916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8941" y="6572337"/>
            <a:ext cx="4733333" cy="276190"/>
          </a:xfrm>
          <a:prstGeom prst="rect">
            <a:avLst/>
          </a:prstGeom>
        </p:spPr>
      </p:pic>
      <p:sp>
        <p:nvSpPr>
          <p:cNvPr id="87" name="矩形 86">
            <a:extLst>
              <a:ext uri="{FF2B5EF4-FFF2-40B4-BE49-F238E27FC236}">
                <a16:creationId xmlns:a16="http://schemas.microsoft.com/office/drawing/2014/main" id="{A8B0976E-1CDA-4593-8A80-9ED8CBB103DC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31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93B875-269F-443F-B058-1E72BA16EB1E}"/>
              </a:ext>
            </a:extLst>
          </p:cNvPr>
          <p:cNvSpPr txBox="1"/>
          <p:nvPr/>
        </p:nvSpPr>
        <p:spPr>
          <a:xfrm>
            <a:off x="5762732" y="1795292"/>
            <a:ext cx="115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I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6A6CB1A-4416-4DBD-BD93-C24F73699591}"/>
                  </a:ext>
                </a:extLst>
              </p:cNvPr>
              <p:cNvSpPr/>
              <p:nvPr/>
            </p:nvSpPr>
            <p:spPr>
              <a:xfrm>
                <a:off x="4612998" y="1788385"/>
                <a:ext cx="8033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6A6CB1A-4416-4DBD-BD93-C24F73699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998" y="1788385"/>
                <a:ext cx="803361" cy="461665"/>
              </a:xfrm>
              <a:prstGeom prst="rect">
                <a:avLst/>
              </a:prstGeom>
              <a:blipFill>
                <a:blip r:embed="rId2"/>
                <a:stretch>
                  <a:fillRect l="-1515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FAB87478-F1AF-4368-A7EB-69FEDBAD27DF}"/>
              </a:ext>
            </a:extLst>
          </p:cNvPr>
          <p:cNvSpPr/>
          <p:nvPr/>
        </p:nvSpPr>
        <p:spPr>
          <a:xfrm>
            <a:off x="1656522" y="2149579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00BA87-EE09-4AF3-A80B-656F6255E8EA}"/>
              </a:ext>
            </a:extLst>
          </p:cNvPr>
          <p:cNvSpPr/>
          <p:nvPr/>
        </p:nvSpPr>
        <p:spPr>
          <a:xfrm>
            <a:off x="9568070" y="2149579"/>
            <a:ext cx="644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705348B-BCEF-40CF-9D92-613729A12517}"/>
              </a:ext>
            </a:extLst>
          </p:cNvPr>
          <p:cNvSpPr/>
          <p:nvPr/>
        </p:nvSpPr>
        <p:spPr>
          <a:xfrm>
            <a:off x="3264181" y="2256957"/>
            <a:ext cx="5300883" cy="308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49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46D7CF1-C5F0-46D6-90DD-AFC671E7E004}"/>
                  </a:ext>
                </a:extLst>
              </p:cNvPr>
              <p:cNvSpPr/>
              <p:nvPr/>
            </p:nvSpPr>
            <p:spPr>
              <a:xfrm>
                <a:off x="0" y="4603422"/>
                <a:ext cx="12192001" cy="20005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 : a set of one-way transformed LSH values of a user’s image profile. </a:t>
                </a: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 :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locates the corresponding buckets and unmask them to reveal the social discovery candidates(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</a:t>
                </a: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SF :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needs to perform a light-weight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ranking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locally to obtain the final social discovery results.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46D7CF1-C5F0-46D6-90DD-AFC671E7E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03422"/>
                <a:ext cx="12192001" cy="2000548"/>
              </a:xfrm>
              <a:prstGeom prst="rect">
                <a:avLst/>
              </a:prstGeom>
              <a:blipFill>
                <a:blip r:embed="rId2"/>
                <a:stretch>
                  <a:fillRect l="-750" t="-2439" b="-3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6DBED799-E27A-49F3-89ED-164EB5CB3158}"/>
              </a:ext>
            </a:extLst>
          </p:cNvPr>
          <p:cNvGrpSpPr/>
          <p:nvPr/>
        </p:nvGrpSpPr>
        <p:grpSpPr>
          <a:xfrm>
            <a:off x="2579407" y="2428726"/>
            <a:ext cx="7033185" cy="1878730"/>
            <a:chOff x="2209288" y="1254304"/>
            <a:chExt cx="7033185" cy="187873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E0F5A3A-D5F0-47E3-B1FB-865618207BA5}"/>
                </a:ext>
              </a:extLst>
            </p:cNvPr>
            <p:cNvSpPr/>
            <p:nvPr/>
          </p:nvSpPr>
          <p:spPr>
            <a:xfrm>
              <a:off x="2209288" y="2065264"/>
              <a:ext cx="600892" cy="7576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231F2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SF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5CDB7837-5E20-4173-B806-7B06D6BE9019}"/>
                </a:ext>
              </a:extLst>
            </p:cNvPr>
            <p:cNvSpPr/>
            <p:nvPr/>
          </p:nvSpPr>
          <p:spPr>
            <a:xfrm>
              <a:off x="2906780" y="1735808"/>
              <a:ext cx="5300883" cy="30846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2BF75FE-9930-4462-B6C3-8D931EBEFFB9}"/>
                </a:ext>
              </a:extLst>
            </p:cNvPr>
            <p:cNvSpPr txBox="1"/>
            <p:nvPr/>
          </p:nvSpPr>
          <p:spPr>
            <a:xfrm>
              <a:off x="4535777" y="1254304"/>
              <a:ext cx="12442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Query(t)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DF843AF-8CB9-4184-BB79-61C64E6572DB}"/>
                </a:ext>
              </a:extLst>
            </p:cNvPr>
            <p:cNvSpPr/>
            <p:nvPr/>
          </p:nvSpPr>
          <p:spPr>
            <a:xfrm>
              <a:off x="8603250" y="2059231"/>
              <a:ext cx="639223" cy="7576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231F2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E3D1BA2-7BDB-48A9-8613-0054BAD7F4B1}"/>
                </a:ext>
              </a:extLst>
            </p:cNvPr>
            <p:cNvSpPr/>
            <p:nvPr/>
          </p:nvSpPr>
          <p:spPr>
            <a:xfrm>
              <a:off x="3247109" y="2671369"/>
              <a:ext cx="56580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matched encrypted image profiles M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箭头: 右 16">
              <a:extLst>
                <a:ext uri="{FF2B5EF4-FFF2-40B4-BE49-F238E27FC236}">
                  <a16:creationId xmlns:a16="http://schemas.microsoft.com/office/drawing/2014/main" id="{01397941-7611-49F5-8954-22492D70EE75}"/>
                </a:ext>
              </a:extLst>
            </p:cNvPr>
            <p:cNvSpPr/>
            <p:nvPr/>
          </p:nvSpPr>
          <p:spPr>
            <a:xfrm rot="10800000">
              <a:off x="2906778" y="2525775"/>
              <a:ext cx="5300883" cy="30846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49AF906F-9F65-45B6-9702-E892DFE14B4D}"/>
              </a:ext>
            </a:extLst>
          </p:cNvPr>
          <p:cNvSpPr/>
          <p:nvPr/>
        </p:nvSpPr>
        <p:spPr>
          <a:xfrm>
            <a:off x="0" y="-639"/>
            <a:ext cx="29931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Discovery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77D3B1-D242-442A-84A3-7261A8C3E24B}"/>
              </a:ext>
            </a:extLst>
          </p:cNvPr>
          <p:cNvSpPr/>
          <p:nvPr/>
        </p:nvSpPr>
        <p:spPr>
          <a:xfrm>
            <a:off x="3287666" y="664916"/>
            <a:ext cx="59876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otivation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Users actively want to add friends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Service providers actively want to recommend friends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93B875-269F-443F-B058-1E72BA16EB1E}"/>
              </a:ext>
            </a:extLst>
          </p:cNvPr>
          <p:cNvSpPr txBox="1"/>
          <p:nvPr/>
        </p:nvSpPr>
        <p:spPr>
          <a:xfrm>
            <a:off x="9670859" y="3483375"/>
            <a:ext cx="115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I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6A6CB1A-4416-4DBD-BD93-C24F73699591}"/>
                  </a:ext>
                </a:extLst>
              </p:cNvPr>
              <p:cNvSpPr/>
              <p:nvPr/>
            </p:nvSpPr>
            <p:spPr>
              <a:xfrm>
                <a:off x="9612592" y="3002820"/>
                <a:ext cx="8033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6A6CB1A-4416-4DBD-BD93-C24F73699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592" y="3002820"/>
                <a:ext cx="803361" cy="461665"/>
              </a:xfrm>
              <a:prstGeom prst="rect">
                <a:avLst/>
              </a:prstGeom>
              <a:blipFill>
                <a:blip r:embed="rId3"/>
                <a:stretch>
                  <a:fillRect l="-1515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左大括号 1"/>
          <p:cNvSpPr/>
          <p:nvPr/>
        </p:nvSpPr>
        <p:spPr>
          <a:xfrm>
            <a:off x="9538975" y="3112322"/>
            <a:ext cx="131884" cy="7421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93B875-269F-443F-B058-1E72BA16EB1E}"/>
              </a:ext>
            </a:extLst>
          </p:cNvPr>
          <p:cNvSpPr txBox="1"/>
          <p:nvPr/>
        </p:nvSpPr>
        <p:spPr>
          <a:xfrm>
            <a:off x="1768453" y="3507750"/>
            <a:ext cx="36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6A6CB1A-4416-4DBD-BD93-C24F73699591}"/>
                  </a:ext>
                </a:extLst>
              </p:cNvPr>
              <p:cNvSpPr/>
              <p:nvPr/>
            </p:nvSpPr>
            <p:spPr>
              <a:xfrm>
                <a:off x="1768453" y="3046085"/>
                <a:ext cx="4219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6A6CB1A-4416-4DBD-BD93-C24F73699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453" y="3046085"/>
                <a:ext cx="4219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左大括号 22"/>
          <p:cNvSpPr/>
          <p:nvPr/>
        </p:nvSpPr>
        <p:spPr>
          <a:xfrm flipH="1">
            <a:off x="2370541" y="3161072"/>
            <a:ext cx="188503" cy="6933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94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17DAA2B-2ACB-405E-BA59-332339A988D3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25353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1.SF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transforms V to a trapdoor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,… 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),…,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,… 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 </m:t>
                    </m:r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specified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1 ≤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 d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2.CS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locates L*(d+1) encrypted buckets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specified by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and unmask each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1 ≤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l*(d+1)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, CS returns L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(d+1) encrypted image profiles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as the secure match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to SF.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17DAA2B-2ACB-405E-BA59-332339A98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2535309"/>
              </a:xfrm>
              <a:prstGeom prst="rect">
                <a:avLst/>
              </a:prstGeom>
              <a:blipFill>
                <a:blip r:embed="rId2"/>
                <a:stretch>
                  <a:fillRect l="-750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9DF2F18-C133-4671-B811-C20D5ADF6B48}"/>
                  </a:ext>
                </a:extLst>
              </p:cNvPr>
              <p:cNvSpPr/>
              <p:nvPr/>
            </p:nvSpPr>
            <p:spPr>
              <a:xfrm>
                <a:off x="79856" y="3311602"/>
                <a:ext cx="3173113" cy="1877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 … 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… 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… </a:t>
                </a:r>
              </a:p>
              <a:p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 … 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9DF2F18-C133-4671-B811-C20D5ADF6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6" y="3311602"/>
                <a:ext cx="3173113" cy="1877437"/>
              </a:xfrm>
              <a:prstGeom prst="rect">
                <a:avLst/>
              </a:prstGeom>
              <a:blipFill>
                <a:blip r:embed="rId3"/>
                <a:stretch>
                  <a:fillRect l="-3839" t="-2273" r="-3071" b="-7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F471D93-2F6B-4F39-BC54-4B209906DE9C}"/>
              </a:ext>
            </a:extLst>
          </p:cNvPr>
          <p:cNvCxnSpPr>
            <a:cxnSpLocks/>
          </p:cNvCxnSpPr>
          <p:nvPr/>
        </p:nvCxnSpPr>
        <p:spPr>
          <a:xfrm>
            <a:off x="9023985" y="4091919"/>
            <a:ext cx="0" cy="25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8DFC266-09D2-452B-87D1-5D8B81E2C4C1}"/>
              </a:ext>
            </a:extLst>
          </p:cNvPr>
          <p:cNvSpPr txBox="1"/>
          <p:nvPr/>
        </p:nvSpPr>
        <p:spPr>
          <a:xfrm>
            <a:off x="10592735" y="2604259"/>
            <a:ext cx="14590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j row</a:t>
            </a:r>
          </a:p>
          <a:p>
            <a:r>
              <a:rPr lang="en-US" altLang="zh-CN" sz="2400" dirty="0" err="1"/>
              <a:t>i</a:t>
            </a:r>
            <a:r>
              <a:rPr lang="en-US" altLang="zh-CN" sz="2400" dirty="0"/>
              <a:t> Column </a:t>
            </a:r>
            <a:endParaRPr lang="zh-CN" altLang="en-US" sz="2400" dirty="0"/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1B76F8CD-8DC6-4068-AA20-126BAE17302B}"/>
              </a:ext>
            </a:extLst>
          </p:cNvPr>
          <p:cNvSpPr/>
          <p:nvPr/>
        </p:nvSpPr>
        <p:spPr>
          <a:xfrm>
            <a:off x="3115468" y="3504815"/>
            <a:ext cx="275002" cy="14910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E897FA-1E54-4534-A1B9-BF302BDD17C1}"/>
              </a:ext>
            </a:extLst>
          </p:cNvPr>
          <p:cNvSpPr/>
          <p:nvPr/>
        </p:nvSpPr>
        <p:spPr>
          <a:xfrm>
            <a:off x="3498732" y="4060233"/>
            <a:ext cx="11865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l*(d+1) </a:t>
            </a:r>
            <a:endParaRPr lang="zh-CN" altLang="en-US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A9C6E8-C696-4A56-96EB-94B4AC941808}"/>
              </a:ext>
            </a:extLst>
          </p:cNvPr>
          <p:cNvGrpSpPr/>
          <p:nvPr/>
        </p:nvGrpSpPr>
        <p:grpSpPr>
          <a:xfrm>
            <a:off x="5626045" y="3561358"/>
            <a:ext cx="5926370" cy="2244595"/>
            <a:chOff x="4009280" y="2563338"/>
            <a:chExt cx="5926370" cy="22445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5003F819-810B-48B1-B1F7-3B3CE3F23D25}"/>
                    </a:ext>
                  </a:extLst>
                </p:cNvPr>
                <p:cNvSpPr/>
                <p:nvPr/>
              </p:nvSpPr>
              <p:spPr>
                <a:xfrm>
                  <a:off x="5747631" y="4346268"/>
                  <a:ext cx="139653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i="1" dirty="0">
                      <a:latin typeface="Cambria Math" panose="02040503050406030204" pitchFamily="18" charset="0"/>
                    </a:rPr>
                    <a:t>V</a:t>
                  </a:r>
                  <a:r>
                    <a:rPr lang="en-US" altLang="zh-CN" sz="2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= h</a:t>
                  </a:r>
                  <a14:m>
                    <m:oMath xmlns:m="http://schemas.openxmlformats.org/officeDocument/2006/math">
                      <m:r>
                        <a:rPr lang="en-US" altLang="zh-CN" sz="2400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S</m:t>
                      </m:r>
                      <m:r>
                        <a:rPr lang="en-US" altLang="zh-CN" sz="2400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5003F819-810B-48B1-B1F7-3B3CE3F23D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7631" y="4346268"/>
                  <a:ext cx="1396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6550" t="-16000" r="-3057" b="-29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8A7F44B-62DD-453F-B4FB-3B10959130A4}"/>
                    </a:ext>
                  </a:extLst>
                </p:cNvPr>
                <p:cNvSpPr/>
                <p:nvPr/>
              </p:nvSpPr>
              <p:spPr>
                <a:xfrm>
                  <a:off x="6445899" y="2563338"/>
                  <a:ext cx="1922642" cy="5503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=(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altLang="zh-CN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8A7F44B-62DD-453F-B4FB-3B10959130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5899" y="2563338"/>
                  <a:ext cx="1922642" cy="5503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9D9BEFEF-CC39-41B4-A1D4-034F20B2191A}"/>
                    </a:ext>
                  </a:extLst>
                </p:cNvPr>
                <p:cNvSpPr/>
                <p:nvPr/>
              </p:nvSpPr>
              <p:spPr>
                <a:xfrm>
                  <a:off x="7665670" y="3285205"/>
                  <a:ext cx="2269980" cy="5579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l-GR" altLang="zh-CN" sz="24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9D9BEFEF-CC39-41B4-A1D4-034F20B21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5670" y="3285205"/>
                  <a:ext cx="2269980" cy="557910"/>
                </a:xfrm>
                <a:prstGeom prst="rect">
                  <a:avLst/>
                </a:prstGeom>
                <a:blipFill>
                  <a:blip r:embed="rId6"/>
                  <a:stretch>
                    <a:fillRect b="-186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E03ED14-BE3A-492A-A89E-088ABE891E5D}"/>
                </a:ext>
              </a:extLst>
            </p:cNvPr>
            <p:cNvGrpSpPr/>
            <p:nvPr/>
          </p:nvGrpSpPr>
          <p:grpSpPr>
            <a:xfrm>
              <a:off x="4009280" y="3141710"/>
              <a:ext cx="3763454" cy="940093"/>
              <a:chOff x="4024404" y="4452872"/>
              <a:chExt cx="3763454" cy="940093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A436A7B-0F81-453D-85C3-6C34688575E1}"/>
                  </a:ext>
                </a:extLst>
              </p:cNvPr>
              <p:cNvGrpSpPr/>
              <p:nvPr/>
            </p:nvGrpSpPr>
            <p:grpSpPr>
              <a:xfrm>
                <a:off x="4024404" y="4452872"/>
                <a:ext cx="2682899" cy="940093"/>
                <a:chOff x="4824412" y="4452872"/>
                <a:chExt cx="2682899" cy="9400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矩形 7">
                      <a:extLst>
                        <a:ext uri="{FF2B5EF4-FFF2-40B4-BE49-F238E27FC236}">
                          <a16:creationId xmlns:a16="http://schemas.microsoft.com/office/drawing/2014/main" id="{A1FD58D2-8B54-4F6F-9009-F743E23683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80264" y="4452872"/>
                      <a:ext cx="2327047" cy="49141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400" dirty="0"/>
                    </a:p>
                  </p:txBody>
                </p:sp>
              </mc:Choice>
              <mc:Fallback xmlns="">
                <p:sp>
                  <p:nvSpPr>
                    <p:cNvPr id="8" name="矩形 7">
                      <a:extLst>
                        <a:ext uri="{FF2B5EF4-FFF2-40B4-BE49-F238E27FC236}">
                          <a16:creationId xmlns:a16="http://schemas.microsoft.com/office/drawing/2014/main" id="{A1FD58D2-8B54-4F6F-9009-F743E236838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80264" y="4452872"/>
                      <a:ext cx="2327047" cy="49141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785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矩形 8">
                      <a:extLst>
                        <a:ext uri="{FF2B5EF4-FFF2-40B4-BE49-F238E27FC236}">
                          <a16:creationId xmlns:a16="http://schemas.microsoft.com/office/drawing/2014/main" id="{7F701947-616B-4C5F-8D71-33A2C30E96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4412" y="4901548"/>
                      <a:ext cx="2639762" cy="49141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≤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d </a:t>
                      </a:r>
                      <a14:m>
                        <m:oMath xmlns:m="http://schemas.openxmlformats.org/officeDocument/2006/math"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" name="矩形 8">
                      <a:extLst>
                        <a:ext uri="{FF2B5EF4-FFF2-40B4-BE49-F238E27FC236}">
                          <a16:creationId xmlns:a16="http://schemas.microsoft.com/office/drawing/2014/main" id="{7F701947-616B-4C5F-8D71-33A2C30E968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4412" y="4901548"/>
                      <a:ext cx="2639762" cy="49141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695" t="-10000" r="-924" b="-2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1" name="右大括号 10">
                <a:extLst>
                  <a:ext uri="{FF2B5EF4-FFF2-40B4-BE49-F238E27FC236}">
                    <a16:creationId xmlns:a16="http://schemas.microsoft.com/office/drawing/2014/main" id="{D6E80926-4F04-4A17-9206-1FFA4284A983}"/>
                  </a:ext>
                </a:extLst>
              </p:cNvPr>
              <p:cNvSpPr/>
              <p:nvPr/>
            </p:nvSpPr>
            <p:spPr>
              <a:xfrm>
                <a:off x="6520165" y="4519422"/>
                <a:ext cx="280236" cy="790041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矩形 11">
                    <a:extLst>
                      <a:ext uri="{FF2B5EF4-FFF2-40B4-BE49-F238E27FC236}">
                        <a16:creationId xmlns:a16="http://schemas.microsoft.com/office/drawing/2014/main" id="{63A839CE-DDF1-4050-AF0C-24CBC6CE7564}"/>
                      </a:ext>
                    </a:extLst>
                  </p:cNvPr>
                  <p:cNvSpPr/>
                  <p:nvPr/>
                </p:nvSpPr>
                <p:spPr>
                  <a:xfrm>
                    <a:off x="6882930" y="4631495"/>
                    <a:ext cx="904928" cy="55034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l-GR" altLang="zh-CN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oMath>
                    </a14:m>
                    <a:r>
                      <a: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2" name="矩形 11">
                    <a:extLst>
                      <a:ext uri="{FF2B5EF4-FFF2-40B4-BE49-F238E27FC236}">
                        <a16:creationId xmlns:a16="http://schemas.microsoft.com/office/drawing/2014/main" id="{63A839CE-DDF1-4050-AF0C-24CBC6CE756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2930" y="4631495"/>
                    <a:ext cx="904928" cy="55034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87D48D1D-B813-43D6-96DD-986BE8D06F22}"/>
                </a:ext>
              </a:extLst>
            </p:cNvPr>
            <p:cNvCxnSpPr/>
            <p:nvPr/>
          </p:nvCxnSpPr>
          <p:spPr>
            <a:xfrm>
              <a:off x="7892239" y="3093706"/>
              <a:ext cx="0" cy="280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82A236F-511F-4213-AFD1-DAFBBA011E47}"/>
                </a:ext>
              </a:extLst>
            </p:cNvPr>
            <p:cNvCxnSpPr/>
            <p:nvPr/>
          </p:nvCxnSpPr>
          <p:spPr>
            <a:xfrm flipV="1">
              <a:off x="5995615" y="4058138"/>
              <a:ext cx="0" cy="2638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078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178B6D2-D837-42FC-9697-E6FCA61DEF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021275"/>
                  </p:ext>
                </p:extLst>
              </p:nvPr>
            </p:nvGraphicFramePr>
            <p:xfrm>
              <a:off x="1225836" y="731716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178B6D2-D837-42FC-9697-E6FCA61DEF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021275"/>
                  </p:ext>
                </p:extLst>
              </p:nvPr>
            </p:nvGraphicFramePr>
            <p:xfrm>
              <a:off x="1225836" y="731716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105" r="-702299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105" r="-602299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598851" t="-2105" r="-303448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A996CB9-CC14-4F54-B0D3-9E347CBB97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03107"/>
                  </p:ext>
                </p:extLst>
              </p:nvPr>
            </p:nvGraphicFramePr>
            <p:xfrm>
              <a:off x="1225836" y="1535938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A996CB9-CC14-4F54-B0D3-9E347CBB97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03107"/>
                  </p:ext>
                </p:extLst>
              </p:nvPr>
            </p:nvGraphicFramePr>
            <p:xfrm>
              <a:off x="1225836" y="1535938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42" r="-5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808140" t="-1042" r="-105814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897701" t="-1042" r="-4598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D8ED4C4-FDA5-4B76-920E-F2FD4E12B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9266974"/>
                  </p:ext>
                </p:extLst>
              </p:nvPr>
            </p:nvGraphicFramePr>
            <p:xfrm>
              <a:off x="1225836" y="2334169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D8ED4C4-FDA5-4B76-920E-F2FD4E12B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9266974"/>
                  </p:ext>
                </p:extLst>
              </p:nvPr>
            </p:nvGraphicFramePr>
            <p:xfrm>
              <a:off x="1225836" y="2334169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2326" t="-1042" r="-81162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42" r="-5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98851" t="-1042" r="-20344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C7EFC10F-C58E-4A36-9DAC-81C09550E5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3987214"/>
                  </p:ext>
                </p:extLst>
              </p:nvPr>
            </p:nvGraphicFramePr>
            <p:xfrm>
              <a:off x="1225836" y="3132400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16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C7EFC10F-C58E-4A36-9DAC-81C09550E5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3987214"/>
                  </p:ext>
                </p:extLst>
              </p:nvPr>
            </p:nvGraphicFramePr>
            <p:xfrm>
              <a:off x="1225836" y="3132400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42" r="-7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0000" t="-1042" r="-5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98851" t="-1042" r="-30344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3E55604-FFD4-46DB-8F6D-46AD940507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0753252"/>
                  </p:ext>
                </p:extLst>
              </p:nvPr>
            </p:nvGraphicFramePr>
            <p:xfrm>
              <a:off x="1225836" y="4513727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14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15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3E55604-FFD4-46DB-8F6D-46AD940507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0753252"/>
                  </p:ext>
                </p:extLst>
              </p:nvPr>
            </p:nvGraphicFramePr>
            <p:xfrm>
              <a:off x="1225836" y="4513727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0000" t="-1053" r="-502299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05814" t="-1053" r="-408140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808140" t="-1053" r="-105814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38B6750E-A037-4FBE-A42F-339C2AF867B9}"/>
              </a:ext>
            </a:extLst>
          </p:cNvPr>
          <p:cNvSpPr txBox="1"/>
          <p:nvPr/>
        </p:nvSpPr>
        <p:spPr>
          <a:xfrm rot="5400000" flipH="1">
            <a:off x="3693679" y="3937738"/>
            <a:ext cx="384322" cy="3701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BBE7992-65A2-4C94-8330-500861F59254}"/>
                  </a:ext>
                </a:extLst>
              </p:cNvPr>
              <p:cNvSpPr/>
              <p:nvPr/>
            </p:nvSpPr>
            <p:spPr>
              <a:xfrm>
                <a:off x="7661771" y="362797"/>
                <a:ext cx="1536019" cy="1395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… 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BBE7992-65A2-4C94-8330-500861F59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771" y="362797"/>
                <a:ext cx="1536019" cy="1395318"/>
              </a:xfrm>
              <a:prstGeom prst="rect">
                <a:avLst/>
              </a:prstGeom>
              <a:blipFill>
                <a:blip r:embed="rId7"/>
                <a:stretch>
                  <a:fillRect l="-4365" t="-2193" r="-15873"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DCD38C9-1F9B-4A76-AA9E-CF80C6A0DE78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DCD38C9-1F9B-4A76-AA9E-CF80C6A0DE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4ACE6C7-37BD-43DA-B87D-03FE4A7E8FC2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4ACE6C7-37BD-43DA-B87D-03FE4A7E8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42FA078-9DAB-4B1F-A326-E492CB7385F6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42FA078-9DAB-4B1F-A326-E492CB7385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FD4CBC1-7DA6-4B23-B606-2557915EE1C4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FD4CBC1-7DA6-4B23-B606-2557915EE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1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BD8615F-077C-4872-863B-52980E08CE81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BD8615F-077C-4872-863B-52980E08CE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右大括号 15">
            <a:extLst>
              <a:ext uri="{FF2B5EF4-FFF2-40B4-BE49-F238E27FC236}">
                <a16:creationId xmlns:a16="http://schemas.microsoft.com/office/drawing/2014/main" id="{F48A9E71-277F-43D5-BCE1-8A62E87BA9DA}"/>
              </a:ext>
            </a:extLst>
          </p:cNvPr>
          <p:cNvSpPr/>
          <p:nvPr/>
        </p:nvSpPr>
        <p:spPr>
          <a:xfrm>
            <a:off x="9420856" y="429173"/>
            <a:ext cx="280236" cy="11141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9635CB-2366-42EB-9E70-E5160B1B3B91}"/>
              </a:ext>
            </a:extLst>
          </p:cNvPr>
          <p:cNvSpPr/>
          <p:nvPr/>
        </p:nvSpPr>
        <p:spPr>
          <a:xfrm>
            <a:off x="9843969" y="753239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L*(d+1)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0F594F8-5425-4918-B593-5E1FF9855924}"/>
                  </a:ext>
                </a:extLst>
              </p:cNvPr>
              <p:cNvSpPr/>
              <p:nvPr/>
            </p:nvSpPr>
            <p:spPr>
              <a:xfrm>
                <a:off x="7568524" y="2334169"/>
                <a:ext cx="4550889" cy="13758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… 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),(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,(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0F594F8-5425-4918-B593-5E1FF98559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524" y="2334169"/>
                <a:ext cx="4550889" cy="1375889"/>
              </a:xfrm>
              <a:prstGeom prst="rect">
                <a:avLst/>
              </a:prstGeom>
              <a:blipFill>
                <a:blip r:embed="rId13"/>
                <a:stretch>
                  <a:fillRect l="-1475" t="-2212" b="-4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EBB9B4F0-8AA9-4973-8982-EF611A8116F9}"/>
              </a:ext>
            </a:extLst>
          </p:cNvPr>
          <p:cNvGrpSpPr/>
          <p:nvPr/>
        </p:nvGrpSpPr>
        <p:grpSpPr>
          <a:xfrm>
            <a:off x="8167670" y="4286112"/>
            <a:ext cx="3352596" cy="1948702"/>
            <a:chOff x="327819" y="226152"/>
            <a:chExt cx="3352596" cy="1948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69C8B078-918F-4601-919A-188EA41C5E4E}"/>
                    </a:ext>
                  </a:extLst>
                </p:cNvPr>
                <p:cNvSpPr/>
                <p:nvPr/>
              </p:nvSpPr>
              <p:spPr>
                <a:xfrm>
                  <a:off x="1957251" y="1783208"/>
                  <a:ext cx="1723164" cy="3916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en-US" altLang="zh-CN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altLang="zh-CN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ƒ</m:t>
                        </m:r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69C8B078-918F-4601-919A-188EA41C5E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7251" y="1783208"/>
                  <a:ext cx="1723164" cy="391646"/>
                </a:xfrm>
                <a:prstGeom prst="rect">
                  <a:avLst/>
                </a:prstGeom>
                <a:blipFill>
                  <a:blip r:embed="rId14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4A60091E-8AF2-433A-A761-1414063236D6}"/>
                    </a:ext>
                  </a:extLst>
                </p:cNvPr>
                <p:cNvSpPr/>
                <p:nvPr/>
              </p:nvSpPr>
              <p:spPr>
                <a:xfrm>
                  <a:off x="693390" y="978535"/>
                  <a:ext cx="1713995" cy="3916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l-GR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4A60091E-8AF2-433A-A761-1414063236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390" y="978535"/>
                  <a:ext cx="1713995" cy="391646"/>
                </a:xfrm>
                <a:prstGeom prst="rect">
                  <a:avLst/>
                </a:prstGeom>
                <a:blipFill>
                  <a:blip r:embed="rId15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3C0E7447-6CDA-49CE-AD93-9F3BC10333A3}"/>
                    </a:ext>
                  </a:extLst>
                </p:cNvPr>
                <p:cNvSpPr/>
                <p:nvPr/>
              </p:nvSpPr>
              <p:spPr>
                <a:xfrm>
                  <a:off x="327819" y="226152"/>
                  <a:ext cx="12221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en-US" altLang="zh-CN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⊕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3C0E7447-6CDA-49CE-AD93-9F3BC10333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819" y="226152"/>
                  <a:ext cx="1222194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13115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622FA92-3E3A-4AE1-B5AD-90668860C131}"/>
                </a:ext>
              </a:extLst>
            </p:cNvPr>
            <p:cNvCxnSpPr/>
            <p:nvPr/>
          </p:nvCxnSpPr>
          <p:spPr>
            <a:xfrm flipV="1">
              <a:off x="2166434" y="1370181"/>
              <a:ext cx="0" cy="4852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1133280-D689-4245-8913-C648D3F455D8}"/>
                </a:ext>
              </a:extLst>
            </p:cNvPr>
            <p:cNvCxnSpPr>
              <a:endCxn id="22" idx="2"/>
            </p:cNvCxnSpPr>
            <p:nvPr/>
          </p:nvCxnSpPr>
          <p:spPr>
            <a:xfrm flipV="1">
              <a:off x="938916" y="595484"/>
              <a:ext cx="0" cy="3830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3B9B25FD-03A9-4373-8392-65FDD6118BEF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743D592-6F74-47B5-BD28-99E3A36CF246}"/>
                  </a:ext>
                </a:extLst>
              </p:cNvPr>
              <p:cNvSpPr/>
              <p:nvPr/>
            </p:nvSpPr>
            <p:spPr>
              <a:xfrm>
                <a:off x="6768181" y="383907"/>
                <a:ext cx="31611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743D592-6F74-47B5-BD28-99E3A36CF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81" y="383907"/>
                <a:ext cx="316112" cy="369332"/>
              </a:xfrm>
              <a:prstGeom prst="rect">
                <a:avLst/>
              </a:prstGeom>
              <a:blipFill>
                <a:blip r:embed="rId17"/>
                <a:stretch>
                  <a:fillRect r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头: 右 25">
            <a:extLst>
              <a:ext uri="{FF2B5EF4-FFF2-40B4-BE49-F238E27FC236}">
                <a16:creationId xmlns:a16="http://schemas.microsoft.com/office/drawing/2014/main" id="{DB1521BC-9C14-44BE-94D6-5D8191EF5A6B}"/>
              </a:ext>
            </a:extLst>
          </p:cNvPr>
          <p:cNvSpPr/>
          <p:nvPr/>
        </p:nvSpPr>
        <p:spPr>
          <a:xfrm>
            <a:off x="7209463" y="455172"/>
            <a:ext cx="316112" cy="226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4257E2-5CC1-45DB-845C-875F94271BAB}"/>
              </a:ext>
            </a:extLst>
          </p:cNvPr>
          <p:cNvSpPr txBox="1"/>
          <p:nvPr/>
        </p:nvSpPr>
        <p:spPr>
          <a:xfrm>
            <a:off x="6922027" y="19648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展开：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55324F-2B99-4334-920C-58531C23EE40}"/>
              </a:ext>
            </a:extLst>
          </p:cNvPr>
          <p:cNvSpPr txBox="1"/>
          <p:nvPr/>
        </p:nvSpPr>
        <p:spPr>
          <a:xfrm>
            <a:off x="6768181" y="39536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加密桶：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5285A32-C923-4EE7-BD5B-B568551B7E7B}"/>
                  </a:ext>
                </a:extLst>
              </p:cNvPr>
              <p:cNvSpPr/>
              <p:nvPr/>
            </p:nvSpPr>
            <p:spPr>
              <a:xfrm>
                <a:off x="4070894" y="5941618"/>
                <a:ext cx="12734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5285A32-C923-4EE7-BD5B-B568551B7E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894" y="5941618"/>
                <a:ext cx="1273490" cy="369332"/>
              </a:xfrm>
              <a:prstGeom prst="rect">
                <a:avLst/>
              </a:prstGeom>
              <a:blipFill>
                <a:blip r:embed="rId18"/>
                <a:stretch>
                  <a:fillRect t="-15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69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8258ADA-0142-4FE8-B968-C001BBD45EB5}"/>
                  </a:ext>
                </a:extLst>
              </p:cNvPr>
              <p:cNvSpPr/>
              <p:nvPr/>
            </p:nvSpPr>
            <p:spPr>
              <a:xfrm>
                <a:off x="7509463" y="362797"/>
                <a:ext cx="202017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…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8258ADA-0142-4FE8-B968-C001BBD45E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463" y="362797"/>
                <a:ext cx="2020170" cy="1323439"/>
              </a:xfrm>
              <a:prstGeom prst="rect">
                <a:avLst/>
              </a:prstGeom>
              <a:blipFill>
                <a:blip r:embed="rId2"/>
                <a:stretch>
                  <a:fillRect l="-3323" t="-2765" r="-2417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右大括号 21">
            <a:extLst>
              <a:ext uri="{FF2B5EF4-FFF2-40B4-BE49-F238E27FC236}">
                <a16:creationId xmlns:a16="http://schemas.microsoft.com/office/drawing/2014/main" id="{AC1AEEE3-8537-412F-86B2-4FBFB1A35677}"/>
              </a:ext>
            </a:extLst>
          </p:cNvPr>
          <p:cNvSpPr/>
          <p:nvPr/>
        </p:nvSpPr>
        <p:spPr>
          <a:xfrm>
            <a:off x="9420856" y="429173"/>
            <a:ext cx="280236" cy="11141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FB60F9-F1E3-42DA-AC8E-14370ED6F647}"/>
              </a:ext>
            </a:extLst>
          </p:cNvPr>
          <p:cNvSpPr/>
          <p:nvPr/>
        </p:nvSpPr>
        <p:spPr>
          <a:xfrm>
            <a:off x="9843969" y="753239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L*(d+1) 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F17422-7B6B-4192-BAD6-1B01F522650F}"/>
              </a:ext>
            </a:extLst>
          </p:cNvPr>
          <p:cNvSpPr txBox="1"/>
          <p:nvPr/>
        </p:nvSpPr>
        <p:spPr>
          <a:xfrm>
            <a:off x="10100845" y="1122571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B8A2399-79AB-4F47-9BCA-A93F472A1B58}"/>
                  </a:ext>
                </a:extLst>
              </p:cNvPr>
              <p:cNvSpPr/>
              <p:nvPr/>
            </p:nvSpPr>
            <p:spPr>
              <a:xfrm>
                <a:off x="7235687" y="2964721"/>
                <a:ext cx="276970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M={(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…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B8A2399-79AB-4F47-9BCA-A93F472A1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687" y="2964721"/>
                <a:ext cx="2769704" cy="1323439"/>
              </a:xfrm>
              <a:prstGeom prst="rect">
                <a:avLst/>
              </a:prstGeom>
              <a:blipFill>
                <a:blip r:embed="rId3"/>
                <a:stretch>
                  <a:fillRect l="-2423" t="-2304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右大括号 26">
            <a:extLst>
              <a:ext uri="{FF2B5EF4-FFF2-40B4-BE49-F238E27FC236}">
                <a16:creationId xmlns:a16="http://schemas.microsoft.com/office/drawing/2014/main" id="{00520299-0762-40D8-B51C-1F102C3062D9}"/>
              </a:ext>
            </a:extLst>
          </p:cNvPr>
          <p:cNvSpPr/>
          <p:nvPr/>
        </p:nvSpPr>
        <p:spPr>
          <a:xfrm>
            <a:off x="9529632" y="3014110"/>
            <a:ext cx="280236" cy="11141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5B0C86-29D0-45E5-8153-30AC1D96D8EE}"/>
              </a:ext>
            </a:extLst>
          </p:cNvPr>
          <p:cNvSpPr/>
          <p:nvPr/>
        </p:nvSpPr>
        <p:spPr>
          <a:xfrm>
            <a:off x="9952745" y="3338176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L*(d+1)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A1E51C-0DE3-406E-8F27-F34B74F70FB7}"/>
              </a:ext>
            </a:extLst>
          </p:cNvPr>
          <p:cNvSpPr txBox="1"/>
          <p:nvPr/>
        </p:nvSpPr>
        <p:spPr>
          <a:xfrm>
            <a:off x="10209621" y="3707508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表格 41">
                <a:extLst>
                  <a:ext uri="{FF2B5EF4-FFF2-40B4-BE49-F238E27FC236}">
                    <a16:creationId xmlns:a16="http://schemas.microsoft.com/office/drawing/2014/main" id="{688CE9BE-8E3A-4914-9C7A-46003DFAF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3867223"/>
                  </p:ext>
                </p:extLst>
              </p:nvPr>
            </p:nvGraphicFramePr>
            <p:xfrm>
              <a:off x="1225836" y="731716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表格 41">
                <a:extLst>
                  <a:ext uri="{FF2B5EF4-FFF2-40B4-BE49-F238E27FC236}">
                    <a16:creationId xmlns:a16="http://schemas.microsoft.com/office/drawing/2014/main" id="{688CE9BE-8E3A-4914-9C7A-46003DFAF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3867223"/>
                  </p:ext>
                </p:extLst>
              </p:nvPr>
            </p:nvGraphicFramePr>
            <p:xfrm>
              <a:off x="1225836" y="731716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105" r="-702299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105" r="-602299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98851" t="-2105" r="-303448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表格 42">
                <a:extLst>
                  <a:ext uri="{FF2B5EF4-FFF2-40B4-BE49-F238E27FC236}">
                    <a16:creationId xmlns:a16="http://schemas.microsoft.com/office/drawing/2014/main" id="{EC040E26-11E4-4FAB-B2D9-9817217FF9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3844313"/>
                  </p:ext>
                </p:extLst>
              </p:nvPr>
            </p:nvGraphicFramePr>
            <p:xfrm>
              <a:off x="1225836" y="1535938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表格 42">
                <a:extLst>
                  <a:ext uri="{FF2B5EF4-FFF2-40B4-BE49-F238E27FC236}">
                    <a16:creationId xmlns:a16="http://schemas.microsoft.com/office/drawing/2014/main" id="{EC040E26-11E4-4FAB-B2D9-9817217FF9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3844313"/>
                  </p:ext>
                </p:extLst>
              </p:nvPr>
            </p:nvGraphicFramePr>
            <p:xfrm>
              <a:off x="1225836" y="1535938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00000" t="-1042" r="-5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808140" t="-1042" r="-105814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897701" t="-1042" r="-4598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4" name="表格 43">
                <a:extLst>
                  <a:ext uri="{FF2B5EF4-FFF2-40B4-BE49-F238E27FC236}">
                    <a16:creationId xmlns:a16="http://schemas.microsoft.com/office/drawing/2014/main" id="{546D035B-1B1A-42F6-83F3-5F05104495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381396"/>
                  </p:ext>
                </p:extLst>
              </p:nvPr>
            </p:nvGraphicFramePr>
            <p:xfrm>
              <a:off x="1225836" y="2334169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4" name="表格 43">
                <a:extLst>
                  <a:ext uri="{FF2B5EF4-FFF2-40B4-BE49-F238E27FC236}">
                    <a16:creationId xmlns:a16="http://schemas.microsoft.com/office/drawing/2014/main" id="{546D035B-1B1A-42F6-83F3-5F05104495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381396"/>
                  </p:ext>
                </p:extLst>
              </p:nvPr>
            </p:nvGraphicFramePr>
            <p:xfrm>
              <a:off x="1225836" y="2334169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2326" t="-1042" r="-81162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0000" t="-1042" r="-5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698851" t="-1042" r="-20344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表格 44">
                <a:extLst>
                  <a:ext uri="{FF2B5EF4-FFF2-40B4-BE49-F238E27FC236}">
                    <a16:creationId xmlns:a16="http://schemas.microsoft.com/office/drawing/2014/main" id="{9D33C0B2-A65B-405D-AF8D-D10118E5DA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754528"/>
                  </p:ext>
                </p:extLst>
              </p:nvPr>
            </p:nvGraphicFramePr>
            <p:xfrm>
              <a:off x="1225836" y="3132400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16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表格 44">
                <a:extLst>
                  <a:ext uri="{FF2B5EF4-FFF2-40B4-BE49-F238E27FC236}">
                    <a16:creationId xmlns:a16="http://schemas.microsoft.com/office/drawing/2014/main" id="{9D33C0B2-A65B-405D-AF8D-D10118E5DA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754528"/>
                  </p:ext>
                </p:extLst>
              </p:nvPr>
            </p:nvGraphicFramePr>
            <p:xfrm>
              <a:off x="1225836" y="3132400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1042" r="-7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400000" t="-1042" r="-502299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598851" t="-1042" r="-30344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表格 45">
                <a:extLst>
                  <a:ext uri="{FF2B5EF4-FFF2-40B4-BE49-F238E27FC236}">
                    <a16:creationId xmlns:a16="http://schemas.microsoft.com/office/drawing/2014/main" id="{514852DA-1165-487A-A238-D53E3CA7E5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972138"/>
                  </p:ext>
                </p:extLst>
              </p:nvPr>
            </p:nvGraphicFramePr>
            <p:xfrm>
              <a:off x="1225836" y="4513727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14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15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表格 45">
                <a:extLst>
                  <a:ext uri="{FF2B5EF4-FFF2-40B4-BE49-F238E27FC236}">
                    <a16:creationId xmlns:a16="http://schemas.microsoft.com/office/drawing/2014/main" id="{514852DA-1165-487A-A238-D53E3CA7E5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972138"/>
                  </p:ext>
                </p:extLst>
              </p:nvPr>
            </p:nvGraphicFramePr>
            <p:xfrm>
              <a:off x="1225836" y="4513727"/>
              <a:ext cx="5280980" cy="575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98">
                      <a:extLst>
                        <a:ext uri="{9D8B030D-6E8A-4147-A177-3AD203B41FA5}">
                          <a16:colId xmlns:a16="http://schemas.microsoft.com/office/drawing/2014/main" val="36196707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465373116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82403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9354024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8430012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956856863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413994198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893201875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3377245624"/>
                        </a:ext>
                      </a:extLst>
                    </a:gridCol>
                    <a:gridCol w="528098">
                      <a:extLst>
                        <a:ext uri="{9D8B030D-6E8A-4147-A177-3AD203B41FA5}">
                          <a16:colId xmlns:a16="http://schemas.microsoft.com/office/drawing/2014/main" val="1605247586"/>
                        </a:ext>
                      </a:extLst>
                    </a:gridCol>
                  </a:tblGrid>
                  <a:tr h="575108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00000" t="-1053" r="-502299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505814" t="-1053" r="-408140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808140" t="-1053" r="-105814" b="-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0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98303EBE-442A-48EC-9999-3FC06C7D7613}"/>
              </a:ext>
            </a:extLst>
          </p:cNvPr>
          <p:cNvSpPr txBox="1"/>
          <p:nvPr/>
        </p:nvSpPr>
        <p:spPr>
          <a:xfrm rot="5400000" flipH="1">
            <a:off x="3693679" y="3937738"/>
            <a:ext cx="384322" cy="3701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83C37367-50FF-4CB6-9CB4-2CD94776D1E8}"/>
                  </a:ext>
                </a:extLst>
              </p:cNvPr>
              <p:cNvSpPr/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83C37367-50FF-4CB6-9CB4-2CD94776D1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824517"/>
                <a:ext cx="996234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647932E6-3981-4AC7-98E5-0C8470884C99}"/>
                  </a:ext>
                </a:extLst>
              </p:cNvPr>
              <p:cNvSpPr/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647932E6-3981-4AC7-98E5-0C8470884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1551641"/>
                <a:ext cx="1045350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4B7C8BD4-F4A0-43DA-B013-8CBE109BD50E}"/>
                  </a:ext>
                </a:extLst>
              </p:cNvPr>
              <p:cNvSpPr/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4B7C8BD4-F4A0-43DA-B013-8CBE109BD5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2413384"/>
                <a:ext cx="974819" cy="395621"/>
              </a:xfrm>
              <a:prstGeom prst="rect">
                <a:avLst/>
              </a:prstGeom>
              <a:blipFill>
                <a:blip r:embed="rId11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9E1532B-6BD9-4ED6-BC0C-161D7442CAE0}"/>
                  </a:ext>
                </a:extLst>
              </p:cNvPr>
              <p:cNvSpPr/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9E1532B-6BD9-4ED6-BC0C-161D7442CA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881" y="3230820"/>
                <a:ext cx="1420452" cy="395621"/>
              </a:xfrm>
              <a:prstGeom prst="rect">
                <a:avLst/>
              </a:prstGeom>
              <a:blipFill>
                <a:blip r:embed="rId1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339667A-1784-4B86-BD0D-AF9D868F6FA2}"/>
                  </a:ext>
                </a:extLst>
              </p:cNvPr>
              <p:cNvSpPr/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 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339667A-1784-4B86-BD0D-AF9D868F6F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0" y="4606528"/>
                <a:ext cx="1032527" cy="369332"/>
              </a:xfrm>
              <a:prstGeom prst="rect">
                <a:avLst/>
              </a:prstGeom>
              <a:blipFill>
                <a:blip r:embed="rId1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02D14475-AC06-41BC-9D63-23700C3107E9}"/>
              </a:ext>
            </a:extLst>
          </p:cNvPr>
          <p:cNvSpPr txBox="1"/>
          <p:nvPr/>
        </p:nvSpPr>
        <p:spPr>
          <a:xfrm>
            <a:off x="2743201" y="13558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6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93B875-269F-443F-B058-1E72BA16EB1E}"/>
              </a:ext>
            </a:extLst>
          </p:cNvPr>
          <p:cNvSpPr txBox="1"/>
          <p:nvPr/>
        </p:nvSpPr>
        <p:spPr>
          <a:xfrm>
            <a:off x="5869731" y="306065"/>
            <a:ext cx="452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B87478-F1AF-4368-A7EB-69FEDBAD27DF}"/>
              </a:ext>
            </a:extLst>
          </p:cNvPr>
          <p:cNvSpPr/>
          <p:nvPr/>
        </p:nvSpPr>
        <p:spPr>
          <a:xfrm>
            <a:off x="1656522" y="557243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00BA87-EE09-4AF3-A80B-656F6255E8EA}"/>
              </a:ext>
            </a:extLst>
          </p:cNvPr>
          <p:cNvSpPr/>
          <p:nvPr/>
        </p:nvSpPr>
        <p:spPr>
          <a:xfrm>
            <a:off x="9568070" y="557243"/>
            <a:ext cx="644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705348B-BCEF-40CF-9D92-613729A12517}"/>
              </a:ext>
            </a:extLst>
          </p:cNvPr>
          <p:cNvSpPr/>
          <p:nvPr/>
        </p:nvSpPr>
        <p:spPr>
          <a:xfrm rot="10800000">
            <a:off x="3264181" y="664621"/>
            <a:ext cx="5300883" cy="308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8860DB6-17D7-4794-AB55-81DFFE289756}"/>
                  </a:ext>
                </a:extLst>
              </p:cNvPr>
              <p:cNvSpPr/>
              <p:nvPr/>
            </p:nvSpPr>
            <p:spPr>
              <a:xfrm>
                <a:off x="4584279" y="2179275"/>
                <a:ext cx="4768485" cy="521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SF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recovers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via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𝐷𝑒𝑐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8860DB6-17D7-4794-AB55-81DFFE2897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279" y="2179275"/>
                <a:ext cx="4768485" cy="521746"/>
              </a:xfrm>
              <a:prstGeom prst="rect">
                <a:avLst/>
              </a:prstGeom>
              <a:blipFill>
                <a:blip r:embed="rId2"/>
                <a:stretch>
                  <a:fillRect l="-1918" t="-4651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F93AE0E-FD0B-4CDD-9934-B214A8F88921}"/>
                  </a:ext>
                </a:extLst>
              </p:cNvPr>
              <p:cNvSpPr/>
              <p:nvPr/>
            </p:nvSpPr>
            <p:spPr>
              <a:xfrm>
                <a:off x="1090516" y="1998829"/>
                <a:ext cx="276970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M={(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…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  <m:sup>
                        <m:r>
                          <a:rPr lang="en-US" altLang="zh-CN" sz="2000" b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F93AE0E-FD0B-4CDD-9934-B214A8F889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16" y="1998829"/>
                <a:ext cx="2769704" cy="1323439"/>
              </a:xfrm>
              <a:prstGeom prst="rect">
                <a:avLst/>
              </a:prstGeom>
              <a:blipFill>
                <a:blip r:embed="rId3"/>
                <a:stretch>
                  <a:fillRect l="-2423" t="-2765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大括号 10">
            <a:extLst>
              <a:ext uri="{FF2B5EF4-FFF2-40B4-BE49-F238E27FC236}">
                <a16:creationId xmlns:a16="http://schemas.microsoft.com/office/drawing/2014/main" id="{AD3BAEE9-CDC5-4A95-AAE4-39C54E0F187B}"/>
              </a:ext>
            </a:extLst>
          </p:cNvPr>
          <p:cNvSpPr/>
          <p:nvPr/>
        </p:nvSpPr>
        <p:spPr>
          <a:xfrm>
            <a:off x="3281748" y="4026079"/>
            <a:ext cx="280236" cy="11141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6E772B-DCFC-465B-B046-36D8B96EB04E}"/>
              </a:ext>
            </a:extLst>
          </p:cNvPr>
          <p:cNvSpPr/>
          <p:nvPr/>
        </p:nvSpPr>
        <p:spPr>
          <a:xfrm>
            <a:off x="3829572" y="4398466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L*(d+1) 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A9AF00-6D1F-4BC6-AAA5-408D8D3D7274}"/>
              </a:ext>
            </a:extLst>
          </p:cNvPr>
          <p:cNvSpPr txBox="1"/>
          <p:nvPr/>
        </p:nvSpPr>
        <p:spPr>
          <a:xfrm>
            <a:off x="3909094" y="4767798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506701E-BDE4-476F-AB61-2B5CCC5C41CB}"/>
                  </a:ext>
                </a:extLst>
              </p:cNvPr>
              <p:cNvSpPr/>
              <p:nvPr/>
            </p:nvSpPr>
            <p:spPr>
              <a:xfrm>
                <a:off x="1244011" y="3921414"/>
                <a:ext cx="202017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M={(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…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506701E-BDE4-476F-AB61-2B5CCC5C4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011" y="3921414"/>
                <a:ext cx="2020170" cy="1323439"/>
              </a:xfrm>
              <a:prstGeom prst="rect">
                <a:avLst/>
              </a:prstGeom>
              <a:blipFill>
                <a:blip r:embed="rId4"/>
                <a:stretch>
                  <a:fillRect l="-3021" t="-2304" r="-1208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AFEDBE67-FEA9-46ED-A1C0-0DFF767DEAEF}"/>
              </a:ext>
            </a:extLst>
          </p:cNvPr>
          <p:cNvSpPr/>
          <p:nvPr/>
        </p:nvSpPr>
        <p:spPr>
          <a:xfrm>
            <a:off x="4764790" y="3893421"/>
            <a:ext cx="3114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ranking and filtering</a:t>
            </a:r>
            <a:endParaRPr lang="zh-CN" altLang="en-US" dirty="0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DEAF20E-3B88-4538-9DB3-3217502175FB}"/>
              </a:ext>
            </a:extLst>
          </p:cNvPr>
          <p:cNvSpPr/>
          <p:nvPr/>
        </p:nvSpPr>
        <p:spPr>
          <a:xfrm>
            <a:off x="4842990" y="4428900"/>
            <a:ext cx="3036755" cy="3388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8A3F23F-6AD0-4BDA-97DC-4A82D40735BE}"/>
              </a:ext>
            </a:extLst>
          </p:cNvPr>
          <p:cNvCxnSpPr/>
          <p:nvPr/>
        </p:nvCxnSpPr>
        <p:spPr>
          <a:xfrm>
            <a:off x="177907" y="1399682"/>
            <a:ext cx="1139371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59B07B1-044D-4BB9-98CC-BFE7C77F7401}"/>
              </a:ext>
            </a:extLst>
          </p:cNvPr>
          <p:cNvSpPr/>
          <p:nvPr/>
        </p:nvSpPr>
        <p:spPr>
          <a:xfrm>
            <a:off x="0" y="144394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7C1410-83AC-4821-8B9F-5F13F5482C0E}"/>
              </a:ext>
            </a:extLst>
          </p:cNvPr>
          <p:cNvSpPr/>
          <p:nvPr/>
        </p:nvSpPr>
        <p:spPr>
          <a:xfrm>
            <a:off x="8198316" y="4395884"/>
            <a:ext cx="675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97E523EB-AE4B-4E09-AA0A-6D0C114EA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52000"/>
              </p:ext>
            </p:extLst>
          </p:nvPr>
        </p:nvGraphicFramePr>
        <p:xfrm>
          <a:off x="8883635" y="3921414"/>
          <a:ext cx="2020170" cy="153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644">
                  <a:extLst>
                    <a:ext uri="{9D8B030D-6E8A-4147-A177-3AD203B41FA5}">
                      <a16:colId xmlns:a16="http://schemas.microsoft.com/office/drawing/2014/main" val="1466177197"/>
                    </a:ext>
                  </a:extLst>
                </a:gridCol>
                <a:gridCol w="1113526">
                  <a:extLst>
                    <a:ext uri="{9D8B030D-6E8A-4147-A177-3AD203B41FA5}">
                      <a16:colId xmlns:a16="http://schemas.microsoft.com/office/drawing/2014/main" val="1674567525"/>
                    </a:ext>
                  </a:extLst>
                </a:gridCol>
              </a:tblGrid>
              <a:tr h="384226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User  7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968217"/>
                  </a:ext>
                </a:extLst>
              </a:tr>
              <a:tr h="384226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User  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973035"/>
                  </a:ext>
                </a:extLst>
              </a:tr>
              <a:tr h="384226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User  12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261351"/>
                  </a:ext>
                </a:extLst>
              </a:tr>
              <a:tr h="384226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User  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10844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7774FC31-B614-4278-8648-3B855109CC27}"/>
              </a:ext>
            </a:extLst>
          </p:cNvPr>
          <p:cNvSpPr txBox="1"/>
          <p:nvPr/>
        </p:nvSpPr>
        <p:spPr>
          <a:xfrm>
            <a:off x="6188302" y="5803573"/>
            <a:ext cx="452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85E9BD-2FC5-4BA9-B634-2CC654325FDD}"/>
              </a:ext>
            </a:extLst>
          </p:cNvPr>
          <p:cNvSpPr/>
          <p:nvPr/>
        </p:nvSpPr>
        <p:spPr>
          <a:xfrm>
            <a:off x="1975093" y="6054751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0E47BF-CC15-439D-8B78-0E7BE7E4A1BE}"/>
              </a:ext>
            </a:extLst>
          </p:cNvPr>
          <p:cNvSpPr/>
          <p:nvPr/>
        </p:nvSpPr>
        <p:spPr>
          <a:xfrm>
            <a:off x="9321250" y="6054751"/>
            <a:ext cx="1164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6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AD96FBC6-93DC-46A7-82CA-4350D3D69568}"/>
              </a:ext>
            </a:extLst>
          </p:cNvPr>
          <p:cNvSpPr/>
          <p:nvPr/>
        </p:nvSpPr>
        <p:spPr>
          <a:xfrm>
            <a:off x="3582752" y="6162129"/>
            <a:ext cx="5300883" cy="308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458BDF2-ABE4-4D69-B44C-BA2CB075E734}"/>
              </a:ext>
            </a:extLst>
          </p:cNvPr>
          <p:cNvCxnSpPr/>
          <p:nvPr/>
        </p:nvCxnSpPr>
        <p:spPr>
          <a:xfrm>
            <a:off x="172873" y="5700013"/>
            <a:ext cx="1139371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50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743F0FE-989B-4D82-A4A4-0EB297A0E75E}"/>
              </a:ext>
            </a:extLst>
          </p:cNvPr>
          <p:cNvGrpSpPr/>
          <p:nvPr/>
        </p:nvGrpSpPr>
        <p:grpSpPr>
          <a:xfrm>
            <a:off x="1913419" y="1738575"/>
            <a:ext cx="2504661" cy="4002159"/>
            <a:chOff x="1972969" y="3159873"/>
            <a:chExt cx="2504661" cy="400215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" name="图表 6">
                  <a:extLst>
                    <a:ext uri="{FF2B5EF4-FFF2-40B4-BE49-F238E27FC236}">
                      <a16:creationId xmlns:a16="http://schemas.microsoft.com/office/drawing/2014/main" id="{AF63F977-1272-4E21-8C8C-F8F84FC28BD5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81411777"/>
                    </p:ext>
                  </p:extLst>
                </p:nvPr>
              </p:nvGraphicFramePr>
              <p:xfrm>
                <a:off x="1972969" y="3159873"/>
                <a:ext cx="2504661" cy="400215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</mc:Choice>
          <mc:Fallback xmlns="">
            <p:graphicFrame>
              <p:nvGraphicFramePr>
                <p:cNvPr id="7" name="图表 6">
                  <a:extLst>
                    <a:ext uri="{FF2B5EF4-FFF2-40B4-BE49-F238E27FC236}">
                      <a16:creationId xmlns:a16="http://schemas.microsoft.com/office/drawing/2014/main" id="{AF63F977-1272-4E21-8C8C-F8F84FC28BD5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81411777"/>
                    </p:ext>
                  </p:extLst>
                </p:nvPr>
              </p:nvGraphicFramePr>
              <p:xfrm>
                <a:off x="1972969" y="3159873"/>
                <a:ext cx="2504661" cy="400215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1D1C665-B14A-4801-8048-72B826DCA739}"/>
                    </a:ext>
                  </a:extLst>
                </p:cNvPr>
                <p:cNvSpPr txBox="1"/>
                <p:nvPr/>
              </p:nvSpPr>
              <p:spPr>
                <a:xfrm>
                  <a:off x="2825122" y="3219690"/>
                  <a:ext cx="466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1D1C665-B14A-4801-8048-72B826DCA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122" y="3219690"/>
                  <a:ext cx="46621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ED3BB29-18FF-4210-B6C1-5A4AF1E1C36A}"/>
              </a:ext>
            </a:extLst>
          </p:cNvPr>
          <p:cNvGrpSpPr/>
          <p:nvPr/>
        </p:nvGrpSpPr>
        <p:grpSpPr>
          <a:xfrm>
            <a:off x="7648373" y="1983058"/>
            <a:ext cx="2504661" cy="4002159"/>
            <a:chOff x="5470398" y="1600200"/>
            <a:chExt cx="2504661" cy="400215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图表 10">
                  <a:extLst>
                    <a:ext uri="{FF2B5EF4-FFF2-40B4-BE49-F238E27FC236}">
                      <a16:creationId xmlns:a16="http://schemas.microsoft.com/office/drawing/2014/main" id="{C2021A5B-A96E-4405-ADDB-A87E2E9C0BA8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539690882"/>
                    </p:ext>
                  </p:extLst>
                </p:nvPr>
              </p:nvGraphicFramePr>
              <p:xfrm>
                <a:off x="5470398" y="1600200"/>
                <a:ext cx="2504661" cy="400215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</mc:Choice>
          <mc:Fallback xmlns="">
            <p:graphicFrame>
              <p:nvGraphicFramePr>
                <p:cNvPr id="11" name="图表 10">
                  <a:extLst>
                    <a:ext uri="{FF2B5EF4-FFF2-40B4-BE49-F238E27FC236}">
                      <a16:creationId xmlns:a16="http://schemas.microsoft.com/office/drawing/2014/main" id="{C2021A5B-A96E-4405-ADDB-A87E2E9C0BA8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539690882"/>
                    </p:ext>
                  </p:extLst>
                </p:nvPr>
              </p:nvGraphicFramePr>
              <p:xfrm>
                <a:off x="5470398" y="1600200"/>
                <a:ext cx="2504661" cy="400215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0CBE66D-79DE-4808-A2E5-3EB39FC4DE2A}"/>
                    </a:ext>
                  </a:extLst>
                </p:cNvPr>
                <p:cNvSpPr txBox="1"/>
                <p:nvPr/>
              </p:nvSpPr>
              <p:spPr>
                <a:xfrm>
                  <a:off x="6485743" y="1600200"/>
                  <a:ext cx="4335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0CBE66D-79DE-4808-A2E5-3EB39FC4D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5743" y="1600200"/>
                  <a:ext cx="43351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8926046-87AA-44FC-B178-7F211F5EA9B2}"/>
                  </a:ext>
                </a:extLst>
              </p:cNvPr>
              <p:cNvSpPr/>
              <p:nvPr/>
            </p:nvSpPr>
            <p:spPr>
              <a:xfrm>
                <a:off x="197941" y="414899"/>
                <a:ext cx="4220139" cy="80190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the user image profile vector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algn="ctr"/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S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,</a:t>
                </a:r>
                <a:r>
                  <a:rPr lang="en-US" altLang="zh-CN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,,,,,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8926046-87AA-44FC-B178-7F211F5EA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41" y="414899"/>
                <a:ext cx="4220139" cy="8019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0A235492-D96B-485F-AB8E-FD174D1636C4}"/>
              </a:ext>
            </a:extLst>
          </p:cNvPr>
          <p:cNvSpPr/>
          <p:nvPr/>
        </p:nvSpPr>
        <p:spPr>
          <a:xfrm>
            <a:off x="4543628" y="5800551"/>
            <a:ext cx="3114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ranking and filtering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00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5625E37-7049-4984-9542-F51ED550B712}"/>
              </a:ext>
            </a:extLst>
          </p:cNvPr>
          <p:cNvGrpSpPr/>
          <p:nvPr/>
        </p:nvGrpSpPr>
        <p:grpSpPr>
          <a:xfrm>
            <a:off x="373833" y="2296563"/>
            <a:ext cx="11818167" cy="4394526"/>
            <a:chOff x="613935" y="1236389"/>
            <a:chExt cx="11818167" cy="439452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0F2191D-459F-440C-B408-3D75704D5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014" y="1236389"/>
              <a:ext cx="952500" cy="952500"/>
            </a:xfrm>
            <a:prstGeom prst="rect">
              <a:avLst/>
            </a:prstGeom>
          </p:spPr>
        </p:pic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AA783986-572A-4D8F-B718-B14CC4B05926}"/>
                </a:ext>
              </a:extLst>
            </p:cNvPr>
            <p:cNvSpPr/>
            <p:nvPr/>
          </p:nvSpPr>
          <p:spPr>
            <a:xfrm>
              <a:off x="2102915" y="1786597"/>
              <a:ext cx="5062025" cy="38862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ABE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DC116BB-4FA4-4B30-8D43-1BD552D0F429}"/>
                </a:ext>
              </a:extLst>
            </p:cNvPr>
            <p:cNvSpPr txBox="1"/>
            <p:nvPr/>
          </p:nvSpPr>
          <p:spPr>
            <a:xfrm>
              <a:off x="3499953" y="1388278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SK</a:t>
              </a:r>
              <a:endParaRPr lang="zh-CN" altLang="en-US" dirty="0"/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D2E2BB1-4533-4A80-B8A9-46FA1F41D1D4}"/>
                </a:ext>
              </a:extLst>
            </p:cNvPr>
            <p:cNvGrpSpPr/>
            <p:nvPr/>
          </p:nvGrpSpPr>
          <p:grpSpPr>
            <a:xfrm>
              <a:off x="9741453" y="1388278"/>
              <a:ext cx="2690649" cy="3198761"/>
              <a:chOff x="4897526" y="848167"/>
              <a:chExt cx="1869178" cy="223266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97463F54-1434-41A2-A766-6CBA260A1B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58276" y="1389187"/>
                <a:ext cx="541020" cy="54102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0512BB9A-2397-4EAA-AE5A-85B34F716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4102" y="848167"/>
                <a:ext cx="541020" cy="541020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6AB7E43-5F84-4B57-894D-B823ED3AE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58276" y="2539807"/>
                <a:ext cx="541020" cy="541020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A19B17D-42BF-44B3-874C-EA22AB60A4AD}"/>
                  </a:ext>
                </a:extLst>
              </p:cNvPr>
              <p:cNvSpPr txBox="1"/>
              <p:nvPr/>
            </p:nvSpPr>
            <p:spPr>
              <a:xfrm rot="5400000">
                <a:off x="4920930" y="2095447"/>
                <a:ext cx="4764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/>
                  <a:t>…</a:t>
                </a:r>
                <a:endParaRPr lang="zh-CN" altLang="en-US" sz="2800" b="1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81CBCAE-9948-4FA2-ACBA-B3A83E564F9B}"/>
                  </a:ext>
                </a:extLst>
              </p:cNvPr>
              <p:cNvSpPr txBox="1"/>
              <p:nvPr/>
            </p:nvSpPr>
            <p:spPr>
              <a:xfrm>
                <a:off x="5549705" y="934011"/>
                <a:ext cx="9060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{family}</a:t>
                </a:r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F784411-3D93-4A29-9B49-0F13730CF158}"/>
                  </a:ext>
                </a:extLst>
              </p:cNvPr>
              <p:cNvSpPr txBox="1"/>
              <p:nvPr/>
            </p:nvSpPr>
            <p:spPr>
              <a:xfrm>
                <a:off x="5549704" y="1506363"/>
                <a:ext cx="1191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{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coworker</a:t>
                </a:r>
                <a:r>
                  <a:rPr lang="en-US" altLang="zh-CN" dirty="0"/>
                  <a:t>}</a:t>
                </a:r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23863B9-F207-4E88-9F1A-22E35EA0CECE}"/>
                  </a:ext>
                </a:extLst>
              </p:cNvPr>
              <p:cNvSpPr txBox="1"/>
              <p:nvPr/>
            </p:nvSpPr>
            <p:spPr>
              <a:xfrm>
                <a:off x="5549704" y="2625651"/>
                <a:ext cx="1217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{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classmate</a:t>
                </a:r>
                <a:r>
                  <a:rPr lang="en-US" altLang="zh-CN" dirty="0"/>
                  <a:t>}</a:t>
                </a:r>
                <a:endParaRPr lang="zh-CN" altLang="en-US" dirty="0"/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C260B34-E138-4F19-99DF-BE4CC02A8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733" y="4288274"/>
              <a:ext cx="807134" cy="807134"/>
            </a:xfrm>
            <a:prstGeom prst="rect">
              <a:avLst/>
            </a:prstGeom>
          </p:spPr>
        </p:pic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EAAE13D7-B457-40F9-BBAE-CA7A04BB9227}"/>
                </a:ext>
              </a:extLst>
            </p:cNvPr>
            <p:cNvSpPr/>
            <p:nvPr/>
          </p:nvSpPr>
          <p:spPr>
            <a:xfrm>
              <a:off x="1285522" y="2571164"/>
              <a:ext cx="323557" cy="159287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AES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34DF172-A617-49A9-B820-CB10C5C55592}"/>
                </a:ext>
              </a:extLst>
            </p:cNvPr>
            <p:cNvSpPr txBox="1"/>
            <p:nvPr/>
          </p:nvSpPr>
          <p:spPr>
            <a:xfrm>
              <a:off x="613935" y="3244334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R-key</a:t>
              </a:r>
              <a:endParaRPr lang="zh-CN" altLang="en-US" dirty="0"/>
            </a:p>
          </p:txBody>
        </p:sp>
        <p:sp>
          <p:nvSpPr>
            <p:cNvPr id="28" name="箭头: 右 27">
              <a:extLst>
                <a:ext uri="{FF2B5EF4-FFF2-40B4-BE49-F238E27FC236}">
                  <a16:creationId xmlns:a16="http://schemas.microsoft.com/office/drawing/2014/main" id="{CD38BDF9-840D-4C72-88A3-B6DF16A5BE79}"/>
                </a:ext>
              </a:extLst>
            </p:cNvPr>
            <p:cNvSpPr/>
            <p:nvPr/>
          </p:nvSpPr>
          <p:spPr>
            <a:xfrm>
              <a:off x="1945709" y="4532360"/>
              <a:ext cx="3027300" cy="31896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ABE</a:t>
              </a:r>
              <a:endParaRPr lang="zh-CN" altLang="en-US" dirty="0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B665BA2A-DC78-48FB-A50B-1F13EC512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225" y="3613666"/>
              <a:ext cx="347293" cy="347293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2063BAC-9629-4BF8-93C1-59853CBC3E33}"/>
                </a:ext>
              </a:extLst>
            </p:cNvPr>
            <p:cNvSpPr txBox="1"/>
            <p:nvPr/>
          </p:nvSpPr>
          <p:spPr>
            <a:xfrm>
              <a:off x="3180690" y="4215279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PK</a:t>
              </a:r>
              <a:endParaRPr lang="zh-CN" altLang="en-US" dirty="0"/>
            </a:p>
          </p:txBody>
        </p: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2A3CEF70-5C68-43A4-892C-36BF155BF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5738" y="1403224"/>
              <a:ext cx="385665" cy="385665"/>
            </a:xfrm>
            <a:prstGeom prst="rect">
              <a:avLst/>
            </a:prstGeom>
          </p:spPr>
        </p:pic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E2D22812-323E-4FE1-A5C8-E784901C7119}"/>
                </a:ext>
              </a:extLst>
            </p:cNvPr>
            <p:cNvGrpSpPr/>
            <p:nvPr/>
          </p:nvGrpSpPr>
          <p:grpSpPr>
            <a:xfrm>
              <a:off x="5364489" y="3696606"/>
              <a:ext cx="924667" cy="1934309"/>
              <a:chOff x="4574629" y="3777174"/>
              <a:chExt cx="924667" cy="1934309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7B4C54EA-1CA7-4F80-BFC7-2DE20AB0196F}"/>
                  </a:ext>
                </a:extLst>
              </p:cNvPr>
              <p:cNvSpPr/>
              <p:nvPr/>
            </p:nvSpPr>
            <p:spPr>
              <a:xfrm>
                <a:off x="4574629" y="3777174"/>
                <a:ext cx="924667" cy="193430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BFB4600C-B1ED-4BA3-B9E8-2CCB89787F03}"/>
                  </a:ext>
                </a:extLst>
              </p:cNvPr>
              <p:cNvGrpSpPr/>
              <p:nvPr/>
            </p:nvGrpSpPr>
            <p:grpSpPr>
              <a:xfrm>
                <a:off x="4595030" y="3896137"/>
                <a:ext cx="824657" cy="816191"/>
                <a:chOff x="4579435" y="4279217"/>
                <a:chExt cx="824657" cy="816191"/>
              </a:xfrm>
            </p:grpSpPr>
            <p:pic>
              <p:nvPicPr>
                <p:cNvPr id="25" name="图片 24">
                  <a:extLst>
                    <a:ext uri="{FF2B5EF4-FFF2-40B4-BE49-F238E27FC236}">
                      <a16:creationId xmlns:a16="http://schemas.microsoft.com/office/drawing/2014/main" id="{9E056DDE-A3FB-4257-AD09-EE31DC8BE9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79435" y="4279217"/>
                  <a:ext cx="807134" cy="807134"/>
                </a:xfrm>
                <a:prstGeom prst="rect">
                  <a:avLst/>
                </a:prstGeom>
              </p:spPr>
            </p:pic>
            <p:pic>
              <p:nvPicPr>
                <p:cNvPr id="27" name="图片 26">
                  <a:extLst>
                    <a:ext uri="{FF2B5EF4-FFF2-40B4-BE49-F238E27FC236}">
                      <a16:creationId xmlns:a16="http://schemas.microsoft.com/office/drawing/2014/main" id="{DF2481B7-0E6E-4882-BAEB-6C433513F3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85131" y="4776447"/>
                  <a:ext cx="318961" cy="318961"/>
                </a:xfrm>
                <a:prstGeom prst="rect">
                  <a:avLst/>
                </a:prstGeom>
              </p:spPr>
            </p:pic>
          </p:grpSp>
          <p:pic>
            <p:nvPicPr>
              <p:cNvPr id="34" name="图片 33">
                <a:extLst>
                  <a:ext uri="{FF2B5EF4-FFF2-40B4-BE49-F238E27FC236}">
                    <a16:creationId xmlns:a16="http://schemas.microsoft.com/office/drawing/2014/main" id="{E8AEA971-130E-451C-8862-8E75A668D1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8596" y="5237335"/>
                <a:ext cx="318962" cy="318962"/>
              </a:xfrm>
              <a:prstGeom prst="rect">
                <a:avLst/>
              </a:prstGeom>
            </p:spPr>
          </p:pic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5B1A31D1-791B-4EA3-96FC-4BC5C0536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24950" y="5046757"/>
                <a:ext cx="347293" cy="347293"/>
              </a:xfrm>
              <a:prstGeom prst="rect">
                <a:avLst/>
              </a:prstGeom>
            </p:spPr>
          </p:pic>
        </p:grp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4BD0082D-CF71-43CA-A382-D99768DBE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202" y="4265649"/>
              <a:ext cx="318962" cy="318962"/>
            </a:xfrm>
            <a:prstGeom prst="rect">
              <a:avLst/>
            </a:prstGeom>
          </p:spPr>
        </p:pic>
        <p:sp>
          <p:nvSpPr>
            <p:cNvPr id="50" name="箭头: 右 49">
              <a:extLst>
                <a:ext uri="{FF2B5EF4-FFF2-40B4-BE49-F238E27FC236}">
                  <a16:creationId xmlns:a16="http://schemas.microsoft.com/office/drawing/2014/main" id="{D020B11A-57E4-4A95-9856-16520F403794}"/>
                </a:ext>
              </a:extLst>
            </p:cNvPr>
            <p:cNvSpPr/>
            <p:nvPr/>
          </p:nvSpPr>
          <p:spPr>
            <a:xfrm>
              <a:off x="6421819" y="4444159"/>
              <a:ext cx="1036985" cy="3570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4223F29-5B47-4FF1-B1A5-F50C6C0C336F}"/>
                </a:ext>
              </a:extLst>
            </p:cNvPr>
            <p:cNvSpPr txBox="1"/>
            <p:nvPr/>
          </p:nvSpPr>
          <p:spPr>
            <a:xfrm>
              <a:off x="1159113" y="2094742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User</a:t>
              </a:r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60A578A-D56B-4EC6-A2FC-E49C6995A106}"/>
                </a:ext>
              </a:extLst>
            </p:cNvPr>
            <p:cNvSpPr txBox="1"/>
            <p:nvPr/>
          </p:nvSpPr>
          <p:spPr>
            <a:xfrm>
              <a:off x="8155969" y="2801779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friends</a:t>
              </a:r>
              <a:endParaRPr lang="zh-CN" altLang="en-US" dirty="0"/>
            </a:p>
          </p:txBody>
        </p:sp>
        <p:sp>
          <p:nvSpPr>
            <p:cNvPr id="53" name="右大括号 52">
              <a:extLst>
                <a:ext uri="{FF2B5EF4-FFF2-40B4-BE49-F238E27FC236}">
                  <a16:creationId xmlns:a16="http://schemas.microsoft.com/office/drawing/2014/main" id="{FE15C859-C057-45F5-BF93-0BBC8B419C82}"/>
                </a:ext>
              </a:extLst>
            </p:cNvPr>
            <p:cNvSpPr/>
            <p:nvPr/>
          </p:nvSpPr>
          <p:spPr>
            <a:xfrm flipH="1">
              <a:off x="9206111" y="1388278"/>
              <a:ext cx="630302" cy="3196334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2BE27AEE-D5A9-4108-B448-05280919F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1906" y="4776447"/>
              <a:ext cx="318961" cy="318961"/>
            </a:xfrm>
            <a:prstGeom prst="rect">
              <a:avLst/>
            </a:prstGeom>
          </p:spPr>
        </p:pic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D80FFB3-A00C-48F9-8375-91AD59C29320}"/>
              </a:ext>
            </a:extLst>
          </p:cNvPr>
          <p:cNvCxnSpPr/>
          <p:nvPr/>
        </p:nvCxnSpPr>
        <p:spPr>
          <a:xfrm>
            <a:off x="272587" y="2035786"/>
            <a:ext cx="1139371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36120625-6150-41ED-A497-3688EF0F0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26" y="1683069"/>
            <a:ext cx="4733333" cy="276190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98B12653-CFC6-424E-B3C2-57C8D1938376}"/>
              </a:ext>
            </a:extLst>
          </p:cNvPr>
          <p:cNvSpPr/>
          <p:nvPr/>
        </p:nvSpPr>
        <p:spPr>
          <a:xfrm>
            <a:off x="1610765" y="571600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76D0C75-3A44-47E5-BE7B-B576FD1E8B16}"/>
              </a:ext>
            </a:extLst>
          </p:cNvPr>
          <p:cNvSpPr/>
          <p:nvPr/>
        </p:nvSpPr>
        <p:spPr>
          <a:xfrm>
            <a:off x="8956922" y="571600"/>
            <a:ext cx="644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2C9E0042-98AC-41CC-A416-710F8D777597}"/>
              </a:ext>
            </a:extLst>
          </p:cNvPr>
          <p:cNvSpPr/>
          <p:nvPr/>
        </p:nvSpPr>
        <p:spPr>
          <a:xfrm>
            <a:off x="3235079" y="599094"/>
            <a:ext cx="5300883" cy="308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0B496FC-5C60-4AB6-85F2-B11E535A0C51}"/>
              </a:ext>
            </a:extLst>
          </p:cNvPr>
          <p:cNvSpPr txBox="1"/>
          <p:nvPr/>
        </p:nvSpPr>
        <p:spPr>
          <a:xfrm>
            <a:off x="5707835" y="187328"/>
            <a:ext cx="115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I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563CD56-1EE2-42CD-A1B4-69009734FED3}"/>
                  </a:ext>
                </a:extLst>
              </p:cNvPr>
              <p:cNvSpPr/>
              <p:nvPr/>
            </p:nvSpPr>
            <p:spPr>
              <a:xfrm>
                <a:off x="4571347" y="156029"/>
                <a:ext cx="8033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563CD56-1EE2-42CD-A1B4-69009734FE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347" y="156029"/>
                <a:ext cx="803361" cy="461665"/>
              </a:xfrm>
              <a:prstGeom prst="rect">
                <a:avLst/>
              </a:prstGeom>
              <a:blipFill>
                <a:blip r:embed="rId9"/>
                <a:stretch>
                  <a:fillRect l="-1515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箭头: 右 47">
            <a:extLst>
              <a:ext uri="{FF2B5EF4-FFF2-40B4-BE49-F238E27FC236}">
                <a16:creationId xmlns:a16="http://schemas.microsoft.com/office/drawing/2014/main" id="{61A26AE6-9001-4138-BB6B-8CF5206E233A}"/>
              </a:ext>
            </a:extLst>
          </p:cNvPr>
          <p:cNvSpPr/>
          <p:nvPr/>
        </p:nvSpPr>
        <p:spPr>
          <a:xfrm rot="10800000">
            <a:off x="3216874" y="937996"/>
            <a:ext cx="5300883" cy="308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7CE67C7-4E7D-4C61-8CC4-31D62E47E949}"/>
              </a:ext>
            </a:extLst>
          </p:cNvPr>
          <p:cNvSpPr txBox="1"/>
          <p:nvPr/>
        </p:nvSpPr>
        <p:spPr>
          <a:xfrm>
            <a:off x="5598958" y="1187973"/>
            <a:ext cx="452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0FCD13C5-58E2-411B-865E-F37343E8A39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491" y="1430032"/>
            <a:ext cx="288509" cy="288509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9450C93B-BD30-414B-BE2A-3F665E9BC619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750" y="443003"/>
            <a:ext cx="288509" cy="288509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F86EFBB4-ECEF-440C-9EA4-566BD3C4013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050" y="390561"/>
            <a:ext cx="288509" cy="28850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41B61FD-9B68-4481-9A33-B22C093D3B4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765" y="1099670"/>
            <a:ext cx="460895" cy="46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9DEA2EB-4EB3-4CD3-A0CF-23FFA3A2F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313" y="154464"/>
            <a:ext cx="9694005" cy="589308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26632A9-ECB2-4B8F-95A4-A3620656F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5208">
            <a:off x="23903" y="2822714"/>
            <a:ext cx="2321202" cy="488674"/>
          </a:xfrm>
          <a:prstGeom prst="rect">
            <a:avLst/>
          </a:prstGeom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8B84367-040A-4921-9597-4AF1CC4931F3}"/>
              </a:ext>
            </a:extLst>
          </p:cNvPr>
          <p:cNvSpPr/>
          <p:nvPr/>
        </p:nvSpPr>
        <p:spPr>
          <a:xfrm>
            <a:off x="92765" y="2517913"/>
            <a:ext cx="2107096" cy="1166191"/>
          </a:xfrm>
          <a:custGeom>
            <a:avLst/>
            <a:gdLst>
              <a:gd name="connsiteX0" fmla="*/ 371061 w 2107096"/>
              <a:gd name="connsiteY0" fmla="*/ 477078 h 1166191"/>
              <a:gd name="connsiteX1" fmla="*/ 212035 w 2107096"/>
              <a:gd name="connsiteY1" fmla="*/ 516835 h 1166191"/>
              <a:gd name="connsiteX2" fmla="*/ 119270 w 2107096"/>
              <a:gd name="connsiteY2" fmla="*/ 556591 h 1166191"/>
              <a:gd name="connsiteX3" fmla="*/ 92765 w 2107096"/>
              <a:gd name="connsiteY3" fmla="*/ 583096 h 1166191"/>
              <a:gd name="connsiteX4" fmla="*/ 53009 w 2107096"/>
              <a:gd name="connsiteY4" fmla="*/ 609600 h 1166191"/>
              <a:gd name="connsiteX5" fmla="*/ 39757 w 2107096"/>
              <a:gd name="connsiteY5" fmla="*/ 649357 h 1166191"/>
              <a:gd name="connsiteX6" fmla="*/ 13252 w 2107096"/>
              <a:gd name="connsiteY6" fmla="*/ 689113 h 1166191"/>
              <a:gd name="connsiteX7" fmla="*/ 0 w 2107096"/>
              <a:gd name="connsiteY7" fmla="*/ 768626 h 1166191"/>
              <a:gd name="connsiteX8" fmla="*/ 26505 w 2107096"/>
              <a:gd name="connsiteY8" fmla="*/ 967409 h 1166191"/>
              <a:gd name="connsiteX9" fmla="*/ 53009 w 2107096"/>
              <a:gd name="connsiteY9" fmla="*/ 1007165 h 1166191"/>
              <a:gd name="connsiteX10" fmla="*/ 132522 w 2107096"/>
              <a:gd name="connsiteY10" fmla="*/ 1046922 h 1166191"/>
              <a:gd name="connsiteX11" fmla="*/ 225287 w 2107096"/>
              <a:gd name="connsiteY11" fmla="*/ 1086678 h 1166191"/>
              <a:gd name="connsiteX12" fmla="*/ 278296 w 2107096"/>
              <a:gd name="connsiteY12" fmla="*/ 1113183 h 1166191"/>
              <a:gd name="connsiteX13" fmla="*/ 410818 w 2107096"/>
              <a:gd name="connsiteY13" fmla="*/ 1152939 h 1166191"/>
              <a:gd name="connsiteX14" fmla="*/ 503583 w 2107096"/>
              <a:gd name="connsiteY14" fmla="*/ 1166191 h 1166191"/>
              <a:gd name="connsiteX15" fmla="*/ 808383 w 2107096"/>
              <a:gd name="connsiteY15" fmla="*/ 1152939 h 1166191"/>
              <a:gd name="connsiteX16" fmla="*/ 940905 w 2107096"/>
              <a:gd name="connsiteY16" fmla="*/ 1126435 h 1166191"/>
              <a:gd name="connsiteX17" fmla="*/ 1007165 w 2107096"/>
              <a:gd name="connsiteY17" fmla="*/ 1113183 h 1166191"/>
              <a:gd name="connsiteX18" fmla="*/ 1086678 w 2107096"/>
              <a:gd name="connsiteY18" fmla="*/ 1086678 h 1166191"/>
              <a:gd name="connsiteX19" fmla="*/ 1192696 w 2107096"/>
              <a:gd name="connsiteY19" fmla="*/ 1073426 h 1166191"/>
              <a:gd name="connsiteX20" fmla="*/ 1272209 w 2107096"/>
              <a:gd name="connsiteY20" fmla="*/ 1046922 h 1166191"/>
              <a:gd name="connsiteX21" fmla="*/ 1364974 w 2107096"/>
              <a:gd name="connsiteY21" fmla="*/ 1020417 h 1166191"/>
              <a:gd name="connsiteX22" fmla="*/ 1444487 w 2107096"/>
              <a:gd name="connsiteY22" fmla="*/ 967409 h 1166191"/>
              <a:gd name="connsiteX23" fmla="*/ 1510748 w 2107096"/>
              <a:gd name="connsiteY23" fmla="*/ 901148 h 1166191"/>
              <a:gd name="connsiteX24" fmla="*/ 1537252 w 2107096"/>
              <a:gd name="connsiteY24" fmla="*/ 848139 h 1166191"/>
              <a:gd name="connsiteX25" fmla="*/ 1563757 w 2107096"/>
              <a:gd name="connsiteY25" fmla="*/ 821635 h 1166191"/>
              <a:gd name="connsiteX26" fmla="*/ 1590261 w 2107096"/>
              <a:gd name="connsiteY26" fmla="*/ 781878 h 1166191"/>
              <a:gd name="connsiteX27" fmla="*/ 1643270 w 2107096"/>
              <a:gd name="connsiteY27" fmla="*/ 702365 h 1166191"/>
              <a:gd name="connsiteX28" fmla="*/ 1683026 w 2107096"/>
              <a:gd name="connsiteY28" fmla="*/ 689113 h 1166191"/>
              <a:gd name="connsiteX29" fmla="*/ 1749287 w 2107096"/>
              <a:gd name="connsiteY29" fmla="*/ 649357 h 1166191"/>
              <a:gd name="connsiteX30" fmla="*/ 1789044 w 2107096"/>
              <a:gd name="connsiteY30" fmla="*/ 622852 h 1166191"/>
              <a:gd name="connsiteX31" fmla="*/ 1842052 w 2107096"/>
              <a:gd name="connsiteY31" fmla="*/ 596348 h 1166191"/>
              <a:gd name="connsiteX32" fmla="*/ 1921565 w 2107096"/>
              <a:gd name="connsiteY32" fmla="*/ 543339 h 1166191"/>
              <a:gd name="connsiteX33" fmla="*/ 1961322 w 2107096"/>
              <a:gd name="connsiteY33" fmla="*/ 516835 h 1166191"/>
              <a:gd name="connsiteX34" fmla="*/ 2001078 w 2107096"/>
              <a:gd name="connsiteY34" fmla="*/ 503583 h 1166191"/>
              <a:gd name="connsiteX35" fmla="*/ 2040835 w 2107096"/>
              <a:gd name="connsiteY35" fmla="*/ 477078 h 1166191"/>
              <a:gd name="connsiteX36" fmla="*/ 2080592 w 2107096"/>
              <a:gd name="connsiteY36" fmla="*/ 384313 h 1166191"/>
              <a:gd name="connsiteX37" fmla="*/ 2107096 w 2107096"/>
              <a:gd name="connsiteY37" fmla="*/ 251791 h 1166191"/>
              <a:gd name="connsiteX38" fmla="*/ 2093844 w 2107096"/>
              <a:gd name="connsiteY38" fmla="*/ 79513 h 1166191"/>
              <a:gd name="connsiteX39" fmla="*/ 2054087 w 2107096"/>
              <a:gd name="connsiteY39" fmla="*/ 66261 h 1166191"/>
              <a:gd name="connsiteX40" fmla="*/ 2014331 w 2107096"/>
              <a:gd name="connsiteY40" fmla="*/ 26504 h 1166191"/>
              <a:gd name="connsiteX41" fmla="*/ 1961322 w 2107096"/>
              <a:gd name="connsiteY41" fmla="*/ 13252 h 1166191"/>
              <a:gd name="connsiteX42" fmla="*/ 1921565 w 2107096"/>
              <a:gd name="connsiteY42" fmla="*/ 0 h 1166191"/>
              <a:gd name="connsiteX43" fmla="*/ 1166192 w 2107096"/>
              <a:gd name="connsiteY43" fmla="*/ 13252 h 1166191"/>
              <a:gd name="connsiteX44" fmla="*/ 1046922 w 2107096"/>
              <a:gd name="connsiteY44" fmla="*/ 39757 h 1166191"/>
              <a:gd name="connsiteX45" fmla="*/ 1007165 w 2107096"/>
              <a:gd name="connsiteY45" fmla="*/ 53009 h 1166191"/>
              <a:gd name="connsiteX46" fmla="*/ 914400 w 2107096"/>
              <a:gd name="connsiteY46" fmla="*/ 66261 h 1166191"/>
              <a:gd name="connsiteX47" fmla="*/ 781878 w 2107096"/>
              <a:gd name="connsiteY47" fmla="*/ 92765 h 1166191"/>
              <a:gd name="connsiteX48" fmla="*/ 702365 w 2107096"/>
              <a:gd name="connsiteY48" fmla="*/ 119270 h 1166191"/>
              <a:gd name="connsiteX49" fmla="*/ 649357 w 2107096"/>
              <a:gd name="connsiteY49" fmla="*/ 132522 h 1166191"/>
              <a:gd name="connsiteX50" fmla="*/ 609600 w 2107096"/>
              <a:gd name="connsiteY50" fmla="*/ 159026 h 1166191"/>
              <a:gd name="connsiteX51" fmla="*/ 569844 w 2107096"/>
              <a:gd name="connsiteY51" fmla="*/ 172278 h 1166191"/>
              <a:gd name="connsiteX52" fmla="*/ 543339 w 2107096"/>
              <a:gd name="connsiteY52" fmla="*/ 198783 h 1166191"/>
              <a:gd name="connsiteX53" fmla="*/ 463826 w 2107096"/>
              <a:gd name="connsiteY53" fmla="*/ 238539 h 1166191"/>
              <a:gd name="connsiteX54" fmla="*/ 410818 w 2107096"/>
              <a:gd name="connsiteY54" fmla="*/ 304800 h 1166191"/>
              <a:gd name="connsiteX55" fmla="*/ 371061 w 2107096"/>
              <a:gd name="connsiteY55" fmla="*/ 331304 h 1166191"/>
              <a:gd name="connsiteX56" fmla="*/ 344557 w 2107096"/>
              <a:gd name="connsiteY56" fmla="*/ 357809 h 1166191"/>
              <a:gd name="connsiteX57" fmla="*/ 318052 w 2107096"/>
              <a:gd name="connsiteY57" fmla="*/ 437322 h 1166191"/>
              <a:gd name="connsiteX58" fmla="*/ 291548 w 2107096"/>
              <a:gd name="connsiteY58" fmla="*/ 556591 h 1166191"/>
              <a:gd name="connsiteX59" fmla="*/ 278296 w 2107096"/>
              <a:gd name="connsiteY59" fmla="*/ 689113 h 1166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107096" h="1166191">
                <a:moveTo>
                  <a:pt x="371061" y="477078"/>
                </a:moveTo>
                <a:cubicBezTo>
                  <a:pt x="263987" y="494924"/>
                  <a:pt x="317043" y="481832"/>
                  <a:pt x="212035" y="516835"/>
                </a:cubicBezTo>
                <a:cubicBezTo>
                  <a:pt x="176694" y="528615"/>
                  <a:pt x="152023" y="534755"/>
                  <a:pt x="119270" y="556591"/>
                </a:cubicBezTo>
                <a:cubicBezTo>
                  <a:pt x="108874" y="563522"/>
                  <a:pt x="102522" y="575291"/>
                  <a:pt x="92765" y="583096"/>
                </a:cubicBezTo>
                <a:cubicBezTo>
                  <a:pt x="80328" y="593045"/>
                  <a:pt x="66261" y="600765"/>
                  <a:pt x="53009" y="609600"/>
                </a:cubicBezTo>
                <a:cubicBezTo>
                  <a:pt x="48592" y="622852"/>
                  <a:pt x="46004" y="636863"/>
                  <a:pt x="39757" y="649357"/>
                </a:cubicBezTo>
                <a:cubicBezTo>
                  <a:pt x="32634" y="663603"/>
                  <a:pt x="18289" y="674003"/>
                  <a:pt x="13252" y="689113"/>
                </a:cubicBezTo>
                <a:cubicBezTo>
                  <a:pt x="4755" y="714604"/>
                  <a:pt x="4417" y="742122"/>
                  <a:pt x="0" y="768626"/>
                </a:cubicBezTo>
                <a:cubicBezTo>
                  <a:pt x="2962" y="804168"/>
                  <a:pt x="-563" y="913274"/>
                  <a:pt x="26505" y="967409"/>
                </a:cubicBezTo>
                <a:cubicBezTo>
                  <a:pt x="33628" y="981654"/>
                  <a:pt x="41747" y="995903"/>
                  <a:pt x="53009" y="1007165"/>
                </a:cubicBezTo>
                <a:cubicBezTo>
                  <a:pt x="78700" y="1032857"/>
                  <a:pt x="100185" y="1036143"/>
                  <a:pt x="132522" y="1046922"/>
                </a:cubicBezTo>
                <a:cubicBezTo>
                  <a:pt x="213091" y="1100635"/>
                  <a:pt x="127485" y="1050002"/>
                  <a:pt x="225287" y="1086678"/>
                </a:cubicBezTo>
                <a:cubicBezTo>
                  <a:pt x="243785" y="1093615"/>
                  <a:pt x="259954" y="1105846"/>
                  <a:pt x="278296" y="1113183"/>
                </a:cubicBezTo>
                <a:cubicBezTo>
                  <a:pt x="307110" y="1124709"/>
                  <a:pt x="375021" y="1146431"/>
                  <a:pt x="410818" y="1152939"/>
                </a:cubicBezTo>
                <a:cubicBezTo>
                  <a:pt x="441550" y="1158527"/>
                  <a:pt x="472661" y="1161774"/>
                  <a:pt x="503583" y="1166191"/>
                </a:cubicBezTo>
                <a:cubicBezTo>
                  <a:pt x="605183" y="1161774"/>
                  <a:pt x="707105" y="1162146"/>
                  <a:pt x="808383" y="1152939"/>
                </a:cubicBezTo>
                <a:cubicBezTo>
                  <a:pt x="853247" y="1148861"/>
                  <a:pt x="896731" y="1135270"/>
                  <a:pt x="940905" y="1126435"/>
                </a:cubicBezTo>
                <a:cubicBezTo>
                  <a:pt x="962992" y="1122018"/>
                  <a:pt x="985797" y="1120306"/>
                  <a:pt x="1007165" y="1113183"/>
                </a:cubicBezTo>
                <a:cubicBezTo>
                  <a:pt x="1033669" y="1104348"/>
                  <a:pt x="1058956" y="1090143"/>
                  <a:pt x="1086678" y="1086678"/>
                </a:cubicBezTo>
                <a:lnTo>
                  <a:pt x="1192696" y="1073426"/>
                </a:lnTo>
                <a:cubicBezTo>
                  <a:pt x="1219200" y="1064591"/>
                  <a:pt x="1245105" y="1053698"/>
                  <a:pt x="1272209" y="1046922"/>
                </a:cubicBezTo>
                <a:cubicBezTo>
                  <a:pt x="1284693" y="1043801"/>
                  <a:pt x="1349414" y="1029062"/>
                  <a:pt x="1364974" y="1020417"/>
                </a:cubicBezTo>
                <a:cubicBezTo>
                  <a:pt x="1392819" y="1004947"/>
                  <a:pt x="1421963" y="989933"/>
                  <a:pt x="1444487" y="967409"/>
                </a:cubicBezTo>
                <a:lnTo>
                  <a:pt x="1510748" y="901148"/>
                </a:lnTo>
                <a:cubicBezTo>
                  <a:pt x="1519583" y="883478"/>
                  <a:pt x="1526294" y="864576"/>
                  <a:pt x="1537252" y="848139"/>
                </a:cubicBezTo>
                <a:cubicBezTo>
                  <a:pt x="1544183" y="837743"/>
                  <a:pt x="1555952" y="831391"/>
                  <a:pt x="1563757" y="821635"/>
                </a:cubicBezTo>
                <a:cubicBezTo>
                  <a:pt x="1573707" y="809198"/>
                  <a:pt x="1582359" y="795707"/>
                  <a:pt x="1590261" y="781878"/>
                </a:cubicBezTo>
                <a:cubicBezTo>
                  <a:pt x="1607071" y="752460"/>
                  <a:pt x="1612462" y="720850"/>
                  <a:pt x="1643270" y="702365"/>
                </a:cubicBezTo>
                <a:cubicBezTo>
                  <a:pt x="1655248" y="695178"/>
                  <a:pt x="1669774" y="693530"/>
                  <a:pt x="1683026" y="689113"/>
                </a:cubicBezTo>
                <a:cubicBezTo>
                  <a:pt x="1734798" y="637343"/>
                  <a:pt x="1680473" y="683765"/>
                  <a:pt x="1749287" y="649357"/>
                </a:cubicBezTo>
                <a:cubicBezTo>
                  <a:pt x="1763533" y="642234"/>
                  <a:pt x="1775215" y="630754"/>
                  <a:pt x="1789044" y="622852"/>
                </a:cubicBezTo>
                <a:cubicBezTo>
                  <a:pt x="1806196" y="613051"/>
                  <a:pt x="1825112" y="606512"/>
                  <a:pt x="1842052" y="596348"/>
                </a:cubicBezTo>
                <a:cubicBezTo>
                  <a:pt x="1869367" y="579959"/>
                  <a:pt x="1895061" y="561009"/>
                  <a:pt x="1921565" y="543339"/>
                </a:cubicBezTo>
                <a:cubicBezTo>
                  <a:pt x="1934817" y="534504"/>
                  <a:pt x="1946212" y="521872"/>
                  <a:pt x="1961322" y="516835"/>
                </a:cubicBezTo>
                <a:lnTo>
                  <a:pt x="2001078" y="503583"/>
                </a:lnTo>
                <a:cubicBezTo>
                  <a:pt x="2014330" y="494748"/>
                  <a:pt x="2030639" y="489314"/>
                  <a:pt x="2040835" y="477078"/>
                </a:cubicBezTo>
                <a:cubicBezTo>
                  <a:pt x="2053488" y="461894"/>
                  <a:pt x="2075304" y="407229"/>
                  <a:pt x="2080592" y="384313"/>
                </a:cubicBezTo>
                <a:cubicBezTo>
                  <a:pt x="2090722" y="340418"/>
                  <a:pt x="2107096" y="251791"/>
                  <a:pt x="2107096" y="251791"/>
                </a:cubicBezTo>
                <a:cubicBezTo>
                  <a:pt x="2102679" y="194365"/>
                  <a:pt x="2109667" y="134893"/>
                  <a:pt x="2093844" y="79513"/>
                </a:cubicBezTo>
                <a:cubicBezTo>
                  <a:pt x="2090006" y="66081"/>
                  <a:pt x="2065710" y="74010"/>
                  <a:pt x="2054087" y="66261"/>
                </a:cubicBezTo>
                <a:cubicBezTo>
                  <a:pt x="2038493" y="55865"/>
                  <a:pt x="2030603" y="35802"/>
                  <a:pt x="2014331" y="26504"/>
                </a:cubicBezTo>
                <a:cubicBezTo>
                  <a:pt x="1998517" y="17468"/>
                  <a:pt x="1978835" y="18256"/>
                  <a:pt x="1961322" y="13252"/>
                </a:cubicBezTo>
                <a:cubicBezTo>
                  <a:pt x="1947890" y="9414"/>
                  <a:pt x="1934817" y="4417"/>
                  <a:pt x="1921565" y="0"/>
                </a:cubicBezTo>
                <a:lnTo>
                  <a:pt x="1166192" y="13252"/>
                </a:lnTo>
                <a:cubicBezTo>
                  <a:pt x="1150783" y="13749"/>
                  <a:pt x="1066221" y="34243"/>
                  <a:pt x="1046922" y="39757"/>
                </a:cubicBezTo>
                <a:cubicBezTo>
                  <a:pt x="1033490" y="43595"/>
                  <a:pt x="1020863" y="50269"/>
                  <a:pt x="1007165" y="53009"/>
                </a:cubicBezTo>
                <a:cubicBezTo>
                  <a:pt x="976536" y="59135"/>
                  <a:pt x="945322" y="61844"/>
                  <a:pt x="914400" y="66261"/>
                </a:cubicBezTo>
                <a:cubicBezTo>
                  <a:pt x="804148" y="103012"/>
                  <a:pt x="979846" y="47080"/>
                  <a:pt x="781878" y="92765"/>
                </a:cubicBezTo>
                <a:cubicBezTo>
                  <a:pt x="754655" y="99047"/>
                  <a:pt x="729469" y="112494"/>
                  <a:pt x="702365" y="119270"/>
                </a:cubicBezTo>
                <a:lnTo>
                  <a:pt x="649357" y="132522"/>
                </a:lnTo>
                <a:cubicBezTo>
                  <a:pt x="636105" y="141357"/>
                  <a:pt x="623846" y="151903"/>
                  <a:pt x="609600" y="159026"/>
                </a:cubicBezTo>
                <a:cubicBezTo>
                  <a:pt x="597106" y="165273"/>
                  <a:pt x="581822" y="165091"/>
                  <a:pt x="569844" y="172278"/>
                </a:cubicBezTo>
                <a:cubicBezTo>
                  <a:pt x="559130" y="178706"/>
                  <a:pt x="554053" y="192355"/>
                  <a:pt x="543339" y="198783"/>
                </a:cubicBezTo>
                <a:cubicBezTo>
                  <a:pt x="445362" y="257570"/>
                  <a:pt x="564361" y="158111"/>
                  <a:pt x="463826" y="238539"/>
                </a:cubicBezTo>
                <a:cubicBezTo>
                  <a:pt x="398256" y="290995"/>
                  <a:pt x="479695" y="235924"/>
                  <a:pt x="410818" y="304800"/>
                </a:cubicBezTo>
                <a:cubicBezTo>
                  <a:pt x="399556" y="316062"/>
                  <a:pt x="383498" y="321354"/>
                  <a:pt x="371061" y="331304"/>
                </a:cubicBezTo>
                <a:cubicBezTo>
                  <a:pt x="361305" y="339109"/>
                  <a:pt x="353392" y="348974"/>
                  <a:pt x="344557" y="357809"/>
                </a:cubicBezTo>
                <a:cubicBezTo>
                  <a:pt x="335722" y="384313"/>
                  <a:pt x="323531" y="409926"/>
                  <a:pt x="318052" y="437322"/>
                </a:cubicBezTo>
                <a:cubicBezTo>
                  <a:pt x="301228" y="521442"/>
                  <a:pt x="310263" y="481731"/>
                  <a:pt x="291548" y="556591"/>
                </a:cubicBezTo>
                <a:cubicBezTo>
                  <a:pt x="277200" y="671375"/>
                  <a:pt x="278296" y="626995"/>
                  <a:pt x="278296" y="689113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17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72139F-0254-42DE-A848-88BF442D5363}"/>
              </a:ext>
            </a:extLst>
          </p:cNvPr>
          <p:cNvSpPr txBox="1"/>
          <p:nvPr/>
        </p:nvSpPr>
        <p:spPr>
          <a:xfrm>
            <a:off x="5600511" y="342900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5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8318483-E0B7-4A65-810B-B69A3BD8F930}"/>
              </a:ext>
            </a:extLst>
          </p:cNvPr>
          <p:cNvSpPr/>
          <p:nvPr/>
        </p:nvSpPr>
        <p:spPr>
          <a:xfrm>
            <a:off x="0" y="1049945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user first generates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 private keys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her friends individually based on different attributes, e.g., family,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coworker,or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classmate. Those attributes can be derived from user’s existing access control policy. 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client uses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keys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the uploaded images via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 like AES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Meanwhile, the above image encryption keys are encrypted with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 public key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user. Only her friends with the proper ABE private keys can recover the image encryption key and decrypt the images. 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our system framework, each user can manage the friendship and mandate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access policies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encrypted images, which preserves the existing functions of social media applications.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27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2BD9931-613C-4A59-898B-AAE7CEDFC196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27669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probe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If the above l buckets are occupied, extra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buckets for each table are probed.  For 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1 to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if bucket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ƒ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||</m:t>
                    </m:r>
                    <m:r>
                      <m:rPr>
                        <m:nor/>
                      </m:rPr>
                      <a:rPr lang="el-GR" altLang="zh-CN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empty, then insert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ƒ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||</m:t>
                    </m:r>
                    <m:r>
                      <m:rPr>
                        <m:nor/>
                      </m:rPr>
                      <a:rPr lang="el-GR" altLang="zh-CN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Cuckoo kick-away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If no bucket is empty, randomly select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1 to l and kick away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located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ƒ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Then 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ƒ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re-insert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back via phases 1; 2; 3 iteratively.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2BD9931-613C-4A59-898B-AAE7CEDFC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2766911"/>
              </a:xfrm>
              <a:prstGeom prst="rect">
                <a:avLst/>
              </a:prstGeom>
              <a:blipFill>
                <a:blip r:embed="rId2"/>
                <a:stretch>
                  <a:fillRect l="-750" t="-1762" r="-850" b="-4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3DD96DAC-BDBC-48A0-A5DA-FF2D1A09A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766912"/>
            <a:ext cx="12192001" cy="364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CA3C067-6B08-4568-AE5E-396A8B704573}"/>
                  </a:ext>
                </a:extLst>
              </p:cNvPr>
              <p:cNvSpPr/>
              <p:nvPr/>
            </p:nvSpPr>
            <p:spPr>
              <a:xfrm>
                <a:off x="0" y="3138456"/>
                <a:ext cx="12192000" cy="38207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image profile set 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}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users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user metadata set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}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 users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includes l LSH values on the input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identifier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enables CS to locate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secret keys via  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GenKey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ƒ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l-GR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⨯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l-GR" altLang="zh-CN" sz="2400" i="1">
                        <a:latin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ɡ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l-GR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⨯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l-GR" altLang="zh-CN" sz="2400" i="1">
                        <a:latin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pseudo-random functions (PRF).</a:t>
                </a:r>
              </a:p>
              <a:p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Enc(k,·)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Dec(k,·)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symmetric key based encryption and decryption functions.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index load factor </a:t>
                </a:r>
                <a:r>
                  <a:rPr lang="el-GR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(0,1]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 / N</a:t>
                </a:r>
              </a:p>
              <a:p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size of index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</a:p>
              <a:p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CA3C067-6B08-4568-AE5E-396A8B704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38456"/>
                <a:ext cx="12192000" cy="3820790"/>
              </a:xfrm>
              <a:prstGeom prst="rect">
                <a:avLst/>
              </a:prstGeom>
              <a:blipFill>
                <a:blip r:embed="rId2"/>
                <a:stretch>
                  <a:fillRect l="-750" t="-1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FBD0F6C3-18BA-4157-B75D-2F330849A140}"/>
              </a:ext>
            </a:extLst>
          </p:cNvPr>
          <p:cNvSpPr/>
          <p:nvPr/>
        </p:nvSpPr>
        <p:spPr>
          <a:xfrm>
            <a:off x="0" y="835461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Index initialization: </a:t>
            </a:r>
            <a:r>
              <a:rPr lang="en-US" altLang="zh-CN" sz="2400" dirty="0">
                <a:solidFill>
                  <a:srgbClr val="231F20"/>
                </a:solidFill>
                <a:latin typeface="AdvP1854"/>
              </a:rPr>
              <a:t>Set the index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factor </a:t>
            </a:r>
            <a:r>
              <a:rPr lang="el-GR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(0,1]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 / N,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size of index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Then create l hash tables.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table T contains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「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ｌ buckets, each bucket is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-bit length. Set  the random probe range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table.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105494-9182-4950-A68B-6404DC0051A2}"/>
              </a:ext>
            </a:extLst>
          </p:cNvPr>
          <p:cNvSpPr/>
          <p:nvPr/>
        </p:nvSpPr>
        <p:spPr>
          <a:xfrm>
            <a:off x="0" y="0"/>
            <a:ext cx="2159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phase:</a:t>
            </a:r>
          </a:p>
        </p:txBody>
      </p:sp>
    </p:spTree>
    <p:extLst>
      <p:ext uri="{BB962C8B-B14F-4D97-AF65-F5344CB8AC3E}">
        <p14:creationId xmlns:p14="http://schemas.microsoft.com/office/powerpoint/2010/main" val="312577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01D579-FB14-417E-9652-28D3C59C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66" y="138758"/>
            <a:ext cx="5653048" cy="67192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E8A1136-586D-4494-8012-8C750956E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214" y="1"/>
            <a:ext cx="4815330" cy="29964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400EE0E-C0A8-4DE0-BA8A-F154108D3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214" y="2975153"/>
            <a:ext cx="5172867" cy="386158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9B3CB3E-EFF4-4ABE-BF05-55F0E2715B10}"/>
              </a:ext>
            </a:extLst>
          </p:cNvPr>
          <p:cNvSpPr/>
          <p:nvPr/>
        </p:nvSpPr>
        <p:spPr>
          <a:xfrm>
            <a:off x="0" y="0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5FC0C8-692A-488F-8976-C8508EC33D49}"/>
              </a:ext>
            </a:extLst>
          </p:cNvPr>
          <p:cNvSpPr txBox="1"/>
          <p:nvPr/>
        </p:nvSpPr>
        <p:spPr>
          <a:xfrm>
            <a:off x="5148775" y="2869809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194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3498</TotalTime>
  <Words>1059</Words>
  <Application>Microsoft Office PowerPoint</Application>
  <PresentationFormat>宽屏</PresentationFormat>
  <Paragraphs>574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AdvP1491</vt:lpstr>
      <vt:lpstr>AdvP1854</vt:lpstr>
      <vt:lpstr>AdvP4C4E51</vt:lpstr>
      <vt:lpstr>等线</vt:lpstr>
      <vt:lpstr>等线 Light</vt:lpstr>
      <vt:lpstr>宋体</vt:lpstr>
      <vt:lpstr>Arial</vt:lpstr>
      <vt:lpstr>Cambria Math</vt:lpstr>
      <vt:lpstr>Times New Roman</vt:lpstr>
      <vt:lpstr>Wingdings</vt:lpstr>
      <vt:lpstr>Office 主题​​</vt:lpstr>
      <vt:lpstr>Towards Privacy-Preserving and PracticaL Image-Centric SociaL Discovery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Privacy-Preserving and PracticaL Image-Centric SociaL Discovery</dc:title>
  <dc:creator>xiaofzj@163.com</dc:creator>
  <cp:lastModifiedBy>Joe</cp:lastModifiedBy>
  <cp:revision>257</cp:revision>
  <dcterms:created xsi:type="dcterms:W3CDTF">2019-03-12T01:37:14Z</dcterms:created>
  <dcterms:modified xsi:type="dcterms:W3CDTF">2019-05-08T01:09:05Z</dcterms:modified>
</cp:coreProperties>
</file>