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3" r:id="rId6"/>
    <p:sldId id="266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3" r:id="rId15"/>
    <p:sldId id="284" r:id="rId16"/>
    <p:sldId id="285" r:id="rId17"/>
    <p:sldId id="267" r:id="rId18"/>
    <p:sldId id="256" r:id="rId19"/>
    <p:sldId id="280" r:id="rId20"/>
    <p:sldId id="269" r:id="rId21"/>
    <p:sldId id="281" r:id="rId22"/>
    <p:sldId id="271" r:id="rId23"/>
    <p:sldId id="282" r:id="rId24"/>
    <p:sldId id="286" r:id="rId25"/>
    <p:sldId id="287" r:id="rId26"/>
    <p:sldId id="288" r:id="rId27"/>
    <p:sldId id="28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10" autoAdjust="0"/>
  </p:normalViewPr>
  <p:slideViewPr>
    <p:cSldViewPr snapToGrid="0">
      <p:cViewPr varScale="1">
        <p:scale>
          <a:sx n="110" d="100"/>
          <a:sy n="110" d="100"/>
        </p:scale>
        <p:origin x="5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6079466219345792"/>
          <c:y val="0.113207568193353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 ratio</c:v>
                </c:pt>
              </c:strCache>
            </c:strRef>
          </c:tx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2674-42B6-9637-112D940D415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2674-42B6-9637-112D940D4158}"/>
              </c:ext>
            </c:extLst>
          </c:dPt>
          <c:cat>
            <c:strRef>
              <c:f>Sheet1!$A$2:$A$3</c:f>
              <c:strCache>
                <c:ptCount val="2"/>
                <c:pt idx="0">
                  <c:v>AD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74-42B6-9637-112D940D41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6079466219345792"/>
          <c:y val="0.113207568193353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 ratio</c:v>
                </c:pt>
              </c:strCache>
            </c:strRef>
          </c:tx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6C2-4CFD-8DE3-DBB9FD21342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6C2-4CFD-8DE3-DBB9FD213424}"/>
              </c:ext>
            </c:extLst>
          </c:dPt>
          <c:cat>
            <c:strRef>
              <c:f>Sheet1!$A$2:$A$3</c:f>
              <c:strCache>
                <c:ptCount val="2"/>
                <c:pt idx="0">
                  <c:v>AD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6C2-4CFD-8DE3-DBB9FD213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6079466219345792"/>
          <c:y val="0.113207568193353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 ratio</c:v>
                </c:pt>
              </c:strCache>
            </c:strRef>
          </c:tx>
          <c:dPt>
            <c:idx val="0"/>
            <c:bubble3D val="0"/>
            <c:spPr>
              <a:solidFill>
                <a:srgbClr val="FFFF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32F-4B1B-B590-FDE74632B45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32F-4B1B-B590-FDE74632B453}"/>
              </c:ext>
            </c:extLst>
          </c:dPt>
          <c:cat>
            <c:strRef>
              <c:f>Sheet1!$A$2:$A$3</c:f>
              <c:strCache>
                <c:ptCount val="2"/>
                <c:pt idx="0">
                  <c:v>AD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2F-4B1B-B590-FDE74632B4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312DB-0795-4F63-A766-E7160DA77342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C9EF8-E5FA-4827-8BB2-37951021BC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54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8C9EF8-E5FA-4827-8BB2-37951021BCC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95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59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37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264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79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25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01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8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25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9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33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9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9B5A3-3DBD-46F1-9B58-20624C72FE56}" type="datetimeFigureOut">
              <a:rPr lang="zh-CN" altLang="en-US" smtClean="0"/>
              <a:t>2019/6/18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EC6EB-7859-43D2-ACC6-4DA589F413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9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40.png"/><Relationship Id="rId21" Type="http://schemas.openxmlformats.org/officeDocument/2006/relationships/image" Target="../media/image43.png"/><Relationship Id="rId17" Type="http://schemas.openxmlformats.org/officeDocument/2006/relationships/image" Target="../media/image39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9" Type="http://schemas.openxmlformats.org/officeDocument/2006/relationships/image" Target="../media/image4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2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12" Type="http://schemas.openxmlformats.org/officeDocument/2006/relationships/image" Target="../media/image25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image" Target="../media/image47.png"/><Relationship Id="rId5" Type="http://schemas.openxmlformats.org/officeDocument/2006/relationships/image" Target="../media/image390.png"/><Relationship Id="rId10" Type="http://schemas.openxmlformats.org/officeDocument/2006/relationships/image" Target="../media/image440.png"/><Relationship Id="rId4" Type="http://schemas.openxmlformats.org/officeDocument/2006/relationships/image" Target="../media/image380.png"/><Relationship Id="rId9" Type="http://schemas.openxmlformats.org/officeDocument/2006/relationships/image" Target="../media/image4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27.png"/><Relationship Id="rId7" Type="http://schemas.openxmlformats.org/officeDocument/2006/relationships/image" Target="../media/image4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9" y="1823721"/>
            <a:ext cx="9863090" cy="264978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0"/>
            <a:ext cx="37297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IACR Cryptology ePrint Archive, Volume 2018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76788" y="0"/>
            <a:ext cx="15311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>
                <a:latin typeface="Open Sans"/>
              </a:rPr>
              <a:t>Networking 2018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92910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6561223" y="849278"/>
            <a:ext cx="2951747" cy="19410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558690" y="1635160"/>
            <a:ext cx="184377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User information</a:t>
            </a:r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1705191" y="746065"/>
            <a:ext cx="1283369" cy="194109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AD Company</a:t>
            </a:r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>
            <a:off x="3267653" y="1878730"/>
            <a:ext cx="3152775" cy="11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3209925" y="1155707"/>
            <a:ext cx="3152775" cy="19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854400" y="746065"/>
            <a:ext cx="1843774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/>
              <a:t>User information</a:t>
            </a:r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6841095" y="2421041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Like:Facebook Wechat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3198504" y="2581197"/>
            <a:ext cx="3152775" cy="11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797" y="1215283"/>
            <a:ext cx="686158" cy="686158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115" y="2192319"/>
            <a:ext cx="412879" cy="412879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6699521" y="161859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Server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6" name="图表 45"/>
          <p:cNvGraphicFramePr/>
          <p:nvPr/>
        </p:nvGraphicFramePr>
        <p:xfrm>
          <a:off x="3735315" y="2421041"/>
          <a:ext cx="1997075" cy="1794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文本框 47"/>
          <p:cNvSpPr txBox="1"/>
          <p:nvPr/>
        </p:nvSpPr>
        <p:spPr>
          <a:xfrm>
            <a:off x="6841095" y="2421041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Like:Facebook Wechat</a:t>
            </a: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561222" y="4258972"/>
            <a:ext cx="2951747" cy="1941095"/>
            <a:chOff x="6561222" y="4258972"/>
            <a:chExt cx="2951747" cy="1941095"/>
          </a:xfrm>
        </p:grpSpPr>
        <p:sp>
          <p:nvSpPr>
            <p:cNvPr id="53" name="圆角矩形 52"/>
            <p:cNvSpPr/>
            <p:nvPr/>
          </p:nvSpPr>
          <p:spPr>
            <a:xfrm>
              <a:off x="6561222" y="4258972"/>
              <a:ext cx="2951747" cy="1941095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6928389" y="4854391"/>
              <a:ext cx="630301" cy="978659"/>
              <a:chOff x="7682165" y="4756666"/>
              <a:chExt cx="630301" cy="978659"/>
            </a:xfrm>
          </p:grpSpPr>
          <p:pic>
            <p:nvPicPr>
              <p:cNvPr id="56" name="图片 5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2165" y="4756666"/>
                <a:ext cx="595563" cy="595563"/>
              </a:xfrm>
              <a:prstGeom prst="rect">
                <a:avLst/>
              </a:prstGeom>
            </p:spPr>
          </p:pic>
          <p:sp>
            <p:nvSpPr>
              <p:cNvPr id="57" name="文本框 56"/>
              <p:cNvSpPr txBox="1"/>
              <p:nvPr/>
            </p:nvSpPr>
            <p:spPr>
              <a:xfrm>
                <a:off x="7682165" y="5365993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User</a:t>
                </a:r>
                <a:endParaRPr lang="zh-CN" altLang="en-US"/>
              </a:p>
            </p:txBody>
          </p:sp>
        </p:grpSp>
      </p:grpSp>
      <p:cxnSp>
        <p:nvCxnSpPr>
          <p:cNvPr id="59" name="直接箭头连接符 58"/>
          <p:cNvCxnSpPr/>
          <p:nvPr/>
        </p:nvCxnSpPr>
        <p:spPr>
          <a:xfrm flipV="1">
            <a:off x="7215447" y="2790373"/>
            <a:ext cx="0" cy="1468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8718018" y="2790373"/>
            <a:ext cx="0" cy="1468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505" y="3130012"/>
            <a:ext cx="686158" cy="686158"/>
          </a:xfrm>
          <a:prstGeom prst="rect">
            <a:avLst/>
          </a:prstGeom>
        </p:spPr>
      </p:pic>
      <p:sp>
        <p:nvSpPr>
          <p:cNvPr id="63" name="矩形 62"/>
          <p:cNvSpPr/>
          <p:nvPr/>
        </p:nvSpPr>
        <p:spPr>
          <a:xfrm>
            <a:off x="6547599" y="3287267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information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79427" y="55406"/>
            <a:ext cx="292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86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圆角矩形 42"/>
          <p:cNvSpPr/>
          <p:nvPr/>
        </p:nvSpPr>
        <p:spPr>
          <a:xfrm>
            <a:off x="6561223" y="849278"/>
            <a:ext cx="2951747" cy="19410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558690" y="1635160"/>
            <a:ext cx="1843774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/>
              <a:t>User information</a:t>
            </a:r>
            <a:endParaRPr lang="zh-CN" altLang="en-US"/>
          </a:p>
        </p:txBody>
      </p:sp>
      <p:sp>
        <p:nvSpPr>
          <p:cNvPr id="46" name="圆角矩形 45"/>
          <p:cNvSpPr/>
          <p:nvPr/>
        </p:nvSpPr>
        <p:spPr>
          <a:xfrm>
            <a:off x="1705191" y="746065"/>
            <a:ext cx="1283369" cy="194109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AD Company</a:t>
            </a:r>
            <a:endParaRPr lang="zh-CN" altLang="en-US"/>
          </a:p>
        </p:txBody>
      </p:sp>
      <p:cxnSp>
        <p:nvCxnSpPr>
          <p:cNvPr id="48" name="直接箭头连接符 47"/>
          <p:cNvCxnSpPr/>
          <p:nvPr/>
        </p:nvCxnSpPr>
        <p:spPr>
          <a:xfrm>
            <a:off x="3267653" y="1878730"/>
            <a:ext cx="3152775" cy="11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 flipV="1">
            <a:off x="3209925" y="1155707"/>
            <a:ext cx="3152775" cy="19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3854400" y="746065"/>
            <a:ext cx="1843774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CN"/>
              <a:t>User information</a:t>
            </a:r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636" y="1859840"/>
            <a:ext cx="473333" cy="473333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6841095" y="2421041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Like:Facebook Wechat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>
            <a:off x="3198504" y="2581197"/>
            <a:ext cx="3152775" cy="11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797" y="1215283"/>
            <a:ext cx="686158" cy="68615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115" y="2192319"/>
            <a:ext cx="412879" cy="412879"/>
          </a:xfrm>
          <a:prstGeom prst="rect">
            <a:avLst/>
          </a:prstGeom>
        </p:spPr>
      </p:pic>
      <p:grpSp>
        <p:nvGrpSpPr>
          <p:cNvPr id="59" name="组合 58"/>
          <p:cNvGrpSpPr/>
          <p:nvPr/>
        </p:nvGrpSpPr>
        <p:grpSpPr>
          <a:xfrm>
            <a:off x="6561222" y="4258972"/>
            <a:ext cx="2951747" cy="1941095"/>
            <a:chOff x="6561222" y="4258972"/>
            <a:chExt cx="2951747" cy="1941095"/>
          </a:xfrm>
        </p:grpSpPr>
        <p:sp>
          <p:nvSpPr>
            <p:cNvPr id="15" name="圆角矩形 14"/>
            <p:cNvSpPr/>
            <p:nvPr/>
          </p:nvSpPr>
          <p:spPr>
            <a:xfrm>
              <a:off x="6561222" y="4258972"/>
              <a:ext cx="2951747" cy="1941095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3136" y="5057121"/>
              <a:ext cx="474882" cy="474882"/>
            </a:xfrm>
            <a:prstGeom prst="rect">
              <a:avLst/>
            </a:prstGeom>
          </p:spPr>
        </p:pic>
        <p:grpSp>
          <p:nvGrpSpPr>
            <p:cNvPr id="13" name="组合 12"/>
            <p:cNvGrpSpPr/>
            <p:nvPr/>
          </p:nvGrpSpPr>
          <p:grpSpPr>
            <a:xfrm>
              <a:off x="6928389" y="4854391"/>
              <a:ext cx="630301" cy="978659"/>
              <a:chOff x="7682165" y="4756666"/>
              <a:chExt cx="630301" cy="978659"/>
            </a:xfrm>
          </p:grpSpPr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2165" y="4756666"/>
                <a:ext cx="595563" cy="595563"/>
              </a:xfrm>
              <a:prstGeom prst="rect">
                <a:avLst/>
              </a:prstGeom>
            </p:spPr>
          </p:pic>
          <p:sp>
            <p:nvSpPr>
              <p:cNvPr id="12" name="文本框 11"/>
              <p:cNvSpPr txBox="1"/>
              <p:nvPr/>
            </p:nvSpPr>
            <p:spPr>
              <a:xfrm>
                <a:off x="7682165" y="5365993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/>
                  <a:t>User</a:t>
                </a:r>
                <a:endParaRPr lang="zh-CN" altLang="en-US"/>
              </a:p>
            </p:txBody>
          </p:sp>
        </p:grp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125" y="979975"/>
            <a:ext cx="378021" cy="378021"/>
          </a:xfrm>
          <a:prstGeom prst="rect">
            <a:avLst/>
          </a:prstGeom>
        </p:spPr>
      </p:pic>
      <p:graphicFrame>
        <p:nvGraphicFramePr>
          <p:cNvPr id="26" name="图表 25"/>
          <p:cNvGraphicFramePr/>
          <p:nvPr/>
        </p:nvGraphicFramePr>
        <p:xfrm>
          <a:off x="3735315" y="2421041"/>
          <a:ext cx="1997075" cy="1794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8" name="直接箭头连接符 27"/>
          <p:cNvCxnSpPr>
            <a:stCxn id="15" idx="0"/>
            <a:endCxn id="29" idx="2"/>
          </p:cNvCxnSpPr>
          <p:nvPr/>
        </p:nvCxnSpPr>
        <p:spPr>
          <a:xfrm flipV="1">
            <a:off x="8037096" y="2790373"/>
            <a:ext cx="0" cy="1468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841095" y="2421041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Like:Facebook Wechat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653" y="2380309"/>
            <a:ext cx="378021" cy="378021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194" y="1683136"/>
            <a:ext cx="378021" cy="378021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6699521" y="161859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Server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79427" y="55406"/>
            <a:ext cx="3095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 system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17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图片 8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379" y="3182006"/>
            <a:ext cx="674745" cy="67474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824" y="3170593"/>
            <a:ext cx="659341" cy="659341"/>
          </a:xfrm>
          <a:prstGeom prst="rect">
            <a:avLst/>
          </a:prstGeom>
          <a:noFill/>
        </p:spPr>
      </p:pic>
      <p:sp>
        <p:nvSpPr>
          <p:cNvPr id="4" name="圆角矩形 3"/>
          <p:cNvSpPr/>
          <p:nvPr/>
        </p:nvSpPr>
        <p:spPr>
          <a:xfrm>
            <a:off x="6561223" y="849278"/>
            <a:ext cx="2951747" cy="19410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812766" y="1474475"/>
            <a:ext cx="133562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/>
              <a:t>Group </a:t>
            </a:r>
          </a:p>
          <a:p>
            <a:pPr algn="ctr"/>
            <a:r>
              <a:rPr lang="en-US" altLang="zh-CN"/>
              <a:t>information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705191" y="746065"/>
            <a:ext cx="1283369" cy="194109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AD Company</a:t>
            </a:r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>
            <a:off x="3267653" y="1878730"/>
            <a:ext cx="3152775" cy="11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3209925" y="1155707"/>
            <a:ext cx="3152775" cy="19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118501" y="480103"/>
            <a:ext cx="1335622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zh-CN"/>
              <a:t>Group </a:t>
            </a:r>
          </a:p>
          <a:p>
            <a:pPr algn="ctr"/>
            <a:r>
              <a:rPr lang="en-US" altLang="zh-CN"/>
              <a:t>information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841095" y="2421041"/>
            <a:ext cx="239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Like:Facebook Wechat</a:t>
            </a: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6140599" y="4261467"/>
            <a:ext cx="5060801" cy="1941095"/>
            <a:chOff x="6561222" y="3294698"/>
            <a:chExt cx="2951747" cy="1941095"/>
          </a:xfrm>
          <a:solidFill>
            <a:schemeClr val="bg2">
              <a:lumMod val="90000"/>
            </a:schemeClr>
          </a:solidFill>
        </p:grpSpPr>
        <p:sp>
          <p:nvSpPr>
            <p:cNvPr id="26" name="圆角矩形 25"/>
            <p:cNvSpPr/>
            <p:nvPr/>
          </p:nvSpPr>
          <p:spPr>
            <a:xfrm>
              <a:off x="6561222" y="3294698"/>
              <a:ext cx="2951747" cy="194109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599309" y="4049376"/>
              <a:ext cx="32461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</a:rPr>
                <a:t>PSP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37" name="直接箭头连接符 36"/>
          <p:cNvCxnSpPr/>
          <p:nvPr/>
        </p:nvCxnSpPr>
        <p:spPr>
          <a:xfrm>
            <a:off x="3198504" y="2581197"/>
            <a:ext cx="3152775" cy="11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115" y="2192319"/>
            <a:ext cx="412879" cy="412879"/>
          </a:xfrm>
          <a:prstGeom prst="rect">
            <a:avLst/>
          </a:prstGeom>
        </p:spPr>
      </p:pic>
      <p:graphicFrame>
        <p:nvGraphicFramePr>
          <p:cNvPr id="40" name="图表 39"/>
          <p:cNvGraphicFramePr/>
          <p:nvPr/>
        </p:nvGraphicFramePr>
        <p:xfrm>
          <a:off x="3735315" y="2421041"/>
          <a:ext cx="1997075" cy="1794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41" name="直接箭头连接符 40"/>
          <p:cNvCxnSpPr/>
          <p:nvPr/>
        </p:nvCxnSpPr>
        <p:spPr>
          <a:xfrm flipV="1">
            <a:off x="7215447" y="2790373"/>
            <a:ext cx="0" cy="1468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8718018" y="2790373"/>
            <a:ext cx="0" cy="1468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505" y="3130012"/>
            <a:ext cx="686158" cy="686158"/>
          </a:xfrm>
          <a:prstGeom prst="rect">
            <a:avLst/>
          </a:prstGeom>
        </p:spPr>
      </p:pic>
      <p:sp>
        <p:nvSpPr>
          <p:cNvPr id="44" name="矩形 43"/>
          <p:cNvSpPr/>
          <p:nvPr/>
        </p:nvSpPr>
        <p:spPr>
          <a:xfrm>
            <a:off x="5846173" y="3349541"/>
            <a:ext cx="13559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/>
              <a:t>Group </a:t>
            </a:r>
          </a:p>
          <a:p>
            <a:pPr algn="ctr"/>
            <a:r>
              <a:rPr lang="en-US" altLang="zh-CN"/>
              <a:t>information</a:t>
            </a:r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589962" y="4214078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information</a:t>
            </a:r>
            <a:endParaRPr lang="zh-CN" altLang="en-US"/>
          </a:p>
        </p:txBody>
      </p:sp>
      <p:grpSp>
        <p:nvGrpSpPr>
          <p:cNvPr id="66" name="组合 65"/>
          <p:cNvGrpSpPr/>
          <p:nvPr/>
        </p:nvGrpSpPr>
        <p:grpSpPr>
          <a:xfrm>
            <a:off x="6841095" y="4572937"/>
            <a:ext cx="3681310" cy="1331390"/>
            <a:chOff x="295259" y="4992944"/>
            <a:chExt cx="3681310" cy="1331390"/>
          </a:xfrm>
        </p:grpSpPr>
        <p:grpSp>
          <p:nvGrpSpPr>
            <p:cNvPr id="16" name="组合 15"/>
            <p:cNvGrpSpPr/>
            <p:nvPr/>
          </p:nvGrpSpPr>
          <p:grpSpPr>
            <a:xfrm>
              <a:off x="1346244" y="4992944"/>
              <a:ext cx="627095" cy="679665"/>
              <a:chOff x="7609013" y="4994105"/>
              <a:chExt cx="627095" cy="679665"/>
            </a:xfrm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2166" y="4994105"/>
                <a:ext cx="358124" cy="358124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7609013" y="5365993"/>
                <a:ext cx="6270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/>
                  <a:t>User1</a:t>
                </a:r>
                <a:endParaRPr lang="zh-CN" altLang="en-US" sz="1400"/>
              </a:p>
            </p:txBody>
          </p:sp>
        </p:grp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0229" y="4994573"/>
              <a:ext cx="358124" cy="358124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1947076" y="5366461"/>
              <a:ext cx="627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User3</a:t>
              </a:r>
              <a:endParaRPr lang="zh-CN" altLang="en-US" sz="1400"/>
            </a:p>
          </p:txBody>
        </p:sp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1719" y="4994573"/>
              <a:ext cx="358124" cy="358124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/>
          </p:nvSpPr>
          <p:spPr>
            <a:xfrm>
              <a:off x="3078566" y="5366461"/>
              <a:ext cx="8980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User N-1</a:t>
              </a:r>
              <a:endParaRPr lang="zh-CN" altLang="en-US" sz="140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2632497" y="5134688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…</a:t>
              </a:r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295259" y="5100123"/>
              <a:ext cx="1047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/>
                <a:t>Group 1:</a:t>
              </a:r>
              <a:endParaRPr lang="zh-CN" altLang="en-US"/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1346244" y="5643040"/>
              <a:ext cx="627095" cy="679665"/>
              <a:chOff x="7609013" y="4994105"/>
              <a:chExt cx="627095" cy="679665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2166" y="4994105"/>
                <a:ext cx="358124" cy="358124"/>
              </a:xfrm>
              <a:prstGeom prst="rect">
                <a:avLst/>
              </a:prstGeom>
            </p:spPr>
          </p:pic>
          <p:sp>
            <p:nvSpPr>
              <p:cNvPr id="59" name="文本框 58"/>
              <p:cNvSpPr txBox="1"/>
              <p:nvPr/>
            </p:nvSpPr>
            <p:spPr>
              <a:xfrm>
                <a:off x="7609013" y="5365993"/>
                <a:ext cx="6270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/>
                  <a:t>User6</a:t>
                </a:r>
                <a:endParaRPr lang="zh-CN" altLang="en-US" sz="1400"/>
              </a:p>
            </p:txBody>
          </p:sp>
        </p:grpSp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0229" y="5644669"/>
              <a:ext cx="358124" cy="358124"/>
            </a:xfrm>
            <a:prstGeom prst="rect">
              <a:avLst/>
            </a:prstGeom>
          </p:spPr>
        </p:pic>
        <p:sp>
          <p:nvSpPr>
            <p:cNvPr id="61" name="文本框 60"/>
            <p:cNvSpPr txBox="1"/>
            <p:nvPr/>
          </p:nvSpPr>
          <p:spPr>
            <a:xfrm>
              <a:off x="1947076" y="601655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User18</a:t>
              </a:r>
              <a:endParaRPr lang="zh-CN" altLang="en-US" sz="1400"/>
            </a:p>
          </p:txBody>
        </p:sp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51719" y="5644669"/>
              <a:ext cx="358124" cy="358124"/>
            </a:xfrm>
            <a:prstGeom prst="rect">
              <a:avLst/>
            </a:prstGeom>
          </p:spPr>
        </p:pic>
        <p:sp>
          <p:nvSpPr>
            <p:cNvPr id="63" name="文本框 62"/>
            <p:cNvSpPr txBox="1"/>
            <p:nvPr/>
          </p:nvSpPr>
          <p:spPr>
            <a:xfrm>
              <a:off x="3078566" y="6016557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User N</a:t>
              </a:r>
              <a:endParaRPr lang="zh-CN" altLang="en-US" sz="140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2632497" y="5784784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…</a:t>
              </a:r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295259" y="5750219"/>
              <a:ext cx="1047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/>
                <a:t>Group 2:</a:t>
              </a:r>
              <a:endParaRPr lang="zh-CN" altLang="en-US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1641183" y="4179532"/>
            <a:ext cx="734478" cy="719815"/>
            <a:chOff x="1601564" y="4764285"/>
            <a:chExt cx="734478" cy="719815"/>
          </a:xfrm>
        </p:grpSpPr>
        <p:sp>
          <p:nvSpPr>
            <p:cNvPr id="12" name="圆角矩形 11"/>
            <p:cNvSpPr/>
            <p:nvPr/>
          </p:nvSpPr>
          <p:spPr>
            <a:xfrm>
              <a:off x="1601564" y="4764285"/>
              <a:ext cx="727948" cy="70536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100" y="4804435"/>
              <a:ext cx="358124" cy="358124"/>
            </a:xfrm>
            <a:prstGeom prst="rect">
              <a:avLst/>
            </a:prstGeom>
          </p:spPr>
        </p:pic>
        <p:sp>
          <p:nvSpPr>
            <p:cNvPr id="69" name="文本框 68"/>
            <p:cNvSpPr txBox="1"/>
            <p:nvPr/>
          </p:nvSpPr>
          <p:spPr>
            <a:xfrm>
              <a:off x="1708947" y="5176323"/>
              <a:ext cx="627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User1</a:t>
              </a:r>
              <a:endParaRPr lang="zh-CN" altLang="en-US" sz="1400"/>
            </a:p>
          </p:txBody>
        </p:sp>
      </p:grpSp>
      <p:pic>
        <p:nvPicPr>
          <p:cNvPr id="70" name="图片 6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805" y="4492734"/>
            <a:ext cx="659341" cy="659341"/>
          </a:xfrm>
          <a:prstGeom prst="rect">
            <a:avLst/>
          </a:prstGeom>
          <a:noFill/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401" y="5200811"/>
            <a:ext cx="674745" cy="674745"/>
          </a:xfrm>
          <a:prstGeom prst="rect">
            <a:avLst/>
          </a:prstGeom>
        </p:spPr>
      </p:pic>
      <p:grpSp>
        <p:nvGrpSpPr>
          <p:cNvPr id="74" name="组合 73"/>
          <p:cNvGrpSpPr/>
          <p:nvPr/>
        </p:nvGrpSpPr>
        <p:grpSpPr>
          <a:xfrm>
            <a:off x="1640934" y="5111925"/>
            <a:ext cx="746759" cy="710671"/>
            <a:chOff x="1601564" y="4764285"/>
            <a:chExt cx="746759" cy="710671"/>
          </a:xfrm>
        </p:grpSpPr>
        <p:sp>
          <p:nvSpPr>
            <p:cNvPr id="75" name="圆角矩形 74"/>
            <p:cNvSpPr/>
            <p:nvPr/>
          </p:nvSpPr>
          <p:spPr>
            <a:xfrm>
              <a:off x="1601564" y="4764285"/>
              <a:ext cx="727948" cy="70536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6" name="图片 7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100" y="4804435"/>
              <a:ext cx="358124" cy="358124"/>
            </a:xfrm>
            <a:prstGeom prst="rect">
              <a:avLst/>
            </a:prstGeom>
          </p:spPr>
        </p:pic>
        <p:sp>
          <p:nvSpPr>
            <p:cNvPr id="77" name="文本框 76"/>
            <p:cNvSpPr txBox="1"/>
            <p:nvPr/>
          </p:nvSpPr>
          <p:spPr>
            <a:xfrm>
              <a:off x="1626651" y="5167179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/>
                <a:t>User18</a:t>
              </a:r>
              <a:endParaRPr lang="zh-CN" altLang="en-US" sz="1400"/>
            </a:p>
          </p:txBody>
        </p:sp>
      </p:grpSp>
      <p:sp>
        <p:nvSpPr>
          <p:cNvPr id="78" name="矩形 77"/>
          <p:cNvSpPr/>
          <p:nvPr/>
        </p:nvSpPr>
        <p:spPr>
          <a:xfrm>
            <a:off x="3584519" y="5028917"/>
            <a:ext cx="1335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information</a:t>
            </a:r>
            <a:endParaRPr lang="zh-CN" altLang="en-US"/>
          </a:p>
        </p:txBody>
      </p:sp>
      <p:cxnSp>
        <p:nvCxnSpPr>
          <p:cNvPr id="80" name="直接箭头连接符 79"/>
          <p:cNvCxnSpPr/>
          <p:nvPr/>
        </p:nvCxnSpPr>
        <p:spPr>
          <a:xfrm>
            <a:off x="2375661" y="4508472"/>
            <a:ext cx="37572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2390901" y="5337528"/>
            <a:ext cx="37572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endCxn id="69" idx="3"/>
          </p:cNvCxnSpPr>
          <p:nvPr/>
        </p:nvCxnSpPr>
        <p:spPr>
          <a:xfrm flipH="1" flipV="1">
            <a:off x="2375661" y="4745459"/>
            <a:ext cx="3772504" cy="6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H="1" flipV="1">
            <a:off x="2390901" y="5665955"/>
            <a:ext cx="3772504" cy="6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图片 8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205" y="4426169"/>
            <a:ext cx="659341" cy="659341"/>
          </a:xfrm>
          <a:prstGeom prst="rect">
            <a:avLst/>
          </a:prstGeom>
          <a:noFill/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801" y="5336414"/>
            <a:ext cx="674745" cy="674745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634" y="1257300"/>
            <a:ext cx="674745" cy="674745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79" y="1245887"/>
            <a:ext cx="659341" cy="659341"/>
          </a:xfrm>
          <a:prstGeom prst="rect">
            <a:avLst/>
          </a:prstGeom>
          <a:noFill/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120" y="1168695"/>
            <a:ext cx="686158" cy="686158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6699521" y="161859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Server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79427" y="55406"/>
            <a:ext cx="1889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Our PPAD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55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75" y="1170762"/>
            <a:ext cx="9557500" cy="44628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152400"/>
            <a:ext cx="3629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PPAD System Overview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9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2321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</a:t>
            </a:r>
          </a:p>
        </p:txBody>
      </p:sp>
      <p:sp>
        <p:nvSpPr>
          <p:cNvPr id="6" name="矩形 5"/>
          <p:cNvSpPr/>
          <p:nvPr/>
        </p:nvSpPr>
        <p:spPr>
          <a:xfrm>
            <a:off x="668355" y="1100765"/>
            <a:ext cx="86739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提出保护用户隐私的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PPAD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广告系统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，适用于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加密用户信息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的安全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OSN</a:t>
            </a:r>
            <a:r>
              <a: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8355" y="2109197"/>
            <a:ext cx="110646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与安全匹配要求用户和广告商永久或同时在线的现有解决方案相反，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PPAD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允许用户和广告商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在注册后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/>
              <a:t>则在下次它们出现在线时（或通过推送通知等）向相关用户显示广告。</a:t>
            </a:r>
          </a:p>
          <a:p>
            <a:endParaRPr lang="zh-CN" altLang="en-US" dirty="0">
              <a:solidFill>
                <a:prstClr val="black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073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09968" y="6013946"/>
            <a:ext cx="222817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Super Increasing Set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2657474" y="1535894"/>
            <a:ext cx="217714" cy="51380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大括号 6"/>
          <p:cNvSpPr/>
          <p:nvPr/>
        </p:nvSpPr>
        <p:spPr>
          <a:xfrm>
            <a:off x="7681573" y="1535894"/>
            <a:ext cx="261257" cy="5138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918731" y="1535894"/>
            <a:ext cx="4762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2,  5,  8,  17,  37,  70,  159,  301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下弧形箭头 10"/>
          <p:cNvSpPr/>
          <p:nvPr/>
        </p:nvSpPr>
        <p:spPr>
          <a:xfrm>
            <a:off x="3099616" y="2059114"/>
            <a:ext cx="472259" cy="2217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153644" y="216997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下弧形箭头 12"/>
          <p:cNvSpPr/>
          <p:nvPr/>
        </p:nvSpPr>
        <p:spPr>
          <a:xfrm>
            <a:off x="3434896" y="2532436"/>
            <a:ext cx="597767" cy="2217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88924" y="264329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下弧形箭头 14"/>
          <p:cNvSpPr/>
          <p:nvPr/>
        </p:nvSpPr>
        <p:spPr>
          <a:xfrm>
            <a:off x="3909513" y="3055655"/>
            <a:ext cx="681265" cy="2217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63541" y="31665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下弧形箭头 16"/>
          <p:cNvSpPr/>
          <p:nvPr/>
        </p:nvSpPr>
        <p:spPr>
          <a:xfrm>
            <a:off x="4254005" y="3578874"/>
            <a:ext cx="859791" cy="2217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12032" y="368973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69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下弧形箭头 18"/>
          <p:cNvSpPr/>
          <p:nvPr/>
        </p:nvSpPr>
        <p:spPr>
          <a:xfrm>
            <a:off x="4789582" y="4102093"/>
            <a:ext cx="1002979" cy="2217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47609" y="421295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139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下弧形箭头 20"/>
          <p:cNvSpPr/>
          <p:nvPr/>
        </p:nvSpPr>
        <p:spPr>
          <a:xfrm>
            <a:off x="5438371" y="4625313"/>
            <a:ext cx="1002979" cy="2217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596398" y="473617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下弧形箭头 22"/>
          <p:cNvSpPr/>
          <p:nvPr/>
        </p:nvSpPr>
        <p:spPr>
          <a:xfrm>
            <a:off x="6113285" y="5148533"/>
            <a:ext cx="1168441" cy="22171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271312" y="525939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599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下箭头 24"/>
          <p:cNvSpPr/>
          <p:nvPr/>
        </p:nvSpPr>
        <p:spPr>
          <a:xfrm rot="10800000">
            <a:off x="3947538" y="1969497"/>
            <a:ext cx="110890" cy="562938"/>
          </a:xfrm>
          <a:prstGeom prst="downArrow">
            <a:avLst>
              <a:gd name="adj1" fmla="val 50000"/>
              <a:gd name="adj2" fmla="val 92307"/>
            </a:avLst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下箭头 25"/>
          <p:cNvSpPr/>
          <p:nvPr/>
        </p:nvSpPr>
        <p:spPr>
          <a:xfrm rot="10800000">
            <a:off x="7194635" y="1971904"/>
            <a:ext cx="136643" cy="3176628"/>
          </a:xfrm>
          <a:prstGeom prst="downArrow">
            <a:avLst>
              <a:gd name="adj1" fmla="val 50000"/>
              <a:gd name="adj2" fmla="val 92307"/>
            </a:avLst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 rot="10800000">
            <a:off x="6419078" y="1969497"/>
            <a:ext cx="152148" cy="2653408"/>
          </a:xfrm>
          <a:prstGeom prst="downArrow">
            <a:avLst>
              <a:gd name="adj1" fmla="val 50000"/>
              <a:gd name="adj2" fmla="val 92307"/>
            </a:avLst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下箭头 27"/>
          <p:cNvSpPr/>
          <p:nvPr/>
        </p:nvSpPr>
        <p:spPr>
          <a:xfrm rot="10800000">
            <a:off x="4469629" y="1969497"/>
            <a:ext cx="139424" cy="1003957"/>
          </a:xfrm>
          <a:prstGeom prst="downArrow">
            <a:avLst>
              <a:gd name="adj1" fmla="val 50000"/>
              <a:gd name="adj2" fmla="val 92307"/>
            </a:avLst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下箭头 28"/>
          <p:cNvSpPr/>
          <p:nvPr/>
        </p:nvSpPr>
        <p:spPr>
          <a:xfrm rot="10800000">
            <a:off x="5058978" y="1976846"/>
            <a:ext cx="147784" cy="1626977"/>
          </a:xfrm>
          <a:prstGeom prst="downArrow">
            <a:avLst>
              <a:gd name="adj1" fmla="val 50000"/>
              <a:gd name="adj2" fmla="val 92307"/>
            </a:avLst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下箭头 29"/>
          <p:cNvSpPr/>
          <p:nvPr/>
        </p:nvSpPr>
        <p:spPr>
          <a:xfrm rot="10800000">
            <a:off x="5751186" y="1971905"/>
            <a:ext cx="145739" cy="2100409"/>
          </a:xfrm>
          <a:prstGeom prst="downArrow">
            <a:avLst>
              <a:gd name="adj1" fmla="val 50000"/>
              <a:gd name="adj2" fmla="val 92307"/>
            </a:avLst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加号 32"/>
          <p:cNvSpPr/>
          <p:nvPr/>
        </p:nvSpPr>
        <p:spPr>
          <a:xfrm>
            <a:off x="3225145" y="2037284"/>
            <a:ext cx="203709" cy="203709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34" name="加号 33"/>
          <p:cNvSpPr/>
          <p:nvPr/>
        </p:nvSpPr>
        <p:spPr>
          <a:xfrm>
            <a:off x="3627679" y="2489482"/>
            <a:ext cx="203709" cy="203709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35" name="加号 34"/>
          <p:cNvSpPr/>
          <p:nvPr/>
        </p:nvSpPr>
        <p:spPr>
          <a:xfrm>
            <a:off x="4137052" y="2978104"/>
            <a:ext cx="203709" cy="203709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36" name="加号 35"/>
          <p:cNvSpPr/>
          <p:nvPr/>
        </p:nvSpPr>
        <p:spPr>
          <a:xfrm>
            <a:off x="4563452" y="3495026"/>
            <a:ext cx="203709" cy="203709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37" name="加号 36"/>
          <p:cNvSpPr/>
          <p:nvPr/>
        </p:nvSpPr>
        <p:spPr>
          <a:xfrm>
            <a:off x="5189216" y="4044775"/>
            <a:ext cx="203709" cy="203709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38" name="加号 37"/>
          <p:cNvSpPr/>
          <p:nvPr/>
        </p:nvSpPr>
        <p:spPr>
          <a:xfrm>
            <a:off x="5879742" y="4578887"/>
            <a:ext cx="203709" cy="203709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39" name="加号 38"/>
          <p:cNvSpPr/>
          <p:nvPr/>
        </p:nvSpPr>
        <p:spPr>
          <a:xfrm>
            <a:off x="6595650" y="5060971"/>
            <a:ext cx="203709" cy="203709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ysClr val="windowText" lastClr="000000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14132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06FB9454-D4CB-452C-A033-9956D60D6F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045"/>
          <a:stretch/>
        </p:blipFill>
        <p:spPr>
          <a:xfrm>
            <a:off x="3909513" y="536309"/>
            <a:ext cx="3155208" cy="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67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4690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7241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9793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2344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4895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7446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9997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2549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5100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7651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202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2753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5305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7856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0407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22958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65509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8061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50612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93163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08830" y="1424931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08830" y="176356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8829" y="210220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8828" y="2477054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96347" y="749398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5703141" y="1325342"/>
            <a:ext cx="851024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artist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8715124" y="1312752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9991660" y="1312752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4690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7241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69793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12344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54895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97446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9997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2549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25100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7651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0202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2753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5305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37856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0407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22958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5509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08061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50612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93163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60491" y="1312752"/>
            <a:ext cx="1285592" cy="1665838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930940" y="2365059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7509" y="2365744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270105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442701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418722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下箭头 60"/>
          <p:cNvSpPr/>
          <p:nvPr/>
        </p:nvSpPr>
        <p:spPr>
          <a:xfrm>
            <a:off x="5490386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下箭头 61"/>
          <p:cNvSpPr/>
          <p:nvPr/>
        </p:nvSpPr>
        <p:spPr>
          <a:xfrm>
            <a:off x="6695705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下箭头 62"/>
          <p:cNvSpPr/>
          <p:nvPr/>
        </p:nvSpPr>
        <p:spPr>
          <a:xfrm>
            <a:off x="778611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下箭头 63"/>
          <p:cNvSpPr/>
          <p:nvPr/>
        </p:nvSpPr>
        <p:spPr>
          <a:xfrm>
            <a:off x="2415022" y="3532559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下箭头 64"/>
          <p:cNvSpPr/>
          <p:nvPr/>
        </p:nvSpPr>
        <p:spPr>
          <a:xfrm>
            <a:off x="5782893" y="358951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下箭头 65"/>
          <p:cNvSpPr/>
          <p:nvPr/>
        </p:nvSpPr>
        <p:spPr>
          <a:xfrm>
            <a:off x="7056104" y="3626782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下箭头 66"/>
          <p:cNvSpPr/>
          <p:nvPr/>
        </p:nvSpPr>
        <p:spPr>
          <a:xfrm>
            <a:off x="8761477" y="358951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500956" y="55927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14132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5448656" y="5539341"/>
            <a:ext cx="13708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5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4690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7241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9793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2344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4895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7446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9997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2549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5100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7651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202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2753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5305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7856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0407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22958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65509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8061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50612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93163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08830" y="1424931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08830" y="176356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8829" y="210220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8828" y="2477054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96347" y="749398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4690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7241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69793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12344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54895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97446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9997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2549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25100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7651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0202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2753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5305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37856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0407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22958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5509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08061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50612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93163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60491" y="1312752"/>
            <a:ext cx="1285592" cy="1665838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930940" y="2365059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7509" y="2365744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270105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442701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418722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下箭头 60"/>
          <p:cNvSpPr/>
          <p:nvPr/>
        </p:nvSpPr>
        <p:spPr>
          <a:xfrm>
            <a:off x="5490386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下箭头 61"/>
          <p:cNvSpPr/>
          <p:nvPr/>
        </p:nvSpPr>
        <p:spPr>
          <a:xfrm>
            <a:off x="6695705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下箭头 62"/>
          <p:cNvSpPr/>
          <p:nvPr/>
        </p:nvSpPr>
        <p:spPr>
          <a:xfrm>
            <a:off x="778611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下箭头 63"/>
          <p:cNvSpPr/>
          <p:nvPr/>
        </p:nvSpPr>
        <p:spPr>
          <a:xfrm>
            <a:off x="2415022" y="3532559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下箭头 64"/>
          <p:cNvSpPr/>
          <p:nvPr/>
        </p:nvSpPr>
        <p:spPr>
          <a:xfrm>
            <a:off x="5782893" y="358951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下箭头 65"/>
          <p:cNvSpPr/>
          <p:nvPr/>
        </p:nvSpPr>
        <p:spPr>
          <a:xfrm>
            <a:off x="7056104" y="3626782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下箭头 66"/>
          <p:cNvSpPr/>
          <p:nvPr/>
        </p:nvSpPr>
        <p:spPr>
          <a:xfrm>
            <a:off x="8761477" y="358951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5703141" y="1325342"/>
            <a:ext cx="851024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artist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8715124" y="1312752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9991660" y="1312752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00956" y="55927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448656" y="5539341"/>
            <a:ext cx="13708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14132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56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4690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7241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9793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2344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4895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7446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9997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2549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5100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7651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202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2753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5305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7856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0407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22958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65509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8061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50612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93163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08830" y="1424931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08830" y="176356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8829" y="210220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8828" y="2477054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96347" y="749398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4293600" y="1365589"/>
            <a:ext cx="851024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artist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5627910" y="1364749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9877297" y="1364749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4690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7241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69793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12344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54895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97446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9997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2549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25100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7651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0202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2753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5305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37856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0407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22958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5509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08061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50612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93163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60491" y="1312752"/>
            <a:ext cx="1285592" cy="1665838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930940" y="2365059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7509" y="2365744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270105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442701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418722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下箭头 60"/>
          <p:cNvSpPr/>
          <p:nvPr/>
        </p:nvSpPr>
        <p:spPr>
          <a:xfrm>
            <a:off x="5490386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下箭头 61"/>
          <p:cNvSpPr/>
          <p:nvPr/>
        </p:nvSpPr>
        <p:spPr>
          <a:xfrm>
            <a:off x="6695705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下箭头 62"/>
          <p:cNvSpPr/>
          <p:nvPr/>
        </p:nvSpPr>
        <p:spPr>
          <a:xfrm>
            <a:off x="778611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下箭头 63"/>
          <p:cNvSpPr/>
          <p:nvPr/>
        </p:nvSpPr>
        <p:spPr>
          <a:xfrm>
            <a:off x="2415022" y="3532559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下箭头 64"/>
          <p:cNvSpPr/>
          <p:nvPr/>
        </p:nvSpPr>
        <p:spPr>
          <a:xfrm>
            <a:off x="5782893" y="358951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下箭头 65"/>
          <p:cNvSpPr/>
          <p:nvPr/>
        </p:nvSpPr>
        <p:spPr>
          <a:xfrm>
            <a:off x="7056104" y="3626782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下箭头 66"/>
          <p:cNvSpPr/>
          <p:nvPr/>
        </p:nvSpPr>
        <p:spPr>
          <a:xfrm>
            <a:off x="8761477" y="358951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574" y="1564110"/>
            <a:ext cx="273870" cy="273870"/>
          </a:xfrm>
          <a:prstGeom prst="rect">
            <a:avLst/>
          </a:prstGeom>
        </p:spPr>
      </p:pic>
      <p:sp>
        <p:nvSpPr>
          <p:cNvPr id="68" name="下箭头 67"/>
          <p:cNvSpPr/>
          <p:nvPr/>
        </p:nvSpPr>
        <p:spPr>
          <a:xfrm>
            <a:off x="2804309" y="305524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下箭头 68"/>
          <p:cNvSpPr/>
          <p:nvPr/>
        </p:nvSpPr>
        <p:spPr>
          <a:xfrm>
            <a:off x="5782893" y="3097872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下箭头 69"/>
          <p:cNvSpPr/>
          <p:nvPr/>
        </p:nvSpPr>
        <p:spPr>
          <a:xfrm>
            <a:off x="7911739" y="317779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下箭头 70"/>
          <p:cNvSpPr/>
          <p:nvPr/>
        </p:nvSpPr>
        <p:spPr>
          <a:xfrm>
            <a:off x="10038013" y="3097872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00956" y="55927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448656" y="5539341"/>
            <a:ext cx="13708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14132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02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4690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7241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9793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2344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4895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7446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9997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2549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5100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7651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202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2753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5305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7856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0407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22958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65509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8061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50612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93163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08830" y="1424931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08830" y="176356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8829" y="210220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8828" y="2477054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96347" y="749398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4690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7241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69793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12344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54895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97446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9997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2549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25100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7651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0202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2753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5305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37856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0407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22958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5509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08061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50612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93163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60491" y="1312752"/>
            <a:ext cx="1285592" cy="1665838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930940" y="2365059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7509" y="2365744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270105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442701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418722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下箭头 60"/>
          <p:cNvSpPr/>
          <p:nvPr/>
        </p:nvSpPr>
        <p:spPr>
          <a:xfrm>
            <a:off x="5490386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下箭头 61"/>
          <p:cNvSpPr/>
          <p:nvPr/>
        </p:nvSpPr>
        <p:spPr>
          <a:xfrm>
            <a:off x="6695705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下箭头 62"/>
          <p:cNvSpPr/>
          <p:nvPr/>
        </p:nvSpPr>
        <p:spPr>
          <a:xfrm>
            <a:off x="778611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500956" y="55927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4293600" y="1365589"/>
            <a:ext cx="851024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artist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5627910" y="1364749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9877297" y="1364749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574" y="1564110"/>
            <a:ext cx="273870" cy="273870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5448656" y="5539341"/>
            <a:ext cx="13708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14132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7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4690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7241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9793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2344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48955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7446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9997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2549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25100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7651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0202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27539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53051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7856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80407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229587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655099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80611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506123" y="39654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931635" y="39654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08830" y="1424931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08830" y="176356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8829" y="210220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08828" y="2477054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96347" y="749398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558145" y="1365589"/>
            <a:ext cx="851024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artist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892455" y="1364749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517013" y="1362425"/>
            <a:ext cx="1141272" cy="36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4690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7241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69793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12344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54895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97446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9997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82549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525100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7651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10202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2753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5305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37856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80407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229587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8655099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9080611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9506123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9931635" y="4428195"/>
            <a:ext cx="425512" cy="4255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60491" y="1312752"/>
            <a:ext cx="1285592" cy="1665838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930940" y="2365059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Hash1()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7509" y="2365744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Hash2()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270105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Hash3()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442701" y="2359480"/>
            <a:ext cx="938077" cy="369332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Hash4()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下箭头 59"/>
          <p:cNvSpPr/>
          <p:nvPr/>
        </p:nvSpPr>
        <p:spPr>
          <a:xfrm>
            <a:off x="418722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下箭头 60"/>
          <p:cNvSpPr/>
          <p:nvPr/>
        </p:nvSpPr>
        <p:spPr>
          <a:xfrm>
            <a:off x="5490386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下箭头 61"/>
          <p:cNvSpPr/>
          <p:nvPr/>
        </p:nvSpPr>
        <p:spPr>
          <a:xfrm>
            <a:off x="6695705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下箭头 62"/>
          <p:cNvSpPr/>
          <p:nvPr/>
        </p:nvSpPr>
        <p:spPr>
          <a:xfrm>
            <a:off x="7786113" y="1948233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119" y="1564110"/>
            <a:ext cx="273870" cy="273870"/>
          </a:xfrm>
          <a:prstGeom prst="rect">
            <a:avLst/>
          </a:prstGeom>
        </p:spPr>
      </p:pic>
      <p:sp>
        <p:nvSpPr>
          <p:cNvPr id="68" name="下箭头 67"/>
          <p:cNvSpPr/>
          <p:nvPr/>
        </p:nvSpPr>
        <p:spPr>
          <a:xfrm>
            <a:off x="3229821" y="355958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下箭头 68"/>
          <p:cNvSpPr/>
          <p:nvPr/>
        </p:nvSpPr>
        <p:spPr>
          <a:xfrm>
            <a:off x="5782893" y="355958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下箭头 69"/>
          <p:cNvSpPr/>
          <p:nvPr/>
        </p:nvSpPr>
        <p:spPr>
          <a:xfrm>
            <a:off x="7910453" y="355958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下箭头 70"/>
          <p:cNvSpPr/>
          <p:nvPr/>
        </p:nvSpPr>
        <p:spPr>
          <a:xfrm>
            <a:off x="10038013" y="3559587"/>
            <a:ext cx="212755" cy="338636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753" y="1564110"/>
            <a:ext cx="273870" cy="273870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6500956" y="559275"/>
            <a:ext cx="860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57002" y="5258204"/>
            <a:ext cx="2290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’s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length </a:t>
            </a:r>
          </a:p>
        </p:txBody>
      </p:sp>
      <p:sp>
        <p:nvSpPr>
          <p:cNvPr id="4" name="矩形 3"/>
          <p:cNvSpPr/>
          <p:nvPr/>
        </p:nvSpPr>
        <p:spPr>
          <a:xfrm>
            <a:off x="611075" y="5258204"/>
            <a:ext cx="1435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hash function</a:t>
            </a:r>
          </a:p>
        </p:txBody>
      </p:sp>
      <p:sp>
        <p:nvSpPr>
          <p:cNvPr id="5" name="左大括号 4"/>
          <p:cNvSpPr/>
          <p:nvPr/>
        </p:nvSpPr>
        <p:spPr>
          <a:xfrm rot="16200000">
            <a:off x="5865416" y="677977"/>
            <a:ext cx="473223" cy="8510242"/>
          </a:xfrm>
          <a:prstGeom prst="leftBrace">
            <a:avLst>
              <a:gd name="adj1" fmla="val 8333"/>
              <a:gd name="adj2" fmla="val 5010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871553" y="6025661"/>
            <a:ext cx="1835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False alarm rate</a:t>
            </a:r>
          </a:p>
        </p:txBody>
      </p:sp>
      <p:cxnSp>
        <p:nvCxnSpPr>
          <p:cNvPr id="76" name="直接箭头连接符 75"/>
          <p:cNvCxnSpPr>
            <a:stCxn id="4" idx="2"/>
            <a:endCxn id="34" idx="1"/>
          </p:cNvCxnSpPr>
          <p:nvPr/>
        </p:nvCxnSpPr>
        <p:spPr>
          <a:xfrm>
            <a:off x="1328579" y="5627536"/>
            <a:ext cx="1542974" cy="58279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stCxn id="3" idx="2"/>
            <a:endCxn id="34" idx="3"/>
          </p:cNvCxnSpPr>
          <p:nvPr/>
        </p:nvCxnSpPr>
        <p:spPr>
          <a:xfrm flipH="1">
            <a:off x="4707312" y="5627536"/>
            <a:ext cx="1394715" cy="58279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14132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404669" y="6025661"/>
            <a:ext cx="13708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18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43477" y="4947294"/>
            <a:ext cx="83774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2F2F2F"/>
                </a:solidFill>
                <a:latin typeface="-apple-system"/>
              </a:rPr>
              <a:t>k </a:t>
            </a:r>
            <a:r>
              <a:rPr lang="zh-CN" altLang="en-US">
                <a:solidFill>
                  <a:srgbClr val="2F2F2F"/>
                </a:solidFill>
                <a:latin typeface="-apple-system"/>
              </a:rPr>
              <a:t>为哈希函数个数，</a:t>
            </a:r>
            <a:r>
              <a:rPr lang="en-US" altLang="zh-CN">
                <a:solidFill>
                  <a:srgbClr val="2F2F2F"/>
                </a:solidFill>
                <a:latin typeface="-apple-system"/>
              </a:rPr>
              <a:t>m </a:t>
            </a:r>
            <a:r>
              <a:rPr lang="zh-CN" altLang="en-US">
                <a:solidFill>
                  <a:srgbClr val="2F2F2F"/>
                </a:solidFill>
                <a:latin typeface="-apple-system"/>
              </a:rPr>
              <a:t>为布隆过滤器长度，</a:t>
            </a:r>
            <a:r>
              <a:rPr lang="en-US" altLang="zh-CN">
                <a:solidFill>
                  <a:srgbClr val="2F2F2F"/>
                </a:solidFill>
                <a:latin typeface="-apple-system"/>
              </a:rPr>
              <a:t>n </a:t>
            </a:r>
            <a:r>
              <a:rPr lang="zh-CN" altLang="en-US">
                <a:solidFill>
                  <a:srgbClr val="2F2F2F"/>
                </a:solidFill>
                <a:latin typeface="-apple-system"/>
              </a:rPr>
              <a:t>为插入的元素个数，</a:t>
            </a:r>
            <a:r>
              <a:rPr lang="en-US" altLang="zh-CN">
                <a:solidFill>
                  <a:srgbClr val="2F2F2F"/>
                </a:solidFill>
                <a:latin typeface="-apple-system"/>
              </a:rPr>
              <a:t>p </a:t>
            </a:r>
            <a:r>
              <a:rPr lang="zh-CN" altLang="en-US">
                <a:solidFill>
                  <a:srgbClr val="2F2F2F"/>
                </a:solidFill>
                <a:latin typeface="-apple-system"/>
              </a:rPr>
              <a:t>为误报率。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6" y="603288"/>
            <a:ext cx="7621064" cy="434400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627925" y="603288"/>
            <a:ext cx="1835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False alarm rate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0D7968-6553-44F4-9EFE-B98431D2E8E5}"/>
              </a:ext>
            </a:extLst>
          </p:cNvPr>
          <p:cNvSpPr/>
          <p:nvPr/>
        </p:nvSpPr>
        <p:spPr>
          <a:xfrm>
            <a:off x="0" y="141324"/>
            <a:ext cx="25795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48656" y="5539341"/>
            <a:ext cx="13708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82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/>
        </p:nvGrpSpPr>
        <p:grpSpPr>
          <a:xfrm>
            <a:off x="2356759" y="517071"/>
            <a:ext cx="6012540" cy="3001864"/>
            <a:chOff x="2356759" y="517071"/>
            <a:chExt cx="6012540" cy="3001864"/>
          </a:xfrm>
        </p:grpSpPr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4299" y="517071"/>
              <a:ext cx="1905000" cy="190500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6759" y="517071"/>
              <a:ext cx="1905000" cy="1905000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9787" y="517071"/>
              <a:ext cx="1905000" cy="1905000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2743200" y="2104575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Group1</a:t>
              </a:r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395652" y="2104575"/>
              <a:ext cx="9332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Group2</a:t>
              </a:r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950164" y="2104575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GroupN</a:t>
              </a:r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893309" y="1469571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… …</a:t>
              </a:r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5893309" y="2104575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… …</a:t>
              </a:r>
              <a:endParaRPr lang="zh-CN" altLang="en-US"/>
            </a:p>
          </p:txBody>
        </p:sp>
        <p:pic>
          <p:nvPicPr>
            <p:cNvPr id="43" name="图片 4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4341" y="2707950"/>
              <a:ext cx="810985" cy="810985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6793" y="2707949"/>
              <a:ext cx="810985" cy="810985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1306" y="2707948"/>
              <a:ext cx="810985" cy="810985"/>
            </a:xfrm>
            <a:prstGeom prst="rect">
              <a:avLst/>
            </a:prstGeom>
          </p:spPr>
        </p:pic>
      </p:grpSp>
      <p:pic>
        <p:nvPicPr>
          <p:cNvPr id="47" name="图片 4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342" y="4441370"/>
            <a:ext cx="704982" cy="704982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794" y="4441370"/>
            <a:ext cx="704982" cy="70498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307" y="4441370"/>
            <a:ext cx="704982" cy="704982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2630187" y="5146352"/>
            <a:ext cx="974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{</a:t>
            </a:r>
            <a:r>
              <a:rPr lang="zh-CN" altLang="en-US"/>
              <a:t>doctor</a:t>
            </a:r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4349965" y="5146352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{Age &gt;60}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48210" y="2769697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/>
              <a:t> users</a:t>
            </a:r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-53066" y="4909850"/>
            <a:ext cx="2856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60% </a:t>
            </a:r>
            <a:r>
              <a:rPr lang="en-US" altLang="zh-CN"/>
              <a:t>of K users</a:t>
            </a:r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02712" y="5515684"/>
            <a:ext cx="2167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No </a:t>
            </a:r>
            <a:r>
              <a:rPr lang="zh-CN" altLang="en-US"/>
              <a:t>Specific quantity</a:t>
            </a:r>
          </a:p>
        </p:txBody>
      </p:sp>
      <p:sp>
        <p:nvSpPr>
          <p:cNvPr id="3" name="矩形 2"/>
          <p:cNvSpPr/>
          <p:nvPr/>
        </p:nvSpPr>
        <p:spPr>
          <a:xfrm>
            <a:off x="6201561" y="5175636"/>
            <a:ext cx="2476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0">
                <a:solidFill>
                  <a:srgbClr val="000000"/>
                </a:solidFill>
                <a:ea typeface="Times New Roman" panose="02020603050405020304" pitchFamily="18" charset="0"/>
              </a:rPr>
              <a:t>{Artist; Player; Scientist}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05103" y="4777020"/>
            <a:ext cx="13026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AD request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539141" y="2928774"/>
            <a:ext cx="8345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332018" y="5700350"/>
            <a:ext cx="933269" cy="833454"/>
          </a:xfrm>
          <a:prstGeom prst="round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743198" y="5700350"/>
            <a:ext cx="933269" cy="833454"/>
          </a:xfrm>
          <a:prstGeom prst="roundRect">
            <a:avLst/>
          </a:prstGeom>
          <a:blipFill dpi="0"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979524" y="5700350"/>
            <a:ext cx="933269" cy="833454"/>
          </a:xfrm>
          <a:prstGeom prst="roundRect">
            <a:avLst/>
          </a:prstGeom>
          <a:blipFill dpi="0"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下箭头 5"/>
          <p:cNvSpPr/>
          <p:nvPr/>
        </p:nvSpPr>
        <p:spPr>
          <a:xfrm rot="10800000">
            <a:off x="7230391" y="3688414"/>
            <a:ext cx="372813" cy="583474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464299" y="635726"/>
            <a:ext cx="1834970" cy="2987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endCxn id="34" idx="3"/>
          </p:cNvCxnSpPr>
          <p:nvPr/>
        </p:nvCxnSpPr>
        <p:spPr>
          <a:xfrm flipH="1">
            <a:off x="8369299" y="1071154"/>
            <a:ext cx="649512" cy="3984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018811" y="701822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Target Group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02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6028" y="418469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/>
              <a:t> users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07249" y="833967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60% </a:t>
            </a:r>
            <a:r>
              <a:rPr lang="en-US" altLang="zh-CN"/>
              <a:t>of K users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778033" y="556968"/>
            <a:ext cx="57389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The group size and threshold are parameters that affect both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advertisement accuracy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privacy.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960" y="1482761"/>
            <a:ext cx="1905000" cy="1905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67" y="3673638"/>
            <a:ext cx="810985" cy="810985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3176809" y="1667587"/>
            <a:ext cx="1834970" cy="298704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606918" y="310343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GroupN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310415" y="4691561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Target Group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018382" y="1667587"/>
            <a:ext cx="1498600" cy="14514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Server</a:t>
            </a:r>
          </a:p>
          <a:p>
            <a:pPr algn="ctr"/>
            <a:r>
              <a:rPr lang="zh-CN" altLang="en-US"/>
              <a:t>服务器</a:t>
            </a:r>
          </a:p>
        </p:txBody>
      </p:sp>
      <p:sp>
        <p:nvSpPr>
          <p:cNvPr id="14" name="矩形 13"/>
          <p:cNvSpPr/>
          <p:nvPr/>
        </p:nvSpPr>
        <p:spPr>
          <a:xfrm>
            <a:off x="5365282" y="1811285"/>
            <a:ext cx="1024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Point out</a:t>
            </a:r>
          </a:p>
        </p:txBody>
      </p:sp>
      <p:sp>
        <p:nvSpPr>
          <p:cNvPr id="15" name="右箭头 14"/>
          <p:cNvSpPr/>
          <p:nvPr/>
        </p:nvSpPr>
        <p:spPr>
          <a:xfrm rot="10800000">
            <a:off x="4861038" y="2363653"/>
            <a:ext cx="1876777" cy="14321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131" y="2137536"/>
            <a:ext cx="595449" cy="595449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5090316" y="2586786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which members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542" y="3880441"/>
            <a:ext cx="704982" cy="704982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652796" y="4614707"/>
            <a:ext cx="2476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0">
                <a:solidFill>
                  <a:srgbClr val="000000"/>
                </a:solidFill>
                <a:ea typeface="Times New Roman" panose="02020603050405020304" pitchFamily="18" charset="0"/>
              </a:rPr>
              <a:t>{Artist; Player; Scientist}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63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8681375" y="1652866"/>
            <a:ext cx="1064220" cy="103072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Server</a:t>
            </a:r>
          </a:p>
          <a:p>
            <a:pPr algn="ctr"/>
            <a:r>
              <a:rPr lang="zh-CN" altLang="en-US"/>
              <a:t>服务器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47" y="731521"/>
            <a:ext cx="500638" cy="5006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47" y="1457235"/>
            <a:ext cx="500638" cy="5006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47" y="2182949"/>
            <a:ext cx="500638" cy="5006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947" y="3479075"/>
            <a:ext cx="500638" cy="5006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 rot="5400000">
            <a:off x="10217204" y="2844721"/>
            <a:ext cx="24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633" y="731521"/>
            <a:ext cx="1352822" cy="135282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382160" y="1906616"/>
            <a:ext cx="6957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/>
              <a:t>GroupN</a:t>
            </a:r>
            <a:endParaRPr lang="zh-CN" altLang="en-US" sz="11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157" y="2467167"/>
            <a:ext cx="575915" cy="575915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 rot="10800000">
            <a:off x="7588131" y="1978605"/>
            <a:ext cx="550406" cy="48856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777" y="1706438"/>
            <a:ext cx="358124" cy="358124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59624" y="2078326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User1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3113602" y="2079955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User14</a:t>
            </a:r>
            <a:endParaRPr lang="zh-CN" altLang="en-US" sz="14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245" y="1708067"/>
            <a:ext cx="358124" cy="35812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245092" y="2079955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User N-1</a:t>
            </a:r>
            <a:endParaRPr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3799023" y="184818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08639" y="1813617"/>
            <a:ext cx="1047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Group 1: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520191" y="2078326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/>
              <a:t>User3</a:t>
            </a:r>
            <a:endParaRPr lang="zh-CN" altLang="en-US" sz="140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676" y="1703415"/>
            <a:ext cx="358124" cy="358124"/>
          </a:xfrm>
          <a:prstGeom prst="rect">
            <a:avLst/>
          </a:prstGeom>
        </p:spPr>
      </p:pic>
      <p:cxnSp>
        <p:nvCxnSpPr>
          <p:cNvPr id="29" name="直接箭头连接符 28"/>
          <p:cNvCxnSpPr>
            <a:endCxn id="27" idx="0"/>
          </p:cNvCxnSpPr>
          <p:nvPr/>
        </p:nvCxnSpPr>
        <p:spPr>
          <a:xfrm flipH="1">
            <a:off x="2833738" y="1053737"/>
            <a:ext cx="732083" cy="649678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3427341" y="1032138"/>
            <a:ext cx="152969" cy="670716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283833" y="673886"/>
            <a:ext cx="68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Trust 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547" y="1707770"/>
            <a:ext cx="358124" cy="35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8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70150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95662" y="2713317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21174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46686" y="2713317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72198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97710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23222" y="2713317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48734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74246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99758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325270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750782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176294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01806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027318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452830" y="2713317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070150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495662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21174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346686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72198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197710" y="3300284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623222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048734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474246" y="3300284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899758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325270" y="3300284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750782" y="3300284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176294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8601806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027318" y="3300284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452830" y="3300284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070150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495662" y="3887251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921174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346686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772198" y="3887251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197710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623222" y="3887251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048734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474246" y="3887251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899758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7325270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750782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8176294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8601806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9027318" y="3887251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452830" y="3887251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3070150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495662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921174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4346686" y="44742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772198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5197710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623222" y="44742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048734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474246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899758" y="44742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7325270" y="44742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7750782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176294" y="44742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601806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9027318" y="4474218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9452830" y="4474218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070150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495662" y="5061185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921174" y="5061185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346686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772198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197710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5623222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6048734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474246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899758" y="5061185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7325270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750782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8176294" y="5061185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8601806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9027318" y="5061185"/>
            <a:ext cx="425512" cy="425512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452830" y="5061185"/>
            <a:ext cx="425512" cy="4255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058780" y="2713317"/>
            <a:ext cx="81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1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2058780" y="3915341"/>
            <a:ext cx="81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3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2058780" y="3328374"/>
            <a:ext cx="81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2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2058780" y="4502308"/>
            <a:ext cx="81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4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2058780" y="5089275"/>
            <a:ext cx="81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-26021" y="744951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Advertiser</a:t>
            </a:r>
            <a:endParaRPr lang="zh-CN" altLang="en-US" b="1"/>
          </a:p>
        </p:txBody>
      </p:sp>
      <p:sp>
        <p:nvSpPr>
          <p:cNvPr id="159" name="文本框 158"/>
          <p:cNvSpPr txBox="1"/>
          <p:nvPr/>
        </p:nvSpPr>
        <p:spPr>
          <a:xfrm>
            <a:off x="680871" y="271331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User</a:t>
            </a:r>
            <a:endParaRPr lang="zh-CN" altLang="en-US" b="1"/>
          </a:p>
        </p:txBody>
      </p:sp>
      <p:sp>
        <p:nvSpPr>
          <p:cNvPr id="160" name="矩形 159"/>
          <p:cNvSpPr/>
          <p:nvPr/>
        </p:nvSpPr>
        <p:spPr>
          <a:xfrm>
            <a:off x="3098377" y="9027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61" name="矩形 160"/>
          <p:cNvSpPr/>
          <p:nvPr/>
        </p:nvSpPr>
        <p:spPr>
          <a:xfrm>
            <a:off x="3616817" y="902604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162" name="矩形 161"/>
          <p:cNvSpPr/>
          <p:nvPr/>
        </p:nvSpPr>
        <p:spPr>
          <a:xfrm>
            <a:off x="4114912" y="90249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163" name="矩形 162"/>
          <p:cNvSpPr/>
          <p:nvPr/>
        </p:nvSpPr>
        <p:spPr>
          <a:xfrm>
            <a:off x="4643447" y="90249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64" name="矩形 163"/>
          <p:cNvSpPr/>
          <p:nvPr/>
        </p:nvSpPr>
        <p:spPr>
          <a:xfrm>
            <a:off x="5158120" y="9019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65" name="矩形 164"/>
          <p:cNvSpPr/>
          <p:nvPr/>
        </p:nvSpPr>
        <p:spPr>
          <a:xfrm>
            <a:off x="5676560" y="90184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66" name="矩形 165"/>
          <p:cNvSpPr/>
          <p:nvPr/>
        </p:nvSpPr>
        <p:spPr>
          <a:xfrm>
            <a:off x="6174655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67" name="矩形 166"/>
          <p:cNvSpPr/>
          <p:nvPr/>
        </p:nvSpPr>
        <p:spPr>
          <a:xfrm>
            <a:off x="6703190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68" name="矩形 167"/>
          <p:cNvSpPr/>
          <p:nvPr/>
        </p:nvSpPr>
        <p:spPr>
          <a:xfrm>
            <a:off x="7190993" y="9019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69" name="矩形 168"/>
          <p:cNvSpPr/>
          <p:nvPr/>
        </p:nvSpPr>
        <p:spPr>
          <a:xfrm>
            <a:off x="7709433" y="90184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170" name="矩形 169"/>
          <p:cNvSpPr/>
          <p:nvPr/>
        </p:nvSpPr>
        <p:spPr>
          <a:xfrm>
            <a:off x="8207528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71" name="矩形 170"/>
          <p:cNvSpPr/>
          <p:nvPr/>
        </p:nvSpPr>
        <p:spPr>
          <a:xfrm>
            <a:off x="8736063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72" name="矩形 171"/>
          <p:cNvSpPr/>
          <p:nvPr/>
        </p:nvSpPr>
        <p:spPr>
          <a:xfrm>
            <a:off x="9277809" y="90174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173" name="矩形 172"/>
          <p:cNvSpPr/>
          <p:nvPr/>
        </p:nvSpPr>
        <p:spPr>
          <a:xfrm>
            <a:off x="9796249" y="90163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74" name="矩形 173"/>
          <p:cNvSpPr/>
          <p:nvPr/>
        </p:nvSpPr>
        <p:spPr>
          <a:xfrm>
            <a:off x="10294344" y="90152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175" name="矩形 174"/>
          <p:cNvSpPr/>
          <p:nvPr/>
        </p:nvSpPr>
        <p:spPr>
          <a:xfrm>
            <a:off x="10822879" y="90152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76" name="文本框 175"/>
          <p:cNvSpPr txBox="1"/>
          <p:nvPr/>
        </p:nvSpPr>
        <p:spPr>
          <a:xfrm>
            <a:off x="1511416" y="879615"/>
            <a:ext cx="582211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Req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1324508" y="620661"/>
            <a:ext cx="10267417" cy="88724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文本框 177"/>
          <p:cNvSpPr txBox="1"/>
          <p:nvPr/>
        </p:nvSpPr>
        <p:spPr>
          <a:xfrm>
            <a:off x="11705951" y="929617"/>
            <a:ext cx="30008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右大括号 178"/>
          <p:cNvSpPr/>
          <p:nvPr/>
        </p:nvSpPr>
        <p:spPr>
          <a:xfrm>
            <a:off x="10294344" y="2680122"/>
            <a:ext cx="525101" cy="28065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文本框 179"/>
          <p:cNvSpPr txBox="1"/>
          <p:nvPr/>
        </p:nvSpPr>
        <p:spPr>
          <a:xfrm>
            <a:off x="10909997" y="4146786"/>
            <a:ext cx="132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K=5</a:t>
            </a:r>
            <a:r>
              <a:rPr lang="en-US" altLang="zh-CN"/>
              <a:t> users</a:t>
            </a:r>
            <a:endParaRPr lang="zh-CN" altLang="en-US"/>
          </a:p>
        </p:txBody>
      </p:sp>
      <p:sp>
        <p:nvSpPr>
          <p:cNvPr id="181" name="文本框 180"/>
          <p:cNvSpPr txBox="1"/>
          <p:nvPr/>
        </p:nvSpPr>
        <p:spPr>
          <a:xfrm>
            <a:off x="10909997" y="3592788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Group2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11686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矩形 289"/>
          <p:cNvSpPr/>
          <p:nvPr/>
        </p:nvSpPr>
        <p:spPr>
          <a:xfrm>
            <a:off x="3098377" y="9027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91" name="矩形 290"/>
          <p:cNvSpPr/>
          <p:nvPr/>
        </p:nvSpPr>
        <p:spPr>
          <a:xfrm>
            <a:off x="3616817" y="902604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292" name="矩形 291"/>
          <p:cNvSpPr/>
          <p:nvPr/>
        </p:nvSpPr>
        <p:spPr>
          <a:xfrm>
            <a:off x="4114912" y="90249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293" name="矩形 292"/>
          <p:cNvSpPr/>
          <p:nvPr/>
        </p:nvSpPr>
        <p:spPr>
          <a:xfrm>
            <a:off x="4643447" y="90249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94" name="矩形 293"/>
          <p:cNvSpPr/>
          <p:nvPr/>
        </p:nvSpPr>
        <p:spPr>
          <a:xfrm>
            <a:off x="5158120" y="9019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95" name="矩形 294"/>
          <p:cNvSpPr/>
          <p:nvPr/>
        </p:nvSpPr>
        <p:spPr>
          <a:xfrm>
            <a:off x="5676560" y="90184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96" name="矩形 295"/>
          <p:cNvSpPr/>
          <p:nvPr/>
        </p:nvSpPr>
        <p:spPr>
          <a:xfrm>
            <a:off x="6174655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97" name="矩形 296"/>
          <p:cNvSpPr/>
          <p:nvPr/>
        </p:nvSpPr>
        <p:spPr>
          <a:xfrm>
            <a:off x="6703190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98" name="矩形 297"/>
          <p:cNvSpPr/>
          <p:nvPr/>
        </p:nvSpPr>
        <p:spPr>
          <a:xfrm>
            <a:off x="7190993" y="9019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99" name="矩形 298"/>
          <p:cNvSpPr/>
          <p:nvPr/>
        </p:nvSpPr>
        <p:spPr>
          <a:xfrm>
            <a:off x="7709433" y="90184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00" name="矩形 299"/>
          <p:cNvSpPr/>
          <p:nvPr/>
        </p:nvSpPr>
        <p:spPr>
          <a:xfrm>
            <a:off x="8207528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01" name="矩形 300"/>
          <p:cNvSpPr/>
          <p:nvPr/>
        </p:nvSpPr>
        <p:spPr>
          <a:xfrm>
            <a:off x="8736063" y="9017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02" name="矩形 301"/>
          <p:cNvSpPr/>
          <p:nvPr/>
        </p:nvSpPr>
        <p:spPr>
          <a:xfrm>
            <a:off x="9277809" y="90174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03" name="矩形 302"/>
          <p:cNvSpPr/>
          <p:nvPr/>
        </p:nvSpPr>
        <p:spPr>
          <a:xfrm>
            <a:off x="9796249" y="90163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04" name="矩形 303"/>
          <p:cNvSpPr/>
          <p:nvPr/>
        </p:nvSpPr>
        <p:spPr>
          <a:xfrm>
            <a:off x="10294344" y="90152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05" name="矩形 304"/>
          <p:cNvSpPr/>
          <p:nvPr/>
        </p:nvSpPr>
        <p:spPr>
          <a:xfrm>
            <a:off x="10822879" y="90152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45" name="圆角矩形 144"/>
          <p:cNvSpPr/>
          <p:nvPr/>
        </p:nvSpPr>
        <p:spPr>
          <a:xfrm>
            <a:off x="316375" y="3330307"/>
            <a:ext cx="11389850" cy="1718631"/>
          </a:xfrm>
          <a:prstGeom prst="roundRect">
            <a:avLst/>
          </a:prstGeom>
          <a:noFill/>
          <a:ln w="38100"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071207" y="3494634"/>
                <a:ext cx="511614" cy="395045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07" y="3494634"/>
                <a:ext cx="511614" cy="395045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316374" y="3470829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1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1959802" y="3540800"/>
                <a:ext cx="530017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</a:t>
                </a:r>
                <a:endParaRPr lang="zh-CN" altLang="en-US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802" y="3540800"/>
                <a:ext cx="530017" cy="276999"/>
              </a:xfrm>
              <a:prstGeom prst="rect">
                <a:avLst/>
              </a:prstGeom>
              <a:blipFill>
                <a:blip r:embed="rId4"/>
                <a:stretch>
                  <a:fillRect l="-14943" t="-28889" r="-26437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/>
              <p:cNvSpPr txBox="1"/>
              <p:nvPr/>
            </p:nvSpPr>
            <p:spPr>
              <a:xfrm>
                <a:off x="2326151" y="4555988"/>
                <a:ext cx="61125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=6</a:t>
                </a:r>
                <a:endParaRPr lang="zh-CN" altLang="en-US"/>
              </a:p>
            </p:txBody>
          </p:sp>
        </mc:Choice>
        <mc:Fallback xmlns=""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151" y="4555988"/>
                <a:ext cx="611258" cy="276999"/>
              </a:xfrm>
              <a:prstGeom prst="rect">
                <a:avLst/>
              </a:prstGeom>
              <a:blipFill>
                <a:blip r:embed="rId5"/>
                <a:stretch>
                  <a:fillRect l="-14000" t="-28261" r="-23000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/>
          <p:cNvSpPr txBox="1"/>
          <p:nvPr/>
        </p:nvSpPr>
        <p:spPr>
          <a:xfrm>
            <a:off x="-54881" y="2129962"/>
            <a:ext cx="1186543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/>
              <a:t>Eg: </a:t>
            </a:r>
            <a:r>
              <a:rPr lang="en-US" altLang="zh-CN" b="1">
                <a:solidFill>
                  <a:srgbClr val="FF0000"/>
                </a:solidFill>
              </a:rPr>
              <a:t>K</a:t>
            </a:r>
            <a:r>
              <a:rPr lang="en-US" altLang="zh-CN" b="1"/>
              <a:t> = 5 </a:t>
            </a: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/>
              <p:cNvSpPr txBox="1"/>
              <p:nvPr/>
            </p:nvSpPr>
            <p:spPr>
              <a:xfrm>
                <a:off x="1526025" y="4555988"/>
                <a:ext cx="530017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</a:t>
                </a:r>
                <a:endParaRPr lang="zh-CN" altLang="en-US"/>
              </a:p>
            </p:txBody>
          </p:sp>
        </mc:Choice>
        <mc:Fallback xmlns=""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025" y="4555988"/>
                <a:ext cx="530017" cy="276999"/>
              </a:xfrm>
              <a:prstGeom prst="rect">
                <a:avLst/>
              </a:prstGeom>
              <a:blipFill>
                <a:blip r:embed="rId6"/>
                <a:stretch>
                  <a:fillRect l="-14943" t="-28261" r="-26437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本框 73"/>
          <p:cNvSpPr txBox="1"/>
          <p:nvPr/>
        </p:nvSpPr>
        <p:spPr>
          <a:xfrm>
            <a:off x="316374" y="4469073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1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304501" y="2222295"/>
            <a:ext cx="2882199" cy="276999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r>
              <a:rPr lang="en-US" altLang="zh-CN" b="1"/>
              <a:t>SS {6, 12, 3, -15, 6}   sum=0</a:t>
            </a:r>
            <a:endParaRPr lang="zh-CN" altLang="en-US" b="1"/>
          </a:p>
        </p:txBody>
      </p:sp>
      <p:sp>
        <p:nvSpPr>
          <p:cNvPr id="228" name="下箭头 227"/>
          <p:cNvSpPr/>
          <p:nvPr/>
        </p:nvSpPr>
        <p:spPr>
          <a:xfrm>
            <a:off x="541000" y="3863966"/>
            <a:ext cx="253388" cy="651273"/>
          </a:xfrm>
          <a:prstGeom prst="downArrow">
            <a:avLst/>
          </a:prstGeom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文本框 252"/>
          <p:cNvSpPr txBox="1"/>
          <p:nvPr/>
        </p:nvSpPr>
        <p:spPr>
          <a:xfrm>
            <a:off x="1511416" y="879615"/>
            <a:ext cx="582211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Req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1324508" y="620661"/>
            <a:ext cx="10267417" cy="88724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文本框 255"/>
          <p:cNvSpPr txBox="1"/>
          <p:nvPr/>
        </p:nvSpPr>
        <p:spPr>
          <a:xfrm>
            <a:off x="11705951" y="929617"/>
            <a:ext cx="30008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矩形 256"/>
              <p:cNvSpPr/>
              <p:nvPr/>
            </p:nvSpPr>
            <p:spPr>
              <a:xfrm>
                <a:off x="6259808" y="2128285"/>
                <a:ext cx="2476255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1,  8,  64,  512,  4096</a:t>
                </a:r>
                <a:endParaRPr lang="zh-CN" altLang="en-US" b="1"/>
              </a:p>
            </p:txBody>
          </p:sp>
        </mc:Choice>
        <mc:Fallback xmlns="">
          <p:sp>
            <p:nvSpPr>
              <p:cNvPr id="257" name="矩形 2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808" y="2128285"/>
                <a:ext cx="2476255" cy="369332"/>
              </a:xfrm>
              <a:prstGeom prst="rect">
                <a:avLst/>
              </a:prstGeom>
              <a:blipFill>
                <a:blip r:embed="rId7"/>
                <a:stretch>
                  <a:fillRect t="-9836" r="-2217" b="-2295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矩形 257"/>
          <p:cNvSpPr/>
          <p:nvPr/>
        </p:nvSpPr>
        <p:spPr>
          <a:xfrm>
            <a:off x="3101178" y="440844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59" name="矩形 258"/>
          <p:cNvSpPr/>
          <p:nvPr/>
        </p:nvSpPr>
        <p:spPr>
          <a:xfrm>
            <a:off x="3619618" y="440833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60" name="矩形 259"/>
          <p:cNvSpPr/>
          <p:nvPr/>
        </p:nvSpPr>
        <p:spPr>
          <a:xfrm>
            <a:off x="4117713" y="440823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61" name="矩形 260"/>
          <p:cNvSpPr/>
          <p:nvPr/>
        </p:nvSpPr>
        <p:spPr>
          <a:xfrm>
            <a:off x="4646248" y="440823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62" name="矩形 261"/>
          <p:cNvSpPr/>
          <p:nvPr/>
        </p:nvSpPr>
        <p:spPr>
          <a:xfrm>
            <a:off x="5160921" y="440768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63" name="矩形 262"/>
          <p:cNvSpPr/>
          <p:nvPr/>
        </p:nvSpPr>
        <p:spPr>
          <a:xfrm>
            <a:off x="5679361" y="440758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64" name="矩形 263"/>
          <p:cNvSpPr/>
          <p:nvPr/>
        </p:nvSpPr>
        <p:spPr>
          <a:xfrm>
            <a:off x="6177456" y="440747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65" name="矩形 264"/>
          <p:cNvSpPr/>
          <p:nvPr/>
        </p:nvSpPr>
        <p:spPr>
          <a:xfrm>
            <a:off x="6705991" y="440747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66" name="矩形 265"/>
          <p:cNvSpPr/>
          <p:nvPr/>
        </p:nvSpPr>
        <p:spPr>
          <a:xfrm>
            <a:off x="7193794" y="440768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67" name="矩形 266"/>
          <p:cNvSpPr/>
          <p:nvPr/>
        </p:nvSpPr>
        <p:spPr>
          <a:xfrm>
            <a:off x="7712234" y="440758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68" name="矩形 267"/>
          <p:cNvSpPr/>
          <p:nvPr/>
        </p:nvSpPr>
        <p:spPr>
          <a:xfrm>
            <a:off x="8210329" y="440747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69" name="矩形 268"/>
          <p:cNvSpPr/>
          <p:nvPr/>
        </p:nvSpPr>
        <p:spPr>
          <a:xfrm>
            <a:off x="8738864" y="440747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70" name="矩形 269"/>
          <p:cNvSpPr/>
          <p:nvPr/>
        </p:nvSpPr>
        <p:spPr>
          <a:xfrm>
            <a:off x="9280610" y="440747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71" name="矩形 270"/>
          <p:cNvSpPr/>
          <p:nvPr/>
        </p:nvSpPr>
        <p:spPr>
          <a:xfrm>
            <a:off x="9799050" y="440736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72" name="矩形 271"/>
          <p:cNvSpPr/>
          <p:nvPr/>
        </p:nvSpPr>
        <p:spPr>
          <a:xfrm>
            <a:off x="10297145" y="440726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73" name="矩形 272"/>
          <p:cNvSpPr/>
          <p:nvPr/>
        </p:nvSpPr>
        <p:spPr>
          <a:xfrm>
            <a:off x="10825680" y="440726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74" name="矩形 273"/>
          <p:cNvSpPr/>
          <p:nvPr/>
        </p:nvSpPr>
        <p:spPr>
          <a:xfrm>
            <a:off x="3101178" y="355640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75" name="矩形 274"/>
          <p:cNvSpPr/>
          <p:nvPr/>
        </p:nvSpPr>
        <p:spPr>
          <a:xfrm>
            <a:off x="3619618" y="355630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276" name="矩形 275"/>
          <p:cNvSpPr/>
          <p:nvPr/>
        </p:nvSpPr>
        <p:spPr>
          <a:xfrm>
            <a:off x="4117713" y="355619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77" name="矩形 276"/>
          <p:cNvSpPr/>
          <p:nvPr/>
        </p:nvSpPr>
        <p:spPr>
          <a:xfrm>
            <a:off x="4646248" y="3556194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278" name="矩形 277"/>
          <p:cNvSpPr/>
          <p:nvPr/>
        </p:nvSpPr>
        <p:spPr>
          <a:xfrm>
            <a:off x="5160921" y="355565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79" name="矩形 278"/>
          <p:cNvSpPr/>
          <p:nvPr/>
        </p:nvSpPr>
        <p:spPr>
          <a:xfrm>
            <a:off x="5679361" y="355554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0" name="矩形 279"/>
          <p:cNvSpPr/>
          <p:nvPr/>
        </p:nvSpPr>
        <p:spPr>
          <a:xfrm>
            <a:off x="6177456" y="355543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281" name="矩形 280"/>
          <p:cNvSpPr/>
          <p:nvPr/>
        </p:nvSpPr>
        <p:spPr>
          <a:xfrm>
            <a:off x="6705991" y="355543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2" name="矩形 281"/>
          <p:cNvSpPr/>
          <p:nvPr/>
        </p:nvSpPr>
        <p:spPr>
          <a:xfrm>
            <a:off x="7193794" y="355565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3" name="矩形 282"/>
          <p:cNvSpPr/>
          <p:nvPr/>
        </p:nvSpPr>
        <p:spPr>
          <a:xfrm>
            <a:off x="7712234" y="355554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4" name="矩形 283"/>
          <p:cNvSpPr/>
          <p:nvPr/>
        </p:nvSpPr>
        <p:spPr>
          <a:xfrm>
            <a:off x="8210329" y="355543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5" name="矩形 284"/>
          <p:cNvSpPr/>
          <p:nvPr/>
        </p:nvSpPr>
        <p:spPr>
          <a:xfrm>
            <a:off x="8738864" y="355543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6" name="矩形 285"/>
          <p:cNvSpPr/>
          <p:nvPr/>
        </p:nvSpPr>
        <p:spPr>
          <a:xfrm>
            <a:off x="9280610" y="355543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7" name="矩形 286"/>
          <p:cNvSpPr/>
          <p:nvPr/>
        </p:nvSpPr>
        <p:spPr>
          <a:xfrm>
            <a:off x="9799050" y="355533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8" name="矩形 287"/>
          <p:cNvSpPr/>
          <p:nvPr/>
        </p:nvSpPr>
        <p:spPr>
          <a:xfrm>
            <a:off x="10297145" y="355522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289" name="矩形 288"/>
          <p:cNvSpPr/>
          <p:nvPr/>
        </p:nvSpPr>
        <p:spPr>
          <a:xfrm>
            <a:off x="10825680" y="355522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pic>
        <p:nvPicPr>
          <p:cNvPr id="306" name="图片 30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206" y="4673195"/>
            <a:ext cx="366236" cy="366236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2" name="文本框 311"/>
              <p:cNvSpPr txBox="1"/>
              <p:nvPr/>
            </p:nvSpPr>
            <p:spPr>
              <a:xfrm>
                <a:off x="1511416" y="5653972"/>
                <a:ext cx="1769780" cy="3950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Pf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SS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Pf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12" name="文本框 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416" y="5653972"/>
                <a:ext cx="1769780" cy="395045"/>
              </a:xfrm>
              <a:prstGeom prst="rect">
                <a:avLst/>
              </a:prstGeom>
              <a:blipFill>
                <a:blip r:embed="rId9"/>
                <a:stretch>
                  <a:fillRect t="-7692"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文本框 312"/>
          <p:cNvSpPr txBox="1"/>
          <p:nvPr/>
        </p:nvSpPr>
        <p:spPr>
          <a:xfrm>
            <a:off x="1666779" y="6158193"/>
            <a:ext cx="145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i</a:t>
            </a:r>
            <a:r>
              <a:rPr lang="zh-CN" altLang="en-US"/>
              <a:t>∈</a:t>
            </a:r>
            <a:r>
              <a:rPr lang="en-US" altLang="zh-CN"/>
              <a:t>[1,k] users</a:t>
            </a:r>
          </a:p>
          <a:p>
            <a:r>
              <a:rPr lang="en-US" altLang="zh-CN"/>
              <a:t>j</a:t>
            </a:r>
            <a:r>
              <a:rPr lang="zh-CN" altLang="en-US"/>
              <a:t>∈</a:t>
            </a:r>
            <a:r>
              <a:rPr lang="en-US" altLang="zh-CN"/>
              <a:t>[1,P] bits</a:t>
            </a:r>
            <a:endParaRPr lang="zh-CN" altLang="en-US"/>
          </a:p>
        </p:txBody>
      </p:sp>
      <p:cxnSp>
        <p:nvCxnSpPr>
          <p:cNvPr id="315" name="直接箭头连接符 314"/>
          <p:cNvCxnSpPr>
            <a:stCxn id="24" idx="2"/>
          </p:cNvCxnSpPr>
          <p:nvPr/>
        </p:nvCxnSpPr>
        <p:spPr>
          <a:xfrm>
            <a:off x="1327014" y="3889679"/>
            <a:ext cx="339765" cy="17642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/>
          <p:cNvCxnSpPr>
            <a:stCxn id="73" idx="2"/>
          </p:cNvCxnSpPr>
          <p:nvPr/>
        </p:nvCxnSpPr>
        <p:spPr>
          <a:xfrm>
            <a:off x="1791034" y="4832987"/>
            <a:ext cx="295898" cy="8209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箭头连接符 318"/>
          <p:cNvCxnSpPr>
            <a:stCxn id="50" idx="2"/>
            <a:endCxn id="312" idx="0"/>
          </p:cNvCxnSpPr>
          <p:nvPr/>
        </p:nvCxnSpPr>
        <p:spPr>
          <a:xfrm flipH="1">
            <a:off x="2396306" y="4832987"/>
            <a:ext cx="235474" cy="8209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/>
          <p:cNvCxnSpPr>
            <a:endCxn id="259" idx="2"/>
          </p:cNvCxnSpPr>
          <p:nvPr/>
        </p:nvCxnSpPr>
        <p:spPr>
          <a:xfrm flipV="1">
            <a:off x="3018368" y="4833850"/>
            <a:ext cx="872123" cy="8813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文本框 322"/>
          <p:cNvSpPr txBox="1"/>
          <p:nvPr/>
        </p:nvSpPr>
        <p:spPr>
          <a:xfrm>
            <a:off x="-26021" y="744951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Advertiser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50661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矩形 129"/>
              <p:cNvSpPr/>
              <p:nvPr/>
            </p:nvSpPr>
            <p:spPr>
              <a:xfrm>
                <a:off x="91922" y="760786"/>
                <a:ext cx="2476255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1,  8,  64,  512,  4096</a:t>
                </a:r>
                <a:endParaRPr lang="zh-CN" altLang="en-US" b="1"/>
              </a:p>
            </p:txBody>
          </p:sp>
        </mc:Choice>
        <mc:Fallback xmlns="">
          <p:sp>
            <p:nvSpPr>
              <p:cNvPr id="130" name="矩形 1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22" y="760786"/>
                <a:ext cx="2476255" cy="369332"/>
              </a:xfrm>
              <a:prstGeom prst="rect">
                <a:avLst/>
              </a:prstGeom>
              <a:blipFill>
                <a:blip r:embed="rId13"/>
                <a:stretch>
                  <a:fillRect t="-11667" r="-2463" b="-25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矩形 108"/>
          <p:cNvSpPr/>
          <p:nvPr/>
        </p:nvSpPr>
        <p:spPr>
          <a:xfrm>
            <a:off x="2025563" y="1408239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2025563" y="2318527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2025563" y="3255666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2025563" y="4171706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2035946" y="5056709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/>
              <p:cNvSpPr txBox="1"/>
              <p:nvPr/>
            </p:nvSpPr>
            <p:spPr>
              <a:xfrm>
                <a:off x="2225957" y="1505454"/>
                <a:ext cx="61125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=6</a:t>
                </a:r>
                <a:endParaRPr lang="zh-CN" altLang="en-US"/>
              </a:p>
            </p:txBody>
          </p:sp>
        </mc:Choice>
        <mc:Fallback xmlns="">
          <p:sp>
            <p:nvSpPr>
              <p:cNvPr id="115" name="文本框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57" y="1505454"/>
                <a:ext cx="611258" cy="276999"/>
              </a:xfrm>
              <a:prstGeom prst="rect">
                <a:avLst/>
              </a:prstGeom>
              <a:blipFill>
                <a:blip r:embed="rId14"/>
                <a:stretch>
                  <a:fillRect l="-13000" t="-28889" r="-24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/>
              <p:cNvSpPr txBox="1"/>
              <p:nvPr/>
            </p:nvSpPr>
            <p:spPr>
              <a:xfrm>
                <a:off x="1160300" y="1505455"/>
                <a:ext cx="530017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</a:t>
                </a:r>
                <a:endParaRPr lang="zh-CN" altLang="en-US"/>
              </a:p>
            </p:txBody>
          </p:sp>
        </mc:Choice>
        <mc:Fallback xmlns="">
          <p:sp>
            <p:nvSpPr>
              <p:cNvPr id="116" name="文本框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300" y="1505455"/>
                <a:ext cx="530017" cy="276999"/>
              </a:xfrm>
              <a:prstGeom prst="rect">
                <a:avLst/>
              </a:prstGeom>
              <a:blipFill>
                <a:blip r:embed="rId15"/>
                <a:stretch>
                  <a:fillRect l="-14943" t="-28889" r="-26437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本框 116"/>
          <p:cNvSpPr txBox="1"/>
          <p:nvPr/>
        </p:nvSpPr>
        <p:spPr>
          <a:xfrm>
            <a:off x="160965" y="1436222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1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160965" y="3256643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3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/>
              <p:cNvSpPr txBox="1"/>
              <p:nvPr/>
            </p:nvSpPr>
            <p:spPr>
              <a:xfrm>
                <a:off x="1154978" y="3302151"/>
                <a:ext cx="65716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/>
                  <a:t>=64</a:t>
                </a:r>
                <a:endParaRPr lang="zh-CN" altLang="en-US"/>
              </a:p>
            </p:txBody>
          </p:sp>
        </mc:Choice>
        <mc:Fallback xmlns=""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78" y="3302151"/>
                <a:ext cx="657168" cy="276999"/>
              </a:xfrm>
              <a:prstGeom prst="rect">
                <a:avLst/>
              </a:prstGeom>
              <a:blipFill>
                <a:blip r:embed="rId16"/>
                <a:stretch>
                  <a:fillRect l="-12037" t="-28889" r="-21296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/>
              <p:cNvSpPr txBox="1"/>
              <p:nvPr/>
            </p:nvSpPr>
            <p:spPr>
              <a:xfrm>
                <a:off x="1154978" y="2395643"/>
                <a:ext cx="535339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/>
                  <a:t>=8</a:t>
                </a:r>
                <a:endParaRPr lang="zh-CN" altLang="en-US"/>
              </a:p>
            </p:txBody>
          </p:sp>
        </mc:Choice>
        <mc:Fallback xmlns="">
          <p:sp>
            <p:nvSpPr>
              <p:cNvPr id="124" name="文本框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78" y="2395643"/>
                <a:ext cx="535339" cy="276999"/>
              </a:xfrm>
              <a:prstGeom prst="rect">
                <a:avLst/>
              </a:prstGeom>
              <a:blipFill>
                <a:blip r:embed="rId17"/>
                <a:stretch>
                  <a:fillRect l="-14773" t="-28889" r="-26136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文本框 209"/>
          <p:cNvSpPr txBox="1"/>
          <p:nvPr/>
        </p:nvSpPr>
        <p:spPr>
          <a:xfrm>
            <a:off x="163353" y="2323504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2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160965" y="4171706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4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/>
              <p:cNvSpPr txBox="1"/>
              <p:nvPr/>
            </p:nvSpPr>
            <p:spPr>
              <a:xfrm>
                <a:off x="1159751" y="4217872"/>
                <a:ext cx="778996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/>
                  <a:t>=512</a:t>
                </a:r>
                <a:endParaRPr lang="zh-CN" altLang="en-US"/>
              </a:p>
            </p:txBody>
          </p:sp>
        </mc:Choice>
        <mc:Fallback xmlns="">
          <p:sp>
            <p:nvSpPr>
              <p:cNvPr id="212" name="文本框 2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751" y="4217872"/>
                <a:ext cx="778996" cy="276999"/>
              </a:xfrm>
              <a:prstGeom prst="rect">
                <a:avLst/>
              </a:prstGeom>
              <a:blipFill>
                <a:blip r:embed="rId18"/>
                <a:stretch>
                  <a:fillRect l="-10156" t="-28889" r="-17969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" name="文本框 212"/>
          <p:cNvSpPr txBox="1"/>
          <p:nvPr/>
        </p:nvSpPr>
        <p:spPr>
          <a:xfrm>
            <a:off x="160965" y="5058988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/>
              <p:cNvSpPr txBox="1"/>
              <p:nvPr/>
            </p:nvSpPr>
            <p:spPr>
              <a:xfrm>
                <a:off x="1037923" y="5098847"/>
                <a:ext cx="900824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/>
                  <a:t>=4096</a:t>
                </a:r>
                <a:endParaRPr lang="zh-CN" altLang="en-US"/>
              </a:p>
            </p:txBody>
          </p:sp>
        </mc:Choice>
        <mc:Fallback xmlns="">
          <p:sp>
            <p:nvSpPr>
              <p:cNvPr id="214" name="文本框 2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23" y="5098847"/>
                <a:ext cx="900824" cy="276999"/>
              </a:xfrm>
              <a:prstGeom prst="rect">
                <a:avLst/>
              </a:prstGeom>
              <a:blipFill>
                <a:blip r:embed="rId19"/>
                <a:stretch>
                  <a:fillRect l="-8784" t="-28261" r="-15541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矩形 214"/>
          <p:cNvSpPr/>
          <p:nvPr/>
        </p:nvSpPr>
        <p:spPr>
          <a:xfrm>
            <a:off x="2975267" y="140823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本框 215"/>
              <p:cNvSpPr txBox="1"/>
              <p:nvPr/>
            </p:nvSpPr>
            <p:spPr>
              <a:xfrm>
                <a:off x="2170742" y="2395643"/>
                <a:ext cx="733086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=12</a:t>
                </a:r>
                <a:endParaRPr lang="zh-CN" altLang="en-US"/>
              </a:p>
            </p:txBody>
          </p:sp>
        </mc:Choice>
        <mc:Fallback xmlns="">
          <p:sp>
            <p:nvSpPr>
              <p:cNvPr id="216" name="文本框 2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42" y="2395643"/>
                <a:ext cx="733086" cy="276999"/>
              </a:xfrm>
              <a:prstGeom prst="rect">
                <a:avLst/>
              </a:prstGeom>
              <a:blipFill>
                <a:blip r:embed="rId20"/>
                <a:stretch>
                  <a:fillRect l="-10833" t="-28889" r="-20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本框 216"/>
              <p:cNvSpPr txBox="1"/>
              <p:nvPr/>
            </p:nvSpPr>
            <p:spPr>
              <a:xfrm>
                <a:off x="2170742" y="3302810"/>
                <a:ext cx="61125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=3</a:t>
                </a:r>
                <a:endParaRPr lang="zh-CN" altLang="en-US"/>
              </a:p>
            </p:txBody>
          </p:sp>
        </mc:Choice>
        <mc:Fallback xmlns="">
          <p:sp>
            <p:nvSpPr>
              <p:cNvPr id="217" name="文本框 2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42" y="3302810"/>
                <a:ext cx="611258" cy="276999"/>
              </a:xfrm>
              <a:prstGeom prst="rect">
                <a:avLst/>
              </a:prstGeom>
              <a:blipFill>
                <a:blip r:embed="rId21"/>
                <a:stretch>
                  <a:fillRect l="-13000" t="-28889" r="-24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本框 217"/>
              <p:cNvSpPr txBox="1"/>
              <p:nvPr/>
            </p:nvSpPr>
            <p:spPr>
              <a:xfrm>
                <a:off x="2042059" y="4217872"/>
                <a:ext cx="848502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=-15</a:t>
                </a:r>
                <a:endParaRPr lang="zh-CN" altLang="en-US"/>
              </a:p>
            </p:txBody>
          </p:sp>
        </mc:Choice>
        <mc:Fallback xmlns="">
          <p:sp>
            <p:nvSpPr>
              <p:cNvPr id="218" name="文本框 2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059" y="4217872"/>
                <a:ext cx="848502" cy="276999"/>
              </a:xfrm>
              <a:prstGeom prst="rect">
                <a:avLst/>
              </a:prstGeom>
              <a:blipFill>
                <a:blip r:embed="rId22"/>
                <a:stretch>
                  <a:fillRect l="-10072" t="-28889" r="-16547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本框 218"/>
              <p:cNvSpPr txBox="1"/>
              <p:nvPr/>
            </p:nvSpPr>
            <p:spPr>
              <a:xfrm>
                <a:off x="2176491" y="5098847"/>
                <a:ext cx="726674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=-6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19" name="文本框 2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491" y="5098847"/>
                <a:ext cx="726674" cy="276999"/>
              </a:xfrm>
              <a:prstGeom prst="rect">
                <a:avLst/>
              </a:prstGeom>
              <a:blipFill>
                <a:blip r:embed="rId23"/>
                <a:stretch>
                  <a:fillRect l="-10924" t="-28261" r="-20168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矩形 219"/>
          <p:cNvSpPr/>
          <p:nvPr/>
        </p:nvSpPr>
        <p:spPr>
          <a:xfrm>
            <a:off x="138666" y="1325976"/>
            <a:ext cx="11223250" cy="4337668"/>
          </a:xfrm>
          <a:prstGeom prst="rect">
            <a:avLst/>
          </a:prstGeom>
          <a:noFill/>
          <a:ln w="38100"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1" name="图片 220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64" y="1704869"/>
            <a:ext cx="366236" cy="366236"/>
          </a:xfrm>
          <a:prstGeom prst="rect">
            <a:avLst/>
          </a:prstGeom>
          <a:effectLst/>
        </p:spPr>
      </p:pic>
      <p:pic>
        <p:nvPicPr>
          <p:cNvPr id="222" name="图片 221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64" y="2641003"/>
            <a:ext cx="366236" cy="366236"/>
          </a:xfrm>
          <a:prstGeom prst="rect">
            <a:avLst/>
          </a:prstGeom>
          <a:effectLst/>
        </p:spPr>
      </p:pic>
      <p:pic>
        <p:nvPicPr>
          <p:cNvPr id="223" name="图片 222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28" y="3541175"/>
            <a:ext cx="366236" cy="366236"/>
          </a:xfrm>
          <a:prstGeom prst="rect">
            <a:avLst/>
          </a:prstGeom>
          <a:effectLst/>
        </p:spPr>
      </p:pic>
      <p:pic>
        <p:nvPicPr>
          <p:cNvPr id="224" name="图片 223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76" y="4456238"/>
            <a:ext cx="366236" cy="366236"/>
          </a:xfrm>
          <a:prstGeom prst="rect">
            <a:avLst/>
          </a:prstGeom>
          <a:effectLst/>
        </p:spPr>
      </p:pic>
      <p:pic>
        <p:nvPicPr>
          <p:cNvPr id="225" name="图片 224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67" y="5305716"/>
            <a:ext cx="366236" cy="366236"/>
          </a:xfrm>
          <a:prstGeom prst="rect">
            <a:avLst/>
          </a:prstGeom>
          <a:effectLst/>
        </p:spPr>
      </p:pic>
      <p:sp>
        <p:nvSpPr>
          <p:cNvPr id="226" name="矩形 225"/>
          <p:cNvSpPr/>
          <p:nvPr/>
        </p:nvSpPr>
        <p:spPr>
          <a:xfrm>
            <a:off x="3493707" y="140813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27" name="矩形 226"/>
          <p:cNvSpPr/>
          <p:nvPr/>
        </p:nvSpPr>
        <p:spPr>
          <a:xfrm>
            <a:off x="3991802" y="140802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28" name="矩形 227"/>
          <p:cNvSpPr/>
          <p:nvPr/>
        </p:nvSpPr>
        <p:spPr>
          <a:xfrm>
            <a:off x="4520337" y="140802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29" name="矩形 228"/>
          <p:cNvSpPr/>
          <p:nvPr/>
        </p:nvSpPr>
        <p:spPr>
          <a:xfrm>
            <a:off x="5035010" y="140748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0" name="矩形 229"/>
          <p:cNvSpPr/>
          <p:nvPr/>
        </p:nvSpPr>
        <p:spPr>
          <a:xfrm>
            <a:off x="5553450" y="140737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1" name="矩形 230"/>
          <p:cNvSpPr/>
          <p:nvPr/>
        </p:nvSpPr>
        <p:spPr>
          <a:xfrm>
            <a:off x="6051545" y="14072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32" name="矩形 231"/>
          <p:cNvSpPr/>
          <p:nvPr/>
        </p:nvSpPr>
        <p:spPr>
          <a:xfrm>
            <a:off x="6580080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3" name="矩形 232"/>
          <p:cNvSpPr/>
          <p:nvPr/>
        </p:nvSpPr>
        <p:spPr>
          <a:xfrm>
            <a:off x="7067883" y="140748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4" name="矩形 233"/>
          <p:cNvSpPr/>
          <p:nvPr/>
        </p:nvSpPr>
        <p:spPr>
          <a:xfrm>
            <a:off x="7586323" y="140737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5" name="矩形 234"/>
          <p:cNvSpPr/>
          <p:nvPr/>
        </p:nvSpPr>
        <p:spPr>
          <a:xfrm>
            <a:off x="8084418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6" name="矩形 235"/>
          <p:cNvSpPr/>
          <p:nvPr/>
        </p:nvSpPr>
        <p:spPr>
          <a:xfrm>
            <a:off x="8612953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7" name="矩形 236"/>
          <p:cNvSpPr/>
          <p:nvPr/>
        </p:nvSpPr>
        <p:spPr>
          <a:xfrm>
            <a:off x="9154699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8" name="矩形 237"/>
          <p:cNvSpPr/>
          <p:nvPr/>
        </p:nvSpPr>
        <p:spPr>
          <a:xfrm>
            <a:off x="9673139" y="14071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9" name="矩形 238"/>
          <p:cNvSpPr/>
          <p:nvPr/>
        </p:nvSpPr>
        <p:spPr>
          <a:xfrm>
            <a:off x="10171234" y="14070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40" name="矩形 239"/>
          <p:cNvSpPr/>
          <p:nvPr/>
        </p:nvSpPr>
        <p:spPr>
          <a:xfrm>
            <a:off x="10699769" y="14070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41" name="矩形 240"/>
          <p:cNvSpPr/>
          <p:nvPr/>
        </p:nvSpPr>
        <p:spPr>
          <a:xfrm>
            <a:off x="2975267" y="231852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2" name="矩形 241"/>
          <p:cNvSpPr/>
          <p:nvPr/>
        </p:nvSpPr>
        <p:spPr>
          <a:xfrm>
            <a:off x="3493707" y="231842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3" name="矩形 242"/>
          <p:cNvSpPr/>
          <p:nvPr/>
        </p:nvSpPr>
        <p:spPr>
          <a:xfrm>
            <a:off x="3991802" y="231831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4" name="矩形 243"/>
          <p:cNvSpPr/>
          <p:nvPr/>
        </p:nvSpPr>
        <p:spPr>
          <a:xfrm>
            <a:off x="4520337" y="231831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5" name="矩形 244"/>
          <p:cNvSpPr/>
          <p:nvPr/>
        </p:nvSpPr>
        <p:spPr>
          <a:xfrm>
            <a:off x="5035010" y="231777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6" name="矩形 245"/>
          <p:cNvSpPr/>
          <p:nvPr/>
        </p:nvSpPr>
        <p:spPr>
          <a:xfrm>
            <a:off x="5553450" y="2317664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矩形 246"/>
          <p:cNvSpPr/>
          <p:nvPr/>
        </p:nvSpPr>
        <p:spPr>
          <a:xfrm>
            <a:off x="6051545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8" name="矩形 247"/>
          <p:cNvSpPr/>
          <p:nvPr/>
        </p:nvSpPr>
        <p:spPr>
          <a:xfrm>
            <a:off x="6580080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9" name="矩形 248"/>
          <p:cNvSpPr/>
          <p:nvPr/>
        </p:nvSpPr>
        <p:spPr>
          <a:xfrm>
            <a:off x="7067883" y="231777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" name="矩形 249"/>
          <p:cNvSpPr/>
          <p:nvPr/>
        </p:nvSpPr>
        <p:spPr>
          <a:xfrm>
            <a:off x="7586323" y="231766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1" name="矩形 250"/>
          <p:cNvSpPr/>
          <p:nvPr/>
        </p:nvSpPr>
        <p:spPr>
          <a:xfrm>
            <a:off x="8084418" y="231755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8612953" y="231755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9154699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4" name="矩形 253"/>
          <p:cNvSpPr/>
          <p:nvPr/>
        </p:nvSpPr>
        <p:spPr>
          <a:xfrm>
            <a:off x="9673139" y="231745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5" name="矩形 254"/>
          <p:cNvSpPr/>
          <p:nvPr/>
        </p:nvSpPr>
        <p:spPr>
          <a:xfrm>
            <a:off x="10171234" y="2317343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矩形 255"/>
          <p:cNvSpPr/>
          <p:nvPr/>
        </p:nvSpPr>
        <p:spPr>
          <a:xfrm>
            <a:off x="10699769" y="231734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7" name="矩形 256"/>
          <p:cNvSpPr/>
          <p:nvPr/>
        </p:nvSpPr>
        <p:spPr>
          <a:xfrm>
            <a:off x="2975267" y="325642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58" name="矩形 257"/>
          <p:cNvSpPr/>
          <p:nvPr/>
        </p:nvSpPr>
        <p:spPr>
          <a:xfrm>
            <a:off x="3493707" y="325631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3991802" y="32562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0" name="矩形 259"/>
          <p:cNvSpPr/>
          <p:nvPr/>
        </p:nvSpPr>
        <p:spPr>
          <a:xfrm>
            <a:off x="4520337" y="32562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1" name="矩形 260"/>
          <p:cNvSpPr/>
          <p:nvPr/>
        </p:nvSpPr>
        <p:spPr>
          <a:xfrm>
            <a:off x="5035010" y="32556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5553450" y="32555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3" name="矩形 262"/>
          <p:cNvSpPr/>
          <p:nvPr/>
        </p:nvSpPr>
        <p:spPr>
          <a:xfrm>
            <a:off x="6051545" y="325545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6580080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5" name="矩形 264"/>
          <p:cNvSpPr/>
          <p:nvPr/>
        </p:nvSpPr>
        <p:spPr>
          <a:xfrm>
            <a:off x="7067883" y="32556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矩形 265"/>
          <p:cNvSpPr/>
          <p:nvPr/>
        </p:nvSpPr>
        <p:spPr>
          <a:xfrm>
            <a:off x="7586323" y="32555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7" name="矩形 266"/>
          <p:cNvSpPr/>
          <p:nvPr/>
        </p:nvSpPr>
        <p:spPr>
          <a:xfrm>
            <a:off x="8084418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8" name="矩形 267"/>
          <p:cNvSpPr/>
          <p:nvPr/>
        </p:nvSpPr>
        <p:spPr>
          <a:xfrm>
            <a:off x="8612953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9" name="矩形 268"/>
          <p:cNvSpPr/>
          <p:nvPr/>
        </p:nvSpPr>
        <p:spPr>
          <a:xfrm>
            <a:off x="9154699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0" name="矩形 269"/>
          <p:cNvSpPr/>
          <p:nvPr/>
        </p:nvSpPr>
        <p:spPr>
          <a:xfrm>
            <a:off x="9673139" y="325534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1" name="矩形 270"/>
          <p:cNvSpPr/>
          <p:nvPr/>
        </p:nvSpPr>
        <p:spPr>
          <a:xfrm>
            <a:off x="10171234" y="325524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矩形 271"/>
          <p:cNvSpPr/>
          <p:nvPr/>
        </p:nvSpPr>
        <p:spPr>
          <a:xfrm>
            <a:off x="10699769" y="32552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3" name="矩形 272"/>
          <p:cNvSpPr/>
          <p:nvPr/>
        </p:nvSpPr>
        <p:spPr>
          <a:xfrm>
            <a:off x="2977015" y="416629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4" name="矩形 273"/>
          <p:cNvSpPr/>
          <p:nvPr/>
        </p:nvSpPr>
        <p:spPr>
          <a:xfrm>
            <a:off x="3495455" y="416618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5" name="矩形 274"/>
          <p:cNvSpPr/>
          <p:nvPr/>
        </p:nvSpPr>
        <p:spPr>
          <a:xfrm>
            <a:off x="3993550" y="416607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6" name="矩形 275"/>
          <p:cNvSpPr/>
          <p:nvPr/>
        </p:nvSpPr>
        <p:spPr>
          <a:xfrm>
            <a:off x="4522085" y="416607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矩形 276"/>
          <p:cNvSpPr/>
          <p:nvPr/>
        </p:nvSpPr>
        <p:spPr>
          <a:xfrm>
            <a:off x="5036758" y="416553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8" name="矩形 277"/>
          <p:cNvSpPr/>
          <p:nvPr/>
        </p:nvSpPr>
        <p:spPr>
          <a:xfrm>
            <a:off x="5555198" y="41654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9" name="矩形 278"/>
          <p:cNvSpPr/>
          <p:nvPr/>
        </p:nvSpPr>
        <p:spPr>
          <a:xfrm>
            <a:off x="6053293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6581828" y="41653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1" name="矩形 280"/>
          <p:cNvSpPr/>
          <p:nvPr/>
        </p:nvSpPr>
        <p:spPr>
          <a:xfrm>
            <a:off x="7069631" y="416553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2" name="矩形 281"/>
          <p:cNvSpPr/>
          <p:nvPr/>
        </p:nvSpPr>
        <p:spPr>
          <a:xfrm>
            <a:off x="7588071" y="416542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矩形 282"/>
          <p:cNvSpPr/>
          <p:nvPr/>
        </p:nvSpPr>
        <p:spPr>
          <a:xfrm>
            <a:off x="8086166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矩形 283"/>
          <p:cNvSpPr/>
          <p:nvPr/>
        </p:nvSpPr>
        <p:spPr>
          <a:xfrm>
            <a:off x="8614701" y="41653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5" name="矩形 284"/>
          <p:cNvSpPr/>
          <p:nvPr/>
        </p:nvSpPr>
        <p:spPr>
          <a:xfrm>
            <a:off x="9156447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/>
          <p:cNvSpPr/>
          <p:nvPr/>
        </p:nvSpPr>
        <p:spPr>
          <a:xfrm>
            <a:off x="9674887" y="41652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7" name="矩形 286"/>
          <p:cNvSpPr/>
          <p:nvPr/>
        </p:nvSpPr>
        <p:spPr>
          <a:xfrm>
            <a:off x="10172982" y="416510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8" name="矩形 287"/>
          <p:cNvSpPr/>
          <p:nvPr/>
        </p:nvSpPr>
        <p:spPr>
          <a:xfrm>
            <a:off x="10701517" y="416510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2975267" y="506048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0" name="矩形 289"/>
          <p:cNvSpPr/>
          <p:nvPr/>
        </p:nvSpPr>
        <p:spPr>
          <a:xfrm>
            <a:off x="3493707" y="506037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矩形 290"/>
          <p:cNvSpPr/>
          <p:nvPr/>
        </p:nvSpPr>
        <p:spPr>
          <a:xfrm>
            <a:off x="3991802" y="506027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4520337" y="506027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3" name="矩形 292"/>
          <p:cNvSpPr/>
          <p:nvPr/>
        </p:nvSpPr>
        <p:spPr>
          <a:xfrm>
            <a:off x="5035010" y="50597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4" name="矩形 293"/>
          <p:cNvSpPr/>
          <p:nvPr/>
        </p:nvSpPr>
        <p:spPr>
          <a:xfrm>
            <a:off x="5553450" y="50596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5" name="矩形 294"/>
          <p:cNvSpPr/>
          <p:nvPr/>
        </p:nvSpPr>
        <p:spPr>
          <a:xfrm>
            <a:off x="6051545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6" name="矩形 295"/>
          <p:cNvSpPr/>
          <p:nvPr/>
        </p:nvSpPr>
        <p:spPr>
          <a:xfrm>
            <a:off x="6580080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7" name="矩形 296"/>
          <p:cNvSpPr/>
          <p:nvPr/>
        </p:nvSpPr>
        <p:spPr>
          <a:xfrm>
            <a:off x="7067883" y="50597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8" name="矩形 297"/>
          <p:cNvSpPr/>
          <p:nvPr/>
        </p:nvSpPr>
        <p:spPr>
          <a:xfrm>
            <a:off x="7586323" y="50596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矩形 298"/>
          <p:cNvSpPr/>
          <p:nvPr/>
        </p:nvSpPr>
        <p:spPr>
          <a:xfrm>
            <a:off x="8084418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0" name="矩形 299"/>
          <p:cNvSpPr/>
          <p:nvPr/>
        </p:nvSpPr>
        <p:spPr>
          <a:xfrm>
            <a:off x="8612953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1" name="矩形 300"/>
          <p:cNvSpPr/>
          <p:nvPr/>
        </p:nvSpPr>
        <p:spPr>
          <a:xfrm>
            <a:off x="9154699" y="505951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矩形 301"/>
          <p:cNvSpPr/>
          <p:nvPr/>
        </p:nvSpPr>
        <p:spPr>
          <a:xfrm>
            <a:off x="9673139" y="505940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3" name="矩形 302"/>
          <p:cNvSpPr/>
          <p:nvPr/>
        </p:nvSpPr>
        <p:spPr>
          <a:xfrm>
            <a:off x="10171234" y="505930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10699769" y="505930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8427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上箭头 142"/>
          <p:cNvSpPr/>
          <p:nvPr/>
        </p:nvSpPr>
        <p:spPr>
          <a:xfrm>
            <a:off x="3610616" y="5747238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上箭头 143"/>
          <p:cNvSpPr/>
          <p:nvPr/>
        </p:nvSpPr>
        <p:spPr>
          <a:xfrm>
            <a:off x="4105156" y="5745906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上箭头 145"/>
          <p:cNvSpPr/>
          <p:nvPr/>
        </p:nvSpPr>
        <p:spPr>
          <a:xfrm>
            <a:off x="7699677" y="5740293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上箭头 146"/>
          <p:cNvSpPr/>
          <p:nvPr/>
        </p:nvSpPr>
        <p:spPr>
          <a:xfrm>
            <a:off x="9268053" y="5746683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上箭头 147"/>
          <p:cNvSpPr/>
          <p:nvPr/>
        </p:nvSpPr>
        <p:spPr>
          <a:xfrm>
            <a:off x="10261289" y="5746683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381545" y="6488668"/>
            <a:ext cx="30008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237707" y="6144606"/>
            <a:ext cx="787395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/>
              <a:t>Sum ?</a:t>
            </a:r>
            <a:endParaRPr lang="zh-CN" altLang="en-US"/>
          </a:p>
        </p:txBody>
      </p:sp>
      <p:sp>
        <p:nvSpPr>
          <p:cNvPr id="198" name="文本框 197"/>
          <p:cNvSpPr txBox="1"/>
          <p:nvPr/>
        </p:nvSpPr>
        <p:spPr>
          <a:xfrm>
            <a:off x="1760691" y="498092"/>
            <a:ext cx="582211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Req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11487423" y="481924"/>
            <a:ext cx="30008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矩形 306"/>
          <p:cNvSpPr/>
          <p:nvPr/>
        </p:nvSpPr>
        <p:spPr>
          <a:xfrm>
            <a:off x="2975267" y="46126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08" name="矩形 307"/>
          <p:cNvSpPr/>
          <p:nvPr/>
        </p:nvSpPr>
        <p:spPr>
          <a:xfrm>
            <a:off x="3493707" y="46115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09" name="矩形 308"/>
          <p:cNvSpPr/>
          <p:nvPr/>
        </p:nvSpPr>
        <p:spPr>
          <a:xfrm>
            <a:off x="3991802" y="46105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10" name="矩形 309"/>
          <p:cNvSpPr/>
          <p:nvPr/>
        </p:nvSpPr>
        <p:spPr>
          <a:xfrm>
            <a:off x="4520337" y="46105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1" name="矩形 310"/>
          <p:cNvSpPr/>
          <p:nvPr/>
        </p:nvSpPr>
        <p:spPr>
          <a:xfrm>
            <a:off x="5035010" y="46051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2" name="矩形 311"/>
          <p:cNvSpPr/>
          <p:nvPr/>
        </p:nvSpPr>
        <p:spPr>
          <a:xfrm>
            <a:off x="5553450" y="46040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3" name="矩形 312"/>
          <p:cNvSpPr/>
          <p:nvPr/>
        </p:nvSpPr>
        <p:spPr>
          <a:xfrm>
            <a:off x="6051545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4" name="矩形 313"/>
          <p:cNvSpPr/>
          <p:nvPr/>
        </p:nvSpPr>
        <p:spPr>
          <a:xfrm>
            <a:off x="6580080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5" name="矩形 314"/>
          <p:cNvSpPr/>
          <p:nvPr/>
        </p:nvSpPr>
        <p:spPr>
          <a:xfrm>
            <a:off x="7067883" y="46051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6" name="矩形 315"/>
          <p:cNvSpPr/>
          <p:nvPr/>
        </p:nvSpPr>
        <p:spPr>
          <a:xfrm>
            <a:off x="7586323" y="460403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17" name="矩形 316"/>
          <p:cNvSpPr/>
          <p:nvPr/>
        </p:nvSpPr>
        <p:spPr>
          <a:xfrm>
            <a:off x="8084418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8" name="矩形 317"/>
          <p:cNvSpPr/>
          <p:nvPr/>
        </p:nvSpPr>
        <p:spPr>
          <a:xfrm>
            <a:off x="8612953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9" name="矩形 318"/>
          <p:cNvSpPr/>
          <p:nvPr/>
        </p:nvSpPr>
        <p:spPr>
          <a:xfrm>
            <a:off x="9154699" y="460296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20" name="矩形 319"/>
          <p:cNvSpPr/>
          <p:nvPr/>
        </p:nvSpPr>
        <p:spPr>
          <a:xfrm>
            <a:off x="9673139" y="46018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21" name="矩形 320"/>
          <p:cNvSpPr/>
          <p:nvPr/>
        </p:nvSpPr>
        <p:spPr>
          <a:xfrm>
            <a:off x="10171234" y="46008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22" name="矩形 321"/>
          <p:cNvSpPr/>
          <p:nvPr/>
        </p:nvSpPr>
        <p:spPr>
          <a:xfrm>
            <a:off x="10699769" y="46008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23" name="矩形 322"/>
          <p:cNvSpPr/>
          <p:nvPr/>
        </p:nvSpPr>
        <p:spPr>
          <a:xfrm>
            <a:off x="160966" y="239138"/>
            <a:ext cx="11202360" cy="88724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上箭头 324"/>
          <p:cNvSpPr/>
          <p:nvPr/>
        </p:nvSpPr>
        <p:spPr>
          <a:xfrm>
            <a:off x="2385717" y="5767039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/>
          <p:cNvSpPr/>
          <p:nvPr/>
        </p:nvSpPr>
        <p:spPr>
          <a:xfrm>
            <a:off x="2025563" y="1408239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2025563" y="2318527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2025563" y="3255666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025563" y="4171706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2035946" y="5056709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/>
              <p:cNvSpPr txBox="1"/>
              <p:nvPr/>
            </p:nvSpPr>
            <p:spPr>
              <a:xfrm>
                <a:off x="2225957" y="1505454"/>
                <a:ext cx="61125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=6</a:t>
                </a:r>
                <a:endParaRPr lang="zh-CN" altLang="en-US"/>
              </a:p>
            </p:txBody>
          </p:sp>
        </mc:Choice>
        <mc:Fallback xmlns="">
          <p:sp>
            <p:nvSpPr>
              <p:cNvPr id="140" name="文本框 1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57" y="1505454"/>
                <a:ext cx="611258" cy="276999"/>
              </a:xfrm>
              <a:prstGeom prst="rect">
                <a:avLst/>
              </a:prstGeom>
              <a:blipFill>
                <a:blip r:embed="rId2"/>
                <a:stretch>
                  <a:fillRect l="-13000" t="-28889" r="-24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/>
              <p:cNvSpPr txBox="1"/>
              <p:nvPr/>
            </p:nvSpPr>
            <p:spPr>
              <a:xfrm>
                <a:off x="1160300" y="1505455"/>
                <a:ext cx="530017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</a:t>
                </a:r>
                <a:endParaRPr lang="zh-CN" altLang="en-US"/>
              </a:p>
            </p:txBody>
          </p:sp>
        </mc:Choice>
        <mc:Fallback xmlns=""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300" y="1505455"/>
                <a:ext cx="530017" cy="276999"/>
              </a:xfrm>
              <a:prstGeom prst="rect">
                <a:avLst/>
              </a:prstGeom>
              <a:blipFill>
                <a:blip r:embed="rId3"/>
                <a:stretch>
                  <a:fillRect l="-14943" t="-28889" r="-26437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文本框 141"/>
          <p:cNvSpPr txBox="1"/>
          <p:nvPr/>
        </p:nvSpPr>
        <p:spPr>
          <a:xfrm>
            <a:off x="160965" y="1436222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1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60965" y="3256643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3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/>
              <p:cNvSpPr txBox="1"/>
              <p:nvPr/>
            </p:nvSpPr>
            <p:spPr>
              <a:xfrm>
                <a:off x="1154978" y="3302151"/>
                <a:ext cx="65716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/>
                  <a:t>=64</a:t>
                </a:r>
                <a:endParaRPr lang="zh-CN" altLang="en-US"/>
              </a:p>
            </p:txBody>
          </p:sp>
        </mc:Choice>
        <mc:Fallback xmlns="">
          <p:sp>
            <p:nvSpPr>
              <p:cNvPr id="149" name="文本框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78" y="3302151"/>
                <a:ext cx="657168" cy="276999"/>
              </a:xfrm>
              <a:prstGeom prst="rect">
                <a:avLst/>
              </a:prstGeom>
              <a:blipFill>
                <a:blip r:embed="rId4"/>
                <a:stretch>
                  <a:fillRect l="-12037" t="-28889" r="-21296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/>
              <p:cNvSpPr txBox="1"/>
              <p:nvPr/>
            </p:nvSpPr>
            <p:spPr>
              <a:xfrm>
                <a:off x="1154978" y="2395643"/>
                <a:ext cx="535339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/>
                  <a:t>=8</a:t>
                </a:r>
                <a:endParaRPr lang="zh-CN" altLang="en-US"/>
              </a:p>
            </p:txBody>
          </p:sp>
        </mc:Choice>
        <mc:Fallback xmlns="">
          <p:sp>
            <p:nvSpPr>
              <p:cNvPr id="150" name="文本框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78" y="2395643"/>
                <a:ext cx="535339" cy="276999"/>
              </a:xfrm>
              <a:prstGeom prst="rect">
                <a:avLst/>
              </a:prstGeom>
              <a:blipFill>
                <a:blip r:embed="rId5"/>
                <a:stretch>
                  <a:fillRect l="-14773" t="-28889" r="-26136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文本框 150"/>
          <p:cNvSpPr txBox="1"/>
          <p:nvPr/>
        </p:nvSpPr>
        <p:spPr>
          <a:xfrm>
            <a:off x="163353" y="2323504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2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160965" y="4171706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4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/>
              <p:cNvSpPr txBox="1"/>
              <p:nvPr/>
            </p:nvSpPr>
            <p:spPr>
              <a:xfrm>
                <a:off x="1159751" y="4217872"/>
                <a:ext cx="778996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/>
                  <a:t>=512</a:t>
                </a:r>
                <a:endParaRPr lang="zh-CN" altLang="en-US"/>
              </a:p>
            </p:txBody>
          </p:sp>
        </mc:Choice>
        <mc:Fallback xmlns="">
          <p:sp>
            <p:nvSpPr>
              <p:cNvPr id="153" name="文本框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751" y="4217872"/>
                <a:ext cx="778996" cy="276999"/>
              </a:xfrm>
              <a:prstGeom prst="rect">
                <a:avLst/>
              </a:prstGeom>
              <a:blipFill>
                <a:blip r:embed="rId6"/>
                <a:stretch>
                  <a:fillRect l="-10156" t="-28889" r="-17969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文本框 153"/>
          <p:cNvSpPr txBox="1"/>
          <p:nvPr/>
        </p:nvSpPr>
        <p:spPr>
          <a:xfrm>
            <a:off x="160965" y="5058988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/>
              <p:cNvSpPr txBox="1"/>
              <p:nvPr/>
            </p:nvSpPr>
            <p:spPr>
              <a:xfrm>
                <a:off x="1037923" y="5098847"/>
                <a:ext cx="900824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/>
                  <a:t>=4096</a:t>
                </a:r>
                <a:endParaRPr lang="zh-CN" altLang="en-US"/>
              </a:p>
            </p:txBody>
          </p:sp>
        </mc:Choice>
        <mc:Fallback xmlns="">
          <p:sp>
            <p:nvSpPr>
              <p:cNvPr id="155" name="文本框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23" y="5098847"/>
                <a:ext cx="900824" cy="276999"/>
              </a:xfrm>
              <a:prstGeom prst="rect">
                <a:avLst/>
              </a:prstGeom>
              <a:blipFill>
                <a:blip r:embed="rId7"/>
                <a:stretch>
                  <a:fillRect l="-8784" t="-28261" r="-15541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矩形 155"/>
          <p:cNvSpPr/>
          <p:nvPr/>
        </p:nvSpPr>
        <p:spPr>
          <a:xfrm>
            <a:off x="2975267" y="140823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/>
              <p:cNvSpPr txBox="1"/>
              <p:nvPr/>
            </p:nvSpPr>
            <p:spPr>
              <a:xfrm>
                <a:off x="2170742" y="2395643"/>
                <a:ext cx="733086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=12</a:t>
                </a:r>
                <a:endParaRPr lang="zh-CN" altLang="en-US"/>
              </a:p>
            </p:txBody>
          </p:sp>
        </mc:Choice>
        <mc:Fallback xmlns="">
          <p:sp>
            <p:nvSpPr>
              <p:cNvPr id="157" name="文本框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42" y="2395643"/>
                <a:ext cx="733086" cy="276999"/>
              </a:xfrm>
              <a:prstGeom prst="rect">
                <a:avLst/>
              </a:prstGeom>
              <a:blipFill>
                <a:blip r:embed="rId8"/>
                <a:stretch>
                  <a:fillRect l="-10833" t="-28889" r="-20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/>
              <p:cNvSpPr txBox="1"/>
              <p:nvPr/>
            </p:nvSpPr>
            <p:spPr>
              <a:xfrm>
                <a:off x="2170742" y="3302810"/>
                <a:ext cx="61125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=3</a:t>
                </a:r>
                <a:endParaRPr lang="zh-CN" altLang="en-US"/>
              </a:p>
            </p:txBody>
          </p:sp>
        </mc:Choice>
        <mc:Fallback xmlns="">
          <p:sp>
            <p:nvSpPr>
              <p:cNvPr id="160" name="文本框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42" y="3302810"/>
                <a:ext cx="611258" cy="276999"/>
              </a:xfrm>
              <a:prstGeom prst="rect">
                <a:avLst/>
              </a:prstGeom>
              <a:blipFill>
                <a:blip r:embed="rId9"/>
                <a:stretch>
                  <a:fillRect l="-13000" t="-28889" r="-24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/>
              <p:cNvSpPr txBox="1"/>
              <p:nvPr/>
            </p:nvSpPr>
            <p:spPr>
              <a:xfrm>
                <a:off x="2042059" y="4217872"/>
                <a:ext cx="848502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=-15</a:t>
                </a:r>
                <a:endParaRPr lang="zh-CN" altLang="en-US"/>
              </a:p>
            </p:txBody>
          </p:sp>
        </mc:Choice>
        <mc:Fallback xmlns="">
          <p:sp>
            <p:nvSpPr>
              <p:cNvPr id="161" name="文本框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059" y="4217872"/>
                <a:ext cx="848502" cy="276999"/>
              </a:xfrm>
              <a:prstGeom prst="rect">
                <a:avLst/>
              </a:prstGeom>
              <a:blipFill>
                <a:blip r:embed="rId10"/>
                <a:stretch>
                  <a:fillRect l="-10072" t="-28889" r="-16547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/>
              <p:cNvSpPr txBox="1"/>
              <p:nvPr/>
            </p:nvSpPr>
            <p:spPr>
              <a:xfrm>
                <a:off x="2176491" y="5098847"/>
                <a:ext cx="726674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=-6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62" name="文本框 1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491" y="5098847"/>
                <a:ext cx="726674" cy="276999"/>
              </a:xfrm>
              <a:prstGeom prst="rect">
                <a:avLst/>
              </a:prstGeom>
              <a:blipFill>
                <a:blip r:embed="rId11"/>
                <a:stretch>
                  <a:fillRect l="-10924" t="-28261" r="-20168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矩形 162"/>
          <p:cNvSpPr/>
          <p:nvPr/>
        </p:nvSpPr>
        <p:spPr>
          <a:xfrm>
            <a:off x="138666" y="1325976"/>
            <a:ext cx="11223250" cy="4337668"/>
          </a:xfrm>
          <a:prstGeom prst="rect">
            <a:avLst/>
          </a:prstGeom>
          <a:noFill/>
          <a:ln w="38100"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4" name="图片 16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64" y="1704869"/>
            <a:ext cx="366236" cy="366236"/>
          </a:xfrm>
          <a:prstGeom prst="rect">
            <a:avLst/>
          </a:prstGeom>
          <a:effectLst/>
        </p:spPr>
      </p:pic>
      <p:pic>
        <p:nvPicPr>
          <p:cNvPr id="165" name="图片 16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64" y="2641003"/>
            <a:ext cx="366236" cy="366236"/>
          </a:xfrm>
          <a:prstGeom prst="rect">
            <a:avLst/>
          </a:prstGeom>
          <a:effectLst/>
        </p:spPr>
      </p:pic>
      <p:pic>
        <p:nvPicPr>
          <p:cNvPr id="166" name="图片 16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28" y="3541175"/>
            <a:ext cx="366236" cy="366236"/>
          </a:xfrm>
          <a:prstGeom prst="rect">
            <a:avLst/>
          </a:prstGeom>
          <a:effectLst/>
        </p:spPr>
      </p:pic>
      <p:pic>
        <p:nvPicPr>
          <p:cNvPr id="167" name="图片 16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76" y="4456238"/>
            <a:ext cx="366236" cy="366236"/>
          </a:xfrm>
          <a:prstGeom prst="rect">
            <a:avLst/>
          </a:prstGeom>
          <a:effectLst/>
        </p:spPr>
      </p:pic>
      <p:pic>
        <p:nvPicPr>
          <p:cNvPr id="168" name="图片 16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67" y="5305716"/>
            <a:ext cx="366236" cy="366236"/>
          </a:xfrm>
          <a:prstGeom prst="rect">
            <a:avLst/>
          </a:prstGeom>
          <a:effectLst/>
        </p:spPr>
      </p:pic>
      <p:sp>
        <p:nvSpPr>
          <p:cNvPr id="169" name="矩形 168"/>
          <p:cNvSpPr/>
          <p:nvPr/>
        </p:nvSpPr>
        <p:spPr>
          <a:xfrm>
            <a:off x="3493707" y="140813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170" name="矩形 169"/>
          <p:cNvSpPr/>
          <p:nvPr/>
        </p:nvSpPr>
        <p:spPr>
          <a:xfrm>
            <a:off x="3991802" y="140802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71" name="矩形 170"/>
          <p:cNvSpPr/>
          <p:nvPr/>
        </p:nvSpPr>
        <p:spPr>
          <a:xfrm>
            <a:off x="4520337" y="140802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172" name="矩形 171"/>
          <p:cNvSpPr/>
          <p:nvPr/>
        </p:nvSpPr>
        <p:spPr>
          <a:xfrm>
            <a:off x="5035010" y="140748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73" name="矩形 172"/>
          <p:cNvSpPr/>
          <p:nvPr/>
        </p:nvSpPr>
        <p:spPr>
          <a:xfrm>
            <a:off x="5553450" y="140737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74" name="矩形 173"/>
          <p:cNvSpPr/>
          <p:nvPr/>
        </p:nvSpPr>
        <p:spPr>
          <a:xfrm>
            <a:off x="6051545" y="14072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175" name="矩形 174"/>
          <p:cNvSpPr/>
          <p:nvPr/>
        </p:nvSpPr>
        <p:spPr>
          <a:xfrm>
            <a:off x="6580080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76" name="矩形 175"/>
          <p:cNvSpPr/>
          <p:nvPr/>
        </p:nvSpPr>
        <p:spPr>
          <a:xfrm>
            <a:off x="7067883" y="140748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77" name="矩形 176"/>
          <p:cNvSpPr/>
          <p:nvPr/>
        </p:nvSpPr>
        <p:spPr>
          <a:xfrm>
            <a:off x="7586323" y="140737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78" name="矩形 177"/>
          <p:cNvSpPr/>
          <p:nvPr/>
        </p:nvSpPr>
        <p:spPr>
          <a:xfrm>
            <a:off x="8084418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79" name="矩形 178"/>
          <p:cNvSpPr/>
          <p:nvPr/>
        </p:nvSpPr>
        <p:spPr>
          <a:xfrm>
            <a:off x="8612953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80" name="矩形 179"/>
          <p:cNvSpPr/>
          <p:nvPr/>
        </p:nvSpPr>
        <p:spPr>
          <a:xfrm>
            <a:off x="9154699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81" name="矩形 180"/>
          <p:cNvSpPr/>
          <p:nvPr/>
        </p:nvSpPr>
        <p:spPr>
          <a:xfrm>
            <a:off x="9673139" y="14071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82" name="矩形 181"/>
          <p:cNvSpPr/>
          <p:nvPr/>
        </p:nvSpPr>
        <p:spPr>
          <a:xfrm>
            <a:off x="10171234" y="14070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83" name="矩形 182"/>
          <p:cNvSpPr/>
          <p:nvPr/>
        </p:nvSpPr>
        <p:spPr>
          <a:xfrm>
            <a:off x="10699769" y="14070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184" name="矩形 183"/>
          <p:cNvSpPr/>
          <p:nvPr/>
        </p:nvSpPr>
        <p:spPr>
          <a:xfrm>
            <a:off x="2975267" y="231852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85" name="矩形 184"/>
          <p:cNvSpPr/>
          <p:nvPr/>
        </p:nvSpPr>
        <p:spPr>
          <a:xfrm>
            <a:off x="3493707" y="231842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86" name="矩形 185"/>
          <p:cNvSpPr/>
          <p:nvPr/>
        </p:nvSpPr>
        <p:spPr>
          <a:xfrm>
            <a:off x="3991802" y="231831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87" name="矩形 186"/>
          <p:cNvSpPr/>
          <p:nvPr/>
        </p:nvSpPr>
        <p:spPr>
          <a:xfrm>
            <a:off x="4520337" y="231831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88" name="矩形 187"/>
          <p:cNvSpPr/>
          <p:nvPr/>
        </p:nvSpPr>
        <p:spPr>
          <a:xfrm>
            <a:off x="5035010" y="231777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89" name="矩形 188"/>
          <p:cNvSpPr/>
          <p:nvPr/>
        </p:nvSpPr>
        <p:spPr>
          <a:xfrm>
            <a:off x="5553450" y="2317664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6051545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91" name="矩形 190"/>
          <p:cNvSpPr/>
          <p:nvPr/>
        </p:nvSpPr>
        <p:spPr>
          <a:xfrm>
            <a:off x="6580080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92" name="矩形 191"/>
          <p:cNvSpPr/>
          <p:nvPr/>
        </p:nvSpPr>
        <p:spPr>
          <a:xfrm>
            <a:off x="7067883" y="231777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矩形 192"/>
          <p:cNvSpPr/>
          <p:nvPr/>
        </p:nvSpPr>
        <p:spPr>
          <a:xfrm>
            <a:off x="7586323" y="231766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94" name="矩形 193"/>
          <p:cNvSpPr/>
          <p:nvPr/>
        </p:nvSpPr>
        <p:spPr>
          <a:xfrm>
            <a:off x="8084418" y="231755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8612953" y="231755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矩形 195"/>
          <p:cNvSpPr/>
          <p:nvPr/>
        </p:nvSpPr>
        <p:spPr>
          <a:xfrm>
            <a:off x="9154699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97" name="矩形 196"/>
          <p:cNvSpPr/>
          <p:nvPr/>
        </p:nvSpPr>
        <p:spPr>
          <a:xfrm>
            <a:off x="9673139" y="231745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199" name="矩形 198"/>
          <p:cNvSpPr/>
          <p:nvPr/>
        </p:nvSpPr>
        <p:spPr>
          <a:xfrm>
            <a:off x="10171234" y="2317343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10699769" y="231734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326" name="矩形 325"/>
          <p:cNvSpPr/>
          <p:nvPr/>
        </p:nvSpPr>
        <p:spPr>
          <a:xfrm>
            <a:off x="2975267" y="325642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27" name="矩形 326"/>
          <p:cNvSpPr/>
          <p:nvPr/>
        </p:nvSpPr>
        <p:spPr>
          <a:xfrm>
            <a:off x="3493707" y="325631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8" name="矩形 327"/>
          <p:cNvSpPr/>
          <p:nvPr/>
        </p:nvSpPr>
        <p:spPr>
          <a:xfrm>
            <a:off x="3991802" y="32562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29" name="矩形 328"/>
          <p:cNvSpPr/>
          <p:nvPr/>
        </p:nvSpPr>
        <p:spPr>
          <a:xfrm>
            <a:off x="4520337" y="32562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30" name="矩形 329"/>
          <p:cNvSpPr/>
          <p:nvPr/>
        </p:nvSpPr>
        <p:spPr>
          <a:xfrm>
            <a:off x="5035010" y="32556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1" name="矩形 330"/>
          <p:cNvSpPr/>
          <p:nvPr/>
        </p:nvSpPr>
        <p:spPr>
          <a:xfrm>
            <a:off x="5553450" y="32555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32" name="矩形 331"/>
          <p:cNvSpPr/>
          <p:nvPr/>
        </p:nvSpPr>
        <p:spPr>
          <a:xfrm>
            <a:off x="6051545" y="325545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3" name="矩形 332"/>
          <p:cNvSpPr/>
          <p:nvPr/>
        </p:nvSpPr>
        <p:spPr>
          <a:xfrm>
            <a:off x="6580080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34" name="矩形 333"/>
          <p:cNvSpPr/>
          <p:nvPr/>
        </p:nvSpPr>
        <p:spPr>
          <a:xfrm>
            <a:off x="7067883" y="32556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5" name="矩形 334"/>
          <p:cNvSpPr/>
          <p:nvPr/>
        </p:nvSpPr>
        <p:spPr>
          <a:xfrm>
            <a:off x="7586323" y="32555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36" name="矩形 335"/>
          <p:cNvSpPr/>
          <p:nvPr/>
        </p:nvSpPr>
        <p:spPr>
          <a:xfrm>
            <a:off x="8084418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37" name="矩形 336"/>
          <p:cNvSpPr/>
          <p:nvPr/>
        </p:nvSpPr>
        <p:spPr>
          <a:xfrm>
            <a:off x="8612953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38" name="矩形 337"/>
          <p:cNvSpPr/>
          <p:nvPr/>
        </p:nvSpPr>
        <p:spPr>
          <a:xfrm>
            <a:off x="9154699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39" name="矩形 338"/>
          <p:cNvSpPr/>
          <p:nvPr/>
        </p:nvSpPr>
        <p:spPr>
          <a:xfrm>
            <a:off x="9673139" y="325534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40" name="矩形 339"/>
          <p:cNvSpPr/>
          <p:nvPr/>
        </p:nvSpPr>
        <p:spPr>
          <a:xfrm>
            <a:off x="10171234" y="325524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矩形 340"/>
          <p:cNvSpPr/>
          <p:nvPr/>
        </p:nvSpPr>
        <p:spPr>
          <a:xfrm>
            <a:off x="10699769" y="32552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342" name="矩形 341"/>
          <p:cNvSpPr/>
          <p:nvPr/>
        </p:nvSpPr>
        <p:spPr>
          <a:xfrm>
            <a:off x="2977015" y="416629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43" name="矩形 342"/>
          <p:cNvSpPr/>
          <p:nvPr/>
        </p:nvSpPr>
        <p:spPr>
          <a:xfrm>
            <a:off x="3495455" y="416618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44" name="矩形 343"/>
          <p:cNvSpPr/>
          <p:nvPr/>
        </p:nvSpPr>
        <p:spPr>
          <a:xfrm>
            <a:off x="3993550" y="416607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45" name="矩形 344"/>
          <p:cNvSpPr/>
          <p:nvPr/>
        </p:nvSpPr>
        <p:spPr>
          <a:xfrm>
            <a:off x="4522085" y="416607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矩形 345"/>
          <p:cNvSpPr/>
          <p:nvPr/>
        </p:nvSpPr>
        <p:spPr>
          <a:xfrm>
            <a:off x="5036758" y="416553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47" name="矩形 346"/>
          <p:cNvSpPr/>
          <p:nvPr/>
        </p:nvSpPr>
        <p:spPr>
          <a:xfrm>
            <a:off x="5555198" y="41654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48" name="矩形 347"/>
          <p:cNvSpPr/>
          <p:nvPr/>
        </p:nvSpPr>
        <p:spPr>
          <a:xfrm>
            <a:off x="6053293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9" name="矩形 348"/>
          <p:cNvSpPr/>
          <p:nvPr/>
        </p:nvSpPr>
        <p:spPr>
          <a:xfrm>
            <a:off x="6581828" y="41653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50" name="矩形 349"/>
          <p:cNvSpPr/>
          <p:nvPr/>
        </p:nvSpPr>
        <p:spPr>
          <a:xfrm>
            <a:off x="7069631" y="416553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51" name="矩形 350"/>
          <p:cNvSpPr/>
          <p:nvPr/>
        </p:nvSpPr>
        <p:spPr>
          <a:xfrm>
            <a:off x="7588071" y="416542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2" name="矩形 351"/>
          <p:cNvSpPr/>
          <p:nvPr/>
        </p:nvSpPr>
        <p:spPr>
          <a:xfrm>
            <a:off x="8086166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矩形 352"/>
          <p:cNvSpPr/>
          <p:nvPr/>
        </p:nvSpPr>
        <p:spPr>
          <a:xfrm>
            <a:off x="8614701" y="41653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54" name="矩形 353"/>
          <p:cNvSpPr/>
          <p:nvPr/>
        </p:nvSpPr>
        <p:spPr>
          <a:xfrm>
            <a:off x="9156447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5" name="矩形 354"/>
          <p:cNvSpPr/>
          <p:nvPr/>
        </p:nvSpPr>
        <p:spPr>
          <a:xfrm>
            <a:off x="9674887" y="41652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56" name="矩形 355"/>
          <p:cNvSpPr/>
          <p:nvPr/>
        </p:nvSpPr>
        <p:spPr>
          <a:xfrm>
            <a:off x="10172982" y="416510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357" name="矩形 356"/>
          <p:cNvSpPr/>
          <p:nvPr/>
        </p:nvSpPr>
        <p:spPr>
          <a:xfrm>
            <a:off x="10701517" y="416510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矩形 357"/>
          <p:cNvSpPr/>
          <p:nvPr/>
        </p:nvSpPr>
        <p:spPr>
          <a:xfrm>
            <a:off x="2975267" y="506048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59" name="矩形 358"/>
          <p:cNvSpPr/>
          <p:nvPr/>
        </p:nvSpPr>
        <p:spPr>
          <a:xfrm>
            <a:off x="3493707" y="506037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" name="矩形 359"/>
          <p:cNvSpPr/>
          <p:nvPr/>
        </p:nvSpPr>
        <p:spPr>
          <a:xfrm>
            <a:off x="3991802" y="506027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1" name="矩形 360"/>
          <p:cNvSpPr/>
          <p:nvPr/>
        </p:nvSpPr>
        <p:spPr>
          <a:xfrm>
            <a:off x="4520337" y="506027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62" name="矩形 361"/>
          <p:cNvSpPr/>
          <p:nvPr/>
        </p:nvSpPr>
        <p:spPr>
          <a:xfrm>
            <a:off x="5035010" y="50597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63" name="矩形 362"/>
          <p:cNvSpPr/>
          <p:nvPr/>
        </p:nvSpPr>
        <p:spPr>
          <a:xfrm>
            <a:off x="5553450" y="50596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64" name="矩形 363"/>
          <p:cNvSpPr/>
          <p:nvPr/>
        </p:nvSpPr>
        <p:spPr>
          <a:xfrm>
            <a:off x="6051545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65" name="矩形 364"/>
          <p:cNvSpPr/>
          <p:nvPr/>
        </p:nvSpPr>
        <p:spPr>
          <a:xfrm>
            <a:off x="6580080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66" name="矩形 365"/>
          <p:cNvSpPr/>
          <p:nvPr/>
        </p:nvSpPr>
        <p:spPr>
          <a:xfrm>
            <a:off x="7067883" y="50597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67" name="矩形 366"/>
          <p:cNvSpPr/>
          <p:nvPr/>
        </p:nvSpPr>
        <p:spPr>
          <a:xfrm>
            <a:off x="7586323" y="50596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" name="矩形 367"/>
          <p:cNvSpPr/>
          <p:nvPr/>
        </p:nvSpPr>
        <p:spPr>
          <a:xfrm>
            <a:off x="8084418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69" name="矩形 368"/>
          <p:cNvSpPr/>
          <p:nvPr/>
        </p:nvSpPr>
        <p:spPr>
          <a:xfrm>
            <a:off x="8612953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70" name="矩形 369"/>
          <p:cNvSpPr/>
          <p:nvPr/>
        </p:nvSpPr>
        <p:spPr>
          <a:xfrm>
            <a:off x="9154699" y="505951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1" name="矩形 370"/>
          <p:cNvSpPr/>
          <p:nvPr/>
        </p:nvSpPr>
        <p:spPr>
          <a:xfrm>
            <a:off x="9673139" y="505940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72" name="矩形 371"/>
          <p:cNvSpPr/>
          <p:nvPr/>
        </p:nvSpPr>
        <p:spPr>
          <a:xfrm>
            <a:off x="10171234" y="505930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3" name="矩形 372"/>
          <p:cNvSpPr/>
          <p:nvPr/>
        </p:nvSpPr>
        <p:spPr>
          <a:xfrm>
            <a:off x="10699769" y="505930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6045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  <p:bldP spid="144" grpId="0" animBg="1"/>
      <p:bldP spid="146" grpId="0" animBg="1"/>
      <p:bldP spid="147" grpId="0" animBg="1"/>
      <p:bldP spid="148" grpId="0" animBg="1"/>
      <p:bldP spid="158" grpId="0"/>
      <p:bldP spid="159" grpId="0"/>
      <p:bldP spid="198" grpId="0"/>
      <p:bldP spid="200" grpId="0"/>
      <p:bldP spid="307" grpId="0" animBg="1"/>
      <p:bldP spid="308" grpId="0" animBg="1"/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上箭头 142"/>
          <p:cNvSpPr/>
          <p:nvPr/>
        </p:nvSpPr>
        <p:spPr>
          <a:xfrm>
            <a:off x="3610616" y="5747238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上箭头 143"/>
          <p:cNvSpPr/>
          <p:nvPr/>
        </p:nvSpPr>
        <p:spPr>
          <a:xfrm>
            <a:off x="4105156" y="5745906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上箭头 145"/>
          <p:cNvSpPr/>
          <p:nvPr/>
        </p:nvSpPr>
        <p:spPr>
          <a:xfrm>
            <a:off x="7699677" y="5740293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上箭头 146"/>
          <p:cNvSpPr/>
          <p:nvPr/>
        </p:nvSpPr>
        <p:spPr>
          <a:xfrm>
            <a:off x="9268053" y="5746683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上箭头 147"/>
          <p:cNvSpPr/>
          <p:nvPr/>
        </p:nvSpPr>
        <p:spPr>
          <a:xfrm>
            <a:off x="10261289" y="5746683"/>
            <a:ext cx="315037" cy="374573"/>
          </a:xfrm>
          <a:prstGeom prst="upArrow">
            <a:avLst/>
          </a:prstGeom>
          <a:solidFill>
            <a:schemeClr val="accent2">
              <a:lumMod val="75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文本框 157"/>
          <p:cNvSpPr txBox="1"/>
          <p:nvPr/>
        </p:nvSpPr>
        <p:spPr>
          <a:xfrm>
            <a:off x="2221169" y="5748527"/>
            <a:ext cx="30008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042059" y="6250432"/>
            <a:ext cx="787395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/>
              <a:t>Sum ?</a:t>
            </a:r>
            <a:endParaRPr lang="zh-CN" altLang="en-US"/>
          </a:p>
        </p:txBody>
      </p:sp>
      <p:sp>
        <p:nvSpPr>
          <p:cNvPr id="198" name="文本框 197"/>
          <p:cNvSpPr txBox="1"/>
          <p:nvPr/>
        </p:nvSpPr>
        <p:spPr>
          <a:xfrm>
            <a:off x="1760691" y="498092"/>
            <a:ext cx="582211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Req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160966" y="239138"/>
            <a:ext cx="11202360" cy="88724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文本框 199"/>
          <p:cNvSpPr txBox="1"/>
          <p:nvPr/>
        </p:nvSpPr>
        <p:spPr>
          <a:xfrm>
            <a:off x="11566280" y="446534"/>
            <a:ext cx="300082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2025563" y="1408239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25563" y="2318527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2025563" y="3255666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矩形 203"/>
          <p:cNvSpPr/>
          <p:nvPr/>
        </p:nvSpPr>
        <p:spPr>
          <a:xfrm>
            <a:off x="2025563" y="4171706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2035946" y="5056709"/>
            <a:ext cx="941814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205"/>
              <p:cNvSpPr txBox="1"/>
              <p:nvPr/>
            </p:nvSpPr>
            <p:spPr>
              <a:xfrm>
                <a:off x="2225957" y="1505454"/>
                <a:ext cx="61125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=6</a:t>
                </a:r>
                <a:endParaRPr lang="zh-CN" altLang="en-US"/>
              </a:p>
            </p:txBody>
          </p:sp>
        </mc:Choice>
        <mc:Fallback xmlns=""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57" y="1505454"/>
                <a:ext cx="611258" cy="276999"/>
              </a:xfrm>
              <a:prstGeom prst="rect">
                <a:avLst/>
              </a:prstGeom>
              <a:blipFill>
                <a:blip r:embed="rId2"/>
                <a:stretch>
                  <a:fillRect l="-13000" t="-28889" r="-24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文本框 206"/>
              <p:cNvSpPr txBox="1"/>
              <p:nvPr/>
            </p:nvSpPr>
            <p:spPr>
              <a:xfrm>
                <a:off x="1160300" y="1505455"/>
                <a:ext cx="530017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</a:t>
                </a:r>
                <a:endParaRPr lang="zh-CN" altLang="en-US"/>
              </a:p>
            </p:txBody>
          </p:sp>
        </mc:Choice>
        <mc:Fallback xmlns=""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300" y="1505455"/>
                <a:ext cx="530017" cy="276999"/>
              </a:xfrm>
              <a:prstGeom prst="rect">
                <a:avLst/>
              </a:prstGeom>
              <a:blipFill>
                <a:blip r:embed="rId3"/>
                <a:stretch>
                  <a:fillRect l="-14943" t="-28889" r="-26437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文本框 207"/>
          <p:cNvSpPr txBox="1"/>
          <p:nvPr/>
        </p:nvSpPr>
        <p:spPr>
          <a:xfrm>
            <a:off x="160965" y="1436222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1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160965" y="3256643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3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/>
              <p:cNvSpPr txBox="1"/>
              <p:nvPr/>
            </p:nvSpPr>
            <p:spPr>
              <a:xfrm>
                <a:off x="1154978" y="3302151"/>
                <a:ext cx="65716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/>
                  <a:t>=64</a:t>
                </a:r>
                <a:endParaRPr lang="zh-CN" altLang="en-US"/>
              </a:p>
            </p:txBody>
          </p:sp>
        </mc:Choice>
        <mc:Fallback xmlns="">
          <p:sp>
            <p:nvSpPr>
              <p:cNvPr id="210" name="文本框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78" y="3302151"/>
                <a:ext cx="657168" cy="276999"/>
              </a:xfrm>
              <a:prstGeom prst="rect">
                <a:avLst/>
              </a:prstGeom>
              <a:blipFill>
                <a:blip r:embed="rId4"/>
                <a:stretch>
                  <a:fillRect l="-12037" t="-28889" r="-21296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文本框 210"/>
              <p:cNvSpPr txBox="1"/>
              <p:nvPr/>
            </p:nvSpPr>
            <p:spPr>
              <a:xfrm>
                <a:off x="1154978" y="2395643"/>
                <a:ext cx="535339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/>
                  <a:t>=8</a:t>
                </a:r>
                <a:endParaRPr lang="zh-CN" altLang="en-US"/>
              </a:p>
            </p:txBody>
          </p:sp>
        </mc:Choice>
        <mc:Fallback xmlns="">
          <p:sp>
            <p:nvSpPr>
              <p:cNvPr id="211" name="文本框 2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78" y="2395643"/>
                <a:ext cx="535339" cy="276999"/>
              </a:xfrm>
              <a:prstGeom prst="rect">
                <a:avLst/>
              </a:prstGeom>
              <a:blipFill>
                <a:blip r:embed="rId5"/>
                <a:stretch>
                  <a:fillRect l="-14773" t="-28889" r="-26136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文本框 211"/>
          <p:cNvSpPr txBox="1"/>
          <p:nvPr/>
        </p:nvSpPr>
        <p:spPr>
          <a:xfrm>
            <a:off x="163353" y="2323504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2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160965" y="4171706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4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/>
              <p:cNvSpPr txBox="1"/>
              <p:nvPr/>
            </p:nvSpPr>
            <p:spPr>
              <a:xfrm>
                <a:off x="1159751" y="4217872"/>
                <a:ext cx="778996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/>
                  <a:t>=512</a:t>
                </a:r>
                <a:endParaRPr lang="zh-CN" altLang="en-US"/>
              </a:p>
            </p:txBody>
          </p:sp>
        </mc:Choice>
        <mc:Fallback xmlns="">
          <p:sp>
            <p:nvSpPr>
              <p:cNvPr id="214" name="文本框 2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751" y="4217872"/>
                <a:ext cx="778996" cy="276999"/>
              </a:xfrm>
              <a:prstGeom prst="rect">
                <a:avLst/>
              </a:prstGeom>
              <a:blipFill>
                <a:blip r:embed="rId6"/>
                <a:stretch>
                  <a:fillRect l="-10156" t="-28889" r="-17969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" name="文本框 214"/>
          <p:cNvSpPr txBox="1"/>
          <p:nvPr/>
        </p:nvSpPr>
        <p:spPr>
          <a:xfrm>
            <a:off x="160965" y="5058988"/>
            <a:ext cx="81528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本框 215"/>
              <p:cNvSpPr txBox="1"/>
              <p:nvPr/>
            </p:nvSpPr>
            <p:spPr>
              <a:xfrm>
                <a:off x="1037923" y="5098847"/>
                <a:ext cx="900824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/>
                  <a:t>=4096</a:t>
                </a:r>
                <a:endParaRPr lang="zh-CN" altLang="en-US"/>
              </a:p>
            </p:txBody>
          </p:sp>
        </mc:Choice>
        <mc:Fallback xmlns="">
          <p:sp>
            <p:nvSpPr>
              <p:cNvPr id="216" name="文本框 2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23" y="5098847"/>
                <a:ext cx="900824" cy="276999"/>
              </a:xfrm>
              <a:prstGeom prst="rect">
                <a:avLst/>
              </a:prstGeom>
              <a:blipFill>
                <a:blip r:embed="rId7"/>
                <a:stretch>
                  <a:fillRect l="-8784" t="-28261" r="-15541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矩形 216"/>
          <p:cNvSpPr/>
          <p:nvPr/>
        </p:nvSpPr>
        <p:spPr>
          <a:xfrm>
            <a:off x="2975267" y="140823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本框 217"/>
              <p:cNvSpPr txBox="1"/>
              <p:nvPr/>
            </p:nvSpPr>
            <p:spPr>
              <a:xfrm>
                <a:off x="2170742" y="2395643"/>
                <a:ext cx="733086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=12</a:t>
                </a:r>
                <a:endParaRPr lang="zh-CN" altLang="en-US"/>
              </a:p>
            </p:txBody>
          </p:sp>
        </mc:Choice>
        <mc:Fallback xmlns="">
          <p:sp>
            <p:nvSpPr>
              <p:cNvPr id="218" name="文本框 2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42" y="2395643"/>
                <a:ext cx="733086" cy="276999"/>
              </a:xfrm>
              <a:prstGeom prst="rect">
                <a:avLst/>
              </a:prstGeom>
              <a:blipFill>
                <a:blip r:embed="rId8"/>
                <a:stretch>
                  <a:fillRect l="-10833" t="-28889" r="-20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9" name="文本框 218"/>
              <p:cNvSpPr txBox="1"/>
              <p:nvPr/>
            </p:nvSpPr>
            <p:spPr>
              <a:xfrm>
                <a:off x="2170742" y="3302810"/>
                <a:ext cx="611258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=3</a:t>
                </a:r>
                <a:endParaRPr lang="zh-CN" altLang="en-US"/>
              </a:p>
            </p:txBody>
          </p:sp>
        </mc:Choice>
        <mc:Fallback xmlns="">
          <p:sp>
            <p:nvSpPr>
              <p:cNvPr id="219" name="文本框 2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742" y="3302810"/>
                <a:ext cx="611258" cy="276999"/>
              </a:xfrm>
              <a:prstGeom prst="rect">
                <a:avLst/>
              </a:prstGeom>
              <a:blipFill>
                <a:blip r:embed="rId9"/>
                <a:stretch>
                  <a:fillRect l="-13000" t="-28889" r="-24000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文本框 219"/>
              <p:cNvSpPr txBox="1"/>
              <p:nvPr/>
            </p:nvSpPr>
            <p:spPr>
              <a:xfrm>
                <a:off x="2042059" y="4217872"/>
                <a:ext cx="848502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=-15</a:t>
                </a:r>
                <a:endParaRPr lang="zh-CN" altLang="en-US"/>
              </a:p>
            </p:txBody>
          </p:sp>
        </mc:Choice>
        <mc:Fallback xmlns="">
          <p:sp>
            <p:nvSpPr>
              <p:cNvPr id="220" name="文本框 2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059" y="4217872"/>
                <a:ext cx="848502" cy="276999"/>
              </a:xfrm>
              <a:prstGeom prst="rect">
                <a:avLst/>
              </a:prstGeom>
              <a:blipFill>
                <a:blip r:embed="rId10"/>
                <a:stretch>
                  <a:fillRect l="-10072" t="-28889" r="-16547" b="-51111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本框 220"/>
              <p:cNvSpPr txBox="1"/>
              <p:nvPr/>
            </p:nvSpPr>
            <p:spPr>
              <a:xfrm>
                <a:off x="2176491" y="5098847"/>
                <a:ext cx="726674" cy="276999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=-6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21" name="文本框 2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491" y="5098847"/>
                <a:ext cx="726674" cy="276999"/>
              </a:xfrm>
              <a:prstGeom prst="rect">
                <a:avLst/>
              </a:prstGeom>
              <a:blipFill>
                <a:blip r:embed="rId11"/>
                <a:stretch>
                  <a:fillRect l="-10924" t="-28261" r="-20168" b="-50000"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矩形 221"/>
          <p:cNvSpPr/>
          <p:nvPr/>
        </p:nvSpPr>
        <p:spPr>
          <a:xfrm>
            <a:off x="138666" y="1325976"/>
            <a:ext cx="11223250" cy="4337668"/>
          </a:xfrm>
          <a:prstGeom prst="rect">
            <a:avLst/>
          </a:prstGeom>
          <a:noFill/>
          <a:ln w="38100"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3" name="图片 22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64" y="1704869"/>
            <a:ext cx="366236" cy="366236"/>
          </a:xfrm>
          <a:prstGeom prst="rect">
            <a:avLst/>
          </a:prstGeom>
          <a:effectLst/>
        </p:spPr>
      </p:pic>
      <p:pic>
        <p:nvPicPr>
          <p:cNvPr id="224" name="图片 22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64" y="2641003"/>
            <a:ext cx="366236" cy="366236"/>
          </a:xfrm>
          <a:prstGeom prst="rect">
            <a:avLst/>
          </a:prstGeom>
          <a:effectLst/>
        </p:spPr>
      </p:pic>
      <p:pic>
        <p:nvPicPr>
          <p:cNvPr id="225" name="图片 22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828" y="3541175"/>
            <a:ext cx="366236" cy="366236"/>
          </a:xfrm>
          <a:prstGeom prst="rect">
            <a:avLst/>
          </a:prstGeom>
          <a:effectLst/>
        </p:spPr>
      </p:pic>
      <p:pic>
        <p:nvPicPr>
          <p:cNvPr id="226" name="图片 22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976" y="4456238"/>
            <a:ext cx="366236" cy="366236"/>
          </a:xfrm>
          <a:prstGeom prst="rect">
            <a:avLst/>
          </a:prstGeom>
          <a:effectLst/>
        </p:spPr>
      </p:pic>
      <p:pic>
        <p:nvPicPr>
          <p:cNvPr id="227" name="图片 22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867" y="5305716"/>
            <a:ext cx="366236" cy="366236"/>
          </a:xfrm>
          <a:prstGeom prst="rect">
            <a:avLst/>
          </a:prstGeom>
          <a:effectLst/>
        </p:spPr>
      </p:pic>
      <p:sp>
        <p:nvSpPr>
          <p:cNvPr id="228" name="矩形 227"/>
          <p:cNvSpPr/>
          <p:nvPr/>
        </p:nvSpPr>
        <p:spPr>
          <a:xfrm>
            <a:off x="3493707" y="140813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29" name="矩形 228"/>
          <p:cNvSpPr/>
          <p:nvPr/>
        </p:nvSpPr>
        <p:spPr>
          <a:xfrm>
            <a:off x="3991802" y="140802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0" name="矩形 229"/>
          <p:cNvSpPr/>
          <p:nvPr/>
        </p:nvSpPr>
        <p:spPr>
          <a:xfrm>
            <a:off x="4520337" y="140802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31" name="矩形 230"/>
          <p:cNvSpPr/>
          <p:nvPr/>
        </p:nvSpPr>
        <p:spPr>
          <a:xfrm>
            <a:off x="5035010" y="140748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2" name="矩形 231"/>
          <p:cNvSpPr/>
          <p:nvPr/>
        </p:nvSpPr>
        <p:spPr>
          <a:xfrm>
            <a:off x="5553450" y="140737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3" name="矩形 232"/>
          <p:cNvSpPr/>
          <p:nvPr/>
        </p:nvSpPr>
        <p:spPr>
          <a:xfrm>
            <a:off x="6051545" y="14072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234" name="矩形 233"/>
          <p:cNvSpPr/>
          <p:nvPr/>
        </p:nvSpPr>
        <p:spPr>
          <a:xfrm>
            <a:off x="6580080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5" name="矩形 234"/>
          <p:cNvSpPr/>
          <p:nvPr/>
        </p:nvSpPr>
        <p:spPr>
          <a:xfrm>
            <a:off x="7067883" y="140748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6" name="矩形 235"/>
          <p:cNvSpPr/>
          <p:nvPr/>
        </p:nvSpPr>
        <p:spPr>
          <a:xfrm>
            <a:off x="7586323" y="140737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7" name="矩形 236"/>
          <p:cNvSpPr/>
          <p:nvPr/>
        </p:nvSpPr>
        <p:spPr>
          <a:xfrm>
            <a:off x="8084418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8" name="矩形 237"/>
          <p:cNvSpPr/>
          <p:nvPr/>
        </p:nvSpPr>
        <p:spPr>
          <a:xfrm>
            <a:off x="8612953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39" name="矩形 238"/>
          <p:cNvSpPr/>
          <p:nvPr/>
        </p:nvSpPr>
        <p:spPr>
          <a:xfrm>
            <a:off x="9154699" y="140726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40" name="矩形 239"/>
          <p:cNvSpPr/>
          <p:nvPr/>
        </p:nvSpPr>
        <p:spPr>
          <a:xfrm>
            <a:off x="9673139" y="14071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41" name="矩形 240"/>
          <p:cNvSpPr/>
          <p:nvPr/>
        </p:nvSpPr>
        <p:spPr>
          <a:xfrm>
            <a:off x="10171234" y="14070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42" name="矩形 241"/>
          <p:cNvSpPr/>
          <p:nvPr/>
        </p:nvSpPr>
        <p:spPr>
          <a:xfrm>
            <a:off x="10699769" y="14070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6</a:t>
            </a:r>
            <a:endParaRPr lang="zh-CN" altLang="en-US" sz="1200"/>
          </a:p>
        </p:txBody>
      </p:sp>
      <p:sp>
        <p:nvSpPr>
          <p:cNvPr id="243" name="矩形 242"/>
          <p:cNvSpPr/>
          <p:nvPr/>
        </p:nvSpPr>
        <p:spPr>
          <a:xfrm>
            <a:off x="2975267" y="231852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4" name="矩形 243"/>
          <p:cNvSpPr/>
          <p:nvPr/>
        </p:nvSpPr>
        <p:spPr>
          <a:xfrm>
            <a:off x="3493707" y="231842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5" name="矩形 244"/>
          <p:cNvSpPr/>
          <p:nvPr/>
        </p:nvSpPr>
        <p:spPr>
          <a:xfrm>
            <a:off x="3991802" y="231831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6" name="矩形 245"/>
          <p:cNvSpPr/>
          <p:nvPr/>
        </p:nvSpPr>
        <p:spPr>
          <a:xfrm>
            <a:off x="4520337" y="231831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7" name="矩形 246"/>
          <p:cNvSpPr/>
          <p:nvPr/>
        </p:nvSpPr>
        <p:spPr>
          <a:xfrm>
            <a:off x="5035010" y="231777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48" name="矩形 247"/>
          <p:cNvSpPr/>
          <p:nvPr/>
        </p:nvSpPr>
        <p:spPr>
          <a:xfrm>
            <a:off x="5553450" y="2317664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矩形 248"/>
          <p:cNvSpPr/>
          <p:nvPr/>
        </p:nvSpPr>
        <p:spPr>
          <a:xfrm>
            <a:off x="6051545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0" name="矩形 249"/>
          <p:cNvSpPr/>
          <p:nvPr/>
        </p:nvSpPr>
        <p:spPr>
          <a:xfrm>
            <a:off x="6580080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1" name="矩形 250"/>
          <p:cNvSpPr/>
          <p:nvPr/>
        </p:nvSpPr>
        <p:spPr>
          <a:xfrm>
            <a:off x="7067883" y="231777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7586323" y="2317664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3" name="矩形 252"/>
          <p:cNvSpPr/>
          <p:nvPr/>
        </p:nvSpPr>
        <p:spPr>
          <a:xfrm>
            <a:off x="8084418" y="231755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8612953" y="2317557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9154699" y="2317557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6" name="矩形 255"/>
          <p:cNvSpPr/>
          <p:nvPr/>
        </p:nvSpPr>
        <p:spPr>
          <a:xfrm>
            <a:off x="9673139" y="231745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7" name="矩形 256"/>
          <p:cNvSpPr/>
          <p:nvPr/>
        </p:nvSpPr>
        <p:spPr>
          <a:xfrm>
            <a:off x="10171234" y="2317343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10699769" y="231734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12</a:t>
            </a:r>
            <a:endParaRPr lang="zh-CN" altLang="en-US" sz="1200"/>
          </a:p>
        </p:txBody>
      </p:sp>
      <p:sp>
        <p:nvSpPr>
          <p:cNvPr id="259" name="矩形 258"/>
          <p:cNvSpPr/>
          <p:nvPr/>
        </p:nvSpPr>
        <p:spPr>
          <a:xfrm>
            <a:off x="2975267" y="325642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0" name="矩形 259"/>
          <p:cNvSpPr/>
          <p:nvPr/>
        </p:nvSpPr>
        <p:spPr>
          <a:xfrm>
            <a:off x="3493707" y="325631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3991802" y="32562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2" name="矩形 261"/>
          <p:cNvSpPr/>
          <p:nvPr/>
        </p:nvSpPr>
        <p:spPr>
          <a:xfrm>
            <a:off x="4520337" y="325621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3" name="矩形 262"/>
          <p:cNvSpPr/>
          <p:nvPr/>
        </p:nvSpPr>
        <p:spPr>
          <a:xfrm>
            <a:off x="5035010" y="32556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5553450" y="32555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5" name="矩形 264"/>
          <p:cNvSpPr/>
          <p:nvPr/>
        </p:nvSpPr>
        <p:spPr>
          <a:xfrm>
            <a:off x="6051545" y="325545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矩形 265"/>
          <p:cNvSpPr/>
          <p:nvPr/>
        </p:nvSpPr>
        <p:spPr>
          <a:xfrm>
            <a:off x="6580080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7" name="矩形 266"/>
          <p:cNvSpPr/>
          <p:nvPr/>
        </p:nvSpPr>
        <p:spPr>
          <a:xfrm>
            <a:off x="7067883" y="325566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7586323" y="325556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69" name="矩形 268"/>
          <p:cNvSpPr/>
          <p:nvPr/>
        </p:nvSpPr>
        <p:spPr>
          <a:xfrm>
            <a:off x="8084418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0" name="矩形 269"/>
          <p:cNvSpPr/>
          <p:nvPr/>
        </p:nvSpPr>
        <p:spPr>
          <a:xfrm>
            <a:off x="8612953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1" name="矩形 270"/>
          <p:cNvSpPr/>
          <p:nvPr/>
        </p:nvSpPr>
        <p:spPr>
          <a:xfrm>
            <a:off x="9154699" y="325545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2" name="矩形 271"/>
          <p:cNvSpPr/>
          <p:nvPr/>
        </p:nvSpPr>
        <p:spPr>
          <a:xfrm>
            <a:off x="9673139" y="325534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3" name="矩形 272"/>
          <p:cNvSpPr/>
          <p:nvPr/>
        </p:nvSpPr>
        <p:spPr>
          <a:xfrm>
            <a:off x="10171234" y="325524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矩形 273"/>
          <p:cNvSpPr/>
          <p:nvPr/>
        </p:nvSpPr>
        <p:spPr>
          <a:xfrm>
            <a:off x="10699769" y="325524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3</a:t>
            </a:r>
            <a:endParaRPr lang="zh-CN" altLang="en-US" sz="1200"/>
          </a:p>
        </p:txBody>
      </p:sp>
      <p:sp>
        <p:nvSpPr>
          <p:cNvPr id="275" name="矩形 274"/>
          <p:cNvSpPr/>
          <p:nvPr/>
        </p:nvSpPr>
        <p:spPr>
          <a:xfrm>
            <a:off x="2977015" y="416629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6" name="矩形 275"/>
          <p:cNvSpPr/>
          <p:nvPr/>
        </p:nvSpPr>
        <p:spPr>
          <a:xfrm>
            <a:off x="3495455" y="416618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7" name="矩形 276"/>
          <p:cNvSpPr/>
          <p:nvPr/>
        </p:nvSpPr>
        <p:spPr>
          <a:xfrm>
            <a:off x="3993550" y="416607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78" name="矩形 277"/>
          <p:cNvSpPr/>
          <p:nvPr/>
        </p:nvSpPr>
        <p:spPr>
          <a:xfrm>
            <a:off x="4522085" y="416607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矩形 278"/>
          <p:cNvSpPr/>
          <p:nvPr/>
        </p:nvSpPr>
        <p:spPr>
          <a:xfrm>
            <a:off x="5036758" y="416553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0" name="矩形 279"/>
          <p:cNvSpPr/>
          <p:nvPr/>
        </p:nvSpPr>
        <p:spPr>
          <a:xfrm>
            <a:off x="5555198" y="41654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1" name="矩形 280"/>
          <p:cNvSpPr/>
          <p:nvPr/>
        </p:nvSpPr>
        <p:spPr>
          <a:xfrm>
            <a:off x="6053293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矩形 281"/>
          <p:cNvSpPr/>
          <p:nvPr/>
        </p:nvSpPr>
        <p:spPr>
          <a:xfrm>
            <a:off x="6581828" y="41653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3" name="矩形 282"/>
          <p:cNvSpPr/>
          <p:nvPr/>
        </p:nvSpPr>
        <p:spPr>
          <a:xfrm>
            <a:off x="7069631" y="416553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4" name="矩形 283"/>
          <p:cNvSpPr/>
          <p:nvPr/>
        </p:nvSpPr>
        <p:spPr>
          <a:xfrm>
            <a:off x="7588071" y="416542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矩形 284"/>
          <p:cNvSpPr/>
          <p:nvPr/>
        </p:nvSpPr>
        <p:spPr>
          <a:xfrm>
            <a:off x="8086166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/>
          <p:cNvSpPr/>
          <p:nvPr/>
        </p:nvSpPr>
        <p:spPr>
          <a:xfrm>
            <a:off x="8614701" y="41653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7" name="矩形 286"/>
          <p:cNvSpPr/>
          <p:nvPr/>
        </p:nvSpPr>
        <p:spPr>
          <a:xfrm>
            <a:off x="9156447" y="41653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/>
          <p:cNvSpPr/>
          <p:nvPr/>
        </p:nvSpPr>
        <p:spPr>
          <a:xfrm>
            <a:off x="9674887" y="41652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89" name="矩形 288"/>
          <p:cNvSpPr/>
          <p:nvPr/>
        </p:nvSpPr>
        <p:spPr>
          <a:xfrm>
            <a:off x="10172982" y="416510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-15</a:t>
            </a:r>
            <a:endParaRPr lang="zh-CN" altLang="en-US" sz="1200"/>
          </a:p>
        </p:txBody>
      </p:sp>
      <p:sp>
        <p:nvSpPr>
          <p:cNvPr id="290" name="矩形 289"/>
          <p:cNvSpPr/>
          <p:nvPr/>
        </p:nvSpPr>
        <p:spPr>
          <a:xfrm>
            <a:off x="10701517" y="416510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497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矩形 290"/>
          <p:cNvSpPr/>
          <p:nvPr/>
        </p:nvSpPr>
        <p:spPr>
          <a:xfrm>
            <a:off x="2975267" y="506048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2" name="矩形 291"/>
          <p:cNvSpPr/>
          <p:nvPr/>
        </p:nvSpPr>
        <p:spPr>
          <a:xfrm>
            <a:off x="3493707" y="5060378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3" name="矩形 292"/>
          <p:cNvSpPr/>
          <p:nvPr/>
        </p:nvSpPr>
        <p:spPr>
          <a:xfrm>
            <a:off x="3991802" y="506027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矩形 293"/>
          <p:cNvSpPr/>
          <p:nvPr/>
        </p:nvSpPr>
        <p:spPr>
          <a:xfrm>
            <a:off x="4520337" y="506027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5" name="矩形 294"/>
          <p:cNvSpPr/>
          <p:nvPr/>
        </p:nvSpPr>
        <p:spPr>
          <a:xfrm>
            <a:off x="5035010" y="50597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6" name="矩形 295"/>
          <p:cNvSpPr/>
          <p:nvPr/>
        </p:nvSpPr>
        <p:spPr>
          <a:xfrm>
            <a:off x="5553450" y="505962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7" name="矩形 296"/>
          <p:cNvSpPr/>
          <p:nvPr/>
        </p:nvSpPr>
        <p:spPr>
          <a:xfrm>
            <a:off x="6051545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8" name="矩形 297"/>
          <p:cNvSpPr/>
          <p:nvPr/>
        </p:nvSpPr>
        <p:spPr>
          <a:xfrm>
            <a:off x="6580080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299" name="矩形 298"/>
          <p:cNvSpPr/>
          <p:nvPr/>
        </p:nvSpPr>
        <p:spPr>
          <a:xfrm>
            <a:off x="7067883" y="505972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0" name="矩形 299"/>
          <p:cNvSpPr/>
          <p:nvPr/>
        </p:nvSpPr>
        <p:spPr>
          <a:xfrm>
            <a:off x="7586323" y="505962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8084418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2" name="矩形 301"/>
          <p:cNvSpPr/>
          <p:nvPr/>
        </p:nvSpPr>
        <p:spPr>
          <a:xfrm>
            <a:off x="8612953" y="5059515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3" name="矩形 302"/>
          <p:cNvSpPr/>
          <p:nvPr/>
        </p:nvSpPr>
        <p:spPr>
          <a:xfrm>
            <a:off x="9154699" y="5059515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9673139" y="5059408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5" name="矩形 304"/>
          <p:cNvSpPr/>
          <p:nvPr/>
        </p:nvSpPr>
        <p:spPr>
          <a:xfrm>
            <a:off x="10171234" y="5059301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4090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矩形 305"/>
          <p:cNvSpPr/>
          <p:nvPr/>
        </p:nvSpPr>
        <p:spPr>
          <a:xfrm>
            <a:off x="10699769" y="5059301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-6</a:t>
            </a:r>
            <a:endParaRPr lang="zh-CN" altLang="en-US" sz="1200" dirty="0"/>
          </a:p>
        </p:txBody>
      </p:sp>
      <p:sp>
        <p:nvSpPr>
          <p:cNvPr id="307" name="矩形 306"/>
          <p:cNvSpPr/>
          <p:nvPr/>
        </p:nvSpPr>
        <p:spPr>
          <a:xfrm>
            <a:off x="2975267" y="46126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08" name="矩形 307"/>
          <p:cNvSpPr/>
          <p:nvPr/>
        </p:nvSpPr>
        <p:spPr>
          <a:xfrm>
            <a:off x="3493707" y="461159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09" name="矩形 308"/>
          <p:cNvSpPr/>
          <p:nvPr/>
        </p:nvSpPr>
        <p:spPr>
          <a:xfrm>
            <a:off x="3991802" y="46105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10" name="矩形 309"/>
          <p:cNvSpPr/>
          <p:nvPr/>
        </p:nvSpPr>
        <p:spPr>
          <a:xfrm>
            <a:off x="4520337" y="46105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311" name="矩形 310"/>
          <p:cNvSpPr/>
          <p:nvPr/>
        </p:nvSpPr>
        <p:spPr>
          <a:xfrm>
            <a:off x="5035010" y="46051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2" name="矩形 311"/>
          <p:cNvSpPr/>
          <p:nvPr/>
        </p:nvSpPr>
        <p:spPr>
          <a:xfrm>
            <a:off x="5553450" y="460403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3" name="矩形 312"/>
          <p:cNvSpPr/>
          <p:nvPr/>
        </p:nvSpPr>
        <p:spPr>
          <a:xfrm>
            <a:off x="6051545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7</a:t>
            </a:r>
            <a:endParaRPr lang="zh-CN" altLang="en-US" sz="1200"/>
          </a:p>
        </p:txBody>
      </p:sp>
      <p:sp>
        <p:nvSpPr>
          <p:cNvPr id="314" name="矩形 313"/>
          <p:cNvSpPr/>
          <p:nvPr/>
        </p:nvSpPr>
        <p:spPr>
          <a:xfrm>
            <a:off x="6580080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5" name="矩形 314"/>
          <p:cNvSpPr/>
          <p:nvPr/>
        </p:nvSpPr>
        <p:spPr>
          <a:xfrm>
            <a:off x="7067883" y="460510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6" name="矩形 315"/>
          <p:cNvSpPr/>
          <p:nvPr/>
        </p:nvSpPr>
        <p:spPr>
          <a:xfrm>
            <a:off x="7586323" y="460403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17" name="矩形 316"/>
          <p:cNvSpPr/>
          <p:nvPr/>
        </p:nvSpPr>
        <p:spPr>
          <a:xfrm>
            <a:off x="8084418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8" name="矩形 317"/>
          <p:cNvSpPr/>
          <p:nvPr/>
        </p:nvSpPr>
        <p:spPr>
          <a:xfrm>
            <a:off x="8612953" y="460296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19" name="矩形 318"/>
          <p:cNvSpPr/>
          <p:nvPr/>
        </p:nvSpPr>
        <p:spPr>
          <a:xfrm>
            <a:off x="9154699" y="460296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20" name="矩形 319"/>
          <p:cNvSpPr/>
          <p:nvPr/>
        </p:nvSpPr>
        <p:spPr>
          <a:xfrm>
            <a:off x="9673139" y="460189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321" name="矩形 320"/>
          <p:cNvSpPr/>
          <p:nvPr/>
        </p:nvSpPr>
        <p:spPr>
          <a:xfrm>
            <a:off x="10171234" y="460082"/>
            <a:ext cx="541746" cy="425512"/>
          </a:xfrm>
          <a:prstGeom prst="rect">
            <a:avLst/>
          </a:prstGeom>
          <a:solidFill>
            <a:srgbClr val="FF0000"/>
          </a:solidFill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1</a:t>
            </a:r>
            <a:endParaRPr lang="zh-CN" altLang="en-US" sz="1200"/>
          </a:p>
        </p:txBody>
      </p:sp>
      <p:sp>
        <p:nvSpPr>
          <p:cNvPr id="322" name="矩形 321"/>
          <p:cNvSpPr/>
          <p:nvPr/>
        </p:nvSpPr>
        <p:spPr>
          <a:xfrm>
            <a:off x="10699769" y="460082"/>
            <a:ext cx="541746" cy="425512"/>
          </a:xfrm>
          <a:prstGeom prst="rect">
            <a:avLst/>
          </a:prstGeom>
          <a:effectLst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0</a:t>
            </a:r>
            <a:endParaRPr lang="zh-CN" altLang="en-US" sz="1200"/>
          </a:p>
        </p:txBody>
      </p:sp>
      <p:sp>
        <p:nvSpPr>
          <p:cNvPr id="134" name="文本框 133"/>
          <p:cNvSpPr txBox="1"/>
          <p:nvPr/>
        </p:nvSpPr>
        <p:spPr>
          <a:xfrm>
            <a:off x="11655259" y="1436222"/>
            <a:ext cx="41549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1655259" y="2349476"/>
            <a:ext cx="415498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68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11655259" y="3284733"/>
            <a:ext cx="530915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143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11622796" y="4199796"/>
            <a:ext cx="530915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949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11465926" y="5079238"/>
            <a:ext cx="761747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20450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11531713" y="1325976"/>
            <a:ext cx="571507" cy="4337668"/>
          </a:xfrm>
          <a:prstGeom prst="rect">
            <a:avLst/>
          </a:prstGeom>
          <a:noFill/>
          <a:ln w="38100"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/>
          <p:cNvSpPr txBox="1"/>
          <p:nvPr/>
        </p:nvSpPr>
        <p:spPr>
          <a:xfrm>
            <a:off x="11424427" y="5742913"/>
            <a:ext cx="761747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21641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1" name="图片 14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6206" y="1566991"/>
            <a:ext cx="366236" cy="366236"/>
          </a:xfrm>
          <a:prstGeom prst="rect">
            <a:avLst/>
          </a:prstGeom>
          <a:effectLst/>
        </p:spPr>
      </p:pic>
      <p:pic>
        <p:nvPicPr>
          <p:cNvPr id="142" name="图片 14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9675" y="2544083"/>
            <a:ext cx="366236" cy="366236"/>
          </a:xfrm>
          <a:prstGeom prst="rect">
            <a:avLst/>
          </a:prstGeom>
          <a:effectLst/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2" y="3412406"/>
            <a:ext cx="366236" cy="366236"/>
          </a:xfrm>
          <a:prstGeom prst="rect">
            <a:avLst/>
          </a:prstGeom>
          <a:effectLst/>
        </p:spPr>
      </p:pic>
      <p:pic>
        <p:nvPicPr>
          <p:cNvPr id="149" name="图片 14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217" y="4393557"/>
            <a:ext cx="366236" cy="366236"/>
          </a:xfrm>
          <a:prstGeom prst="rect">
            <a:avLst/>
          </a:prstGeom>
          <a:effectLst/>
        </p:spPr>
      </p:pic>
      <p:pic>
        <p:nvPicPr>
          <p:cNvPr id="150" name="图片 14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6646" y="5281932"/>
            <a:ext cx="366236" cy="366236"/>
          </a:xfrm>
          <a:prstGeom prst="rect">
            <a:avLst/>
          </a:prstGeom>
          <a:effectLst/>
        </p:spPr>
      </p:pic>
      <p:pic>
        <p:nvPicPr>
          <p:cNvPr id="151" name="图片 15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464" y="5884196"/>
            <a:ext cx="366236" cy="366236"/>
          </a:xfrm>
          <a:prstGeom prst="rect">
            <a:avLst/>
          </a:prstGeom>
          <a:effectLst/>
        </p:spPr>
      </p:pic>
      <p:sp>
        <p:nvSpPr>
          <p:cNvPr id="2" name="矩形 1"/>
          <p:cNvSpPr/>
          <p:nvPr/>
        </p:nvSpPr>
        <p:spPr>
          <a:xfrm>
            <a:off x="11465926" y="404697"/>
            <a:ext cx="526049" cy="46272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/>
          <p:cNvSpPr/>
          <p:nvPr/>
        </p:nvSpPr>
        <p:spPr>
          <a:xfrm>
            <a:off x="11241516" y="5791317"/>
            <a:ext cx="912196" cy="61527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9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2" grpId="0" animBg="1"/>
      <p:bldP spid="15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/>
        </p:nvSpPr>
        <p:spPr>
          <a:xfrm>
            <a:off x="9525694" y="530099"/>
            <a:ext cx="2279014" cy="1174500"/>
          </a:xfrm>
          <a:prstGeom prst="round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455228" y="2154931"/>
            <a:ext cx="1762125" cy="554549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533775" y="399806"/>
            <a:ext cx="5562601" cy="14186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63093" y="3078398"/>
            <a:ext cx="4130040" cy="22523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下箭头 8"/>
          <p:cNvSpPr/>
          <p:nvPr/>
        </p:nvSpPr>
        <p:spPr>
          <a:xfrm rot="10800000">
            <a:off x="6455349" y="2043652"/>
            <a:ext cx="419345" cy="66628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7078897" y="2045227"/>
            <a:ext cx="419345" cy="66628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87124" y="562691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79217" y="4842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PSP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4631" y="22458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54056" y="225174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21641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491" y="2327732"/>
            <a:ext cx="366236" cy="36623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60588" y="2281659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Res=NO</a:t>
            </a:r>
            <a:endParaRPr lang="zh-CN" altLang="en-US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4361336" y="3482052"/>
            <a:ext cx="847898" cy="1263533"/>
            <a:chOff x="4772237" y="3859665"/>
            <a:chExt cx="847898" cy="1263533"/>
          </a:xfrm>
        </p:grpSpPr>
        <p:sp>
          <p:nvSpPr>
            <p:cNvPr id="15" name="圆柱形 14"/>
            <p:cNvSpPr/>
            <p:nvPr/>
          </p:nvSpPr>
          <p:spPr>
            <a:xfrm>
              <a:off x="4772237" y="4624435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圆柱形 15"/>
            <p:cNvSpPr/>
            <p:nvPr/>
          </p:nvSpPr>
          <p:spPr>
            <a:xfrm>
              <a:off x="4772237" y="4242050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柱形 16"/>
            <p:cNvSpPr/>
            <p:nvPr/>
          </p:nvSpPr>
          <p:spPr>
            <a:xfrm>
              <a:off x="4772237" y="3859665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624309" y="485123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DB</a:t>
            </a:r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3963093" y="840350"/>
            <a:ext cx="29976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b="1" dirty="0"/>
              <a:t>SS {6, 12, 3, -15, -6}   sum=0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3875417" y="1244858"/>
                <a:ext cx="24762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1,  8,  64,  512,  4096</a:t>
                </a:r>
                <a:endParaRPr lang="zh-CN" altLang="en-US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417" y="1244858"/>
                <a:ext cx="2476255" cy="369332"/>
              </a:xfrm>
              <a:prstGeom prst="rect">
                <a:avLst/>
              </a:prstGeom>
              <a:blipFill>
                <a:blip r:embed="rId3"/>
                <a:stretch>
                  <a:fillRect t="-9836" r="-1478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1092751" y="2043652"/>
            <a:ext cx="272382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21641</a:t>
            </a:r>
            <a:r>
              <a:rPr lang="zh-CN" altLang="en-US" dirty="0"/>
              <a:t>➗ </a:t>
            </a:r>
            <a:r>
              <a:rPr lang="en-US" altLang="zh-CN" dirty="0">
                <a:solidFill>
                  <a:srgbClr val="FF0000"/>
                </a:solidFill>
              </a:rPr>
              <a:t>4096</a:t>
            </a:r>
            <a:r>
              <a:rPr lang="en-US" altLang="zh-CN" dirty="0"/>
              <a:t>=5… …1161</a:t>
            </a:r>
          </a:p>
          <a:p>
            <a:endParaRPr lang="en-US" altLang="zh-CN" dirty="0"/>
          </a:p>
          <a:p>
            <a:r>
              <a:rPr lang="en-US" altLang="zh-CN" dirty="0"/>
              <a:t>1161 </a:t>
            </a:r>
            <a:r>
              <a:rPr lang="zh-CN" altLang="en-US" dirty="0"/>
              <a:t>➗ </a:t>
            </a:r>
            <a:r>
              <a:rPr lang="en-US" altLang="zh-CN" dirty="0">
                <a:solidFill>
                  <a:srgbClr val="FF0000"/>
                </a:solidFill>
              </a:rPr>
              <a:t>512</a:t>
            </a:r>
            <a:r>
              <a:rPr lang="en-US" altLang="zh-CN" dirty="0"/>
              <a:t>=2… …137</a:t>
            </a:r>
          </a:p>
          <a:p>
            <a:endParaRPr lang="en-US" altLang="zh-CN" dirty="0"/>
          </a:p>
          <a:p>
            <a:r>
              <a:rPr lang="en-US" altLang="zh-CN" dirty="0"/>
              <a:t>137</a:t>
            </a:r>
            <a:r>
              <a:rPr lang="zh-CN" altLang="en-US" dirty="0"/>
              <a:t> ➗</a:t>
            </a:r>
            <a:r>
              <a:rPr lang="en-US" altLang="zh-CN" dirty="0">
                <a:solidFill>
                  <a:srgbClr val="FF0000"/>
                </a:solidFill>
              </a:rPr>
              <a:t>64</a:t>
            </a:r>
            <a:r>
              <a:rPr lang="en-US" altLang="zh-CN" dirty="0"/>
              <a:t>=2… …9</a:t>
            </a:r>
          </a:p>
          <a:p>
            <a:endParaRPr lang="en-US" altLang="zh-CN" dirty="0"/>
          </a:p>
          <a:p>
            <a:r>
              <a:rPr lang="en-US" altLang="zh-CN" dirty="0"/>
              <a:t>9 </a:t>
            </a:r>
            <a:r>
              <a:rPr lang="zh-CN" altLang="en-US" dirty="0"/>
              <a:t>➗ </a:t>
            </a:r>
            <a:r>
              <a:rPr lang="en-US" altLang="zh-CN" dirty="0">
                <a:solidFill>
                  <a:srgbClr val="FF0000"/>
                </a:solidFill>
              </a:rPr>
              <a:t>8</a:t>
            </a:r>
            <a:r>
              <a:rPr lang="en-US" altLang="zh-CN" dirty="0"/>
              <a:t> = 1… …1</a:t>
            </a:r>
          </a:p>
          <a:p>
            <a:endParaRPr lang="en-US" altLang="zh-CN" dirty="0"/>
          </a:p>
          <a:p>
            <a:r>
              <a:rPr lang="en-US" altLang="zh-CN" dirty="0"/>
              <a:t>1 </a:t>
            </a:r>
            <a:r>
              <a:rPr lang="zh-CN" altLang="en-US" dirty="0"/>
              <a:t>➗ 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 =1… …0</a:t>
            </a:r>
          </a:p>
          <a:p>
            <a:endParaRPr lang="en-US" altLang="zh-CN" dirty="0"/>
          </a:p>
        </p:txBody>
      </p:sp>
      <p:sp>
        <p:nvSpPr>
          <p:cNvPr id="22" name="文本框 21"/>
          <p:cNvSpPr txBox="1"/>
          <p:nvPr/>
        </p:nvSpPr>
        <p:spPr>
          <a:xfrm>
            <a:off x="87926" y="429073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sum</a:t>
            </a:r>
            <a:r>
              <a:rPr lang="en-US" altLang="zh-CN" b="1" dirty="0"/>
              <a:t> = 1</a:t>
            </a:r>
            <a:endParaRPr lang="zh-CN" altLang="en-US" b="1" dirty="0"/>
          </a:p>
        </p:txBody>
      </p:sp>
      <p:sp>
        <p:nvSpPr>
          <p:cNvPr id="24" name="矩形 23"/>
          <p:cNvSpPr/>
          <p:nvPr/>
        </p:nvSpPr>
        <p:spPr>
          <a:xfrm>
            <a:off x="87926" y="1108336"/>
            <a:ext cx="8755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K</a:t>
            </a:r>
            <a:r>
              <a:rPr lang="en-US" altLang="zh-CN" b="1"/>
              <a:t> = 5</a:t>
            </a:r>
          </a:p>
          <a:p>
            <a:r>
              <a:rPr lang="en-US" altLang="zh-CN"/>
              <a:t>sum=0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9332" y="2056054"/>
            <a:ext cx="875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sum+1</a:t>
            </a:r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7926" y="4961456"/>
            <a:ext cx="1789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= 60%</a:t>
            </a: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9723987" y="820414"/>
            <a:ext cx="31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u="sng" dirty="0"/>
              <a:t>1</a:t>
            </a:r>
          </a:p>
          <a:p>
            <a:r>
              <a:rPr lang="en-US" altLang="zh-CN" b="1" dirty="0"/>
              <a:t>5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10906869" y="95288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&lt; 60%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9921646" y="952882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✖</a:t>
            </a:r>
            <a:r>
              <a:rPr lang="en-US" altLang="zh-CN" b="1" dirty="0"/>
              <a:t>100%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1843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3" grpId="0" animBg="1"/>
      <p:bldP spid="9" grpId="0" animBg="1"/>
      <p:bldP spid="10" grpId="0" animBg="1"/>
      <p:bldP spid="4" grpId="0"/>
      <p:bldP spid="5" grpId="0"/>
      <p:bldP spid="13" grpId="0"/>
      <p:bldP spid="21" grpId="0"/>
      <p:bldP spid="22" grpId="0"/>
      <p:bldP spid="24" grpId="0"/>
      <p:bldP spid="25" grpId="0"/>
      <p:bldP spid="29" grpId="0"/>
      <p:bldP spid="30" grpId="0"/>
      <p:bldP spid="31" grpId="0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395375" y="2605366"/>
            <a:ext cx="1064220" cy="103072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Server</a:t>
            </a:r>
          </a:p>
          <a:p>
            <a:pPr algn="ctr"/>
            <a:r>
              <a:rPr lang="zh-CN" altLang="en-US"/>
              <a:t>服务器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947" y="1684021"/>
            <a:ext cx="500638" cy="5006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947" y="2409735"/>
            <a:ext cx="500638" cy="5006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947" y="3135449"/>
            <a:ext cx="500638" cy="5006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947" y="4431575"/>
            <a:ext cx="500638" cy="50063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 rot="5400000">
            <a:off x="7931204" y="3797221"/>
            <a:ext cx="24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633" y="1684021"/>
            <a:ext cx="1352822" cy="135282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096160" y="2859116"/>
            <a:ext cx="6957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/>
              <a:t>GroupN</a:t>
            </a:r>
            <a:endParaRPr lang="zh-CN" altLang="en-US" sz="11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157" y="3419667"/>
            <a:ext cx="575915" cy="575915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 rot="10800000">
            <a:off x="5302131" y="2931105"/>
            <a:ext cx="550406" cy="488562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47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781175" y="552206"/>
            <a:ext cx="8136081" cy="14186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781175" y="3173648"/>
            <a:ext cx="4130040" cy="22523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426849" y="5617435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51697" y="182874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PSP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179418" y="3577302"/>
            <a:ext cx="847898" cy="1263533"/>
            <a:chOff x="4772237" y="3859665"/>
            <a:chExt cx="847898" cy="1263533"/>
          </a:xfrm>
        </p:grpSpPr>
        <p:sp>
          <p:nvSpPr>
            <p:cNvPr id="18" name="圆柱形 17"/>
            <p:cNvSpPr/>
            <p:nvPr/>
          </p:nvSpPr>
          <p:spPr>
            <a:xfrm>
              <a:off x="4772237" y="4624435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柱形 18"/>
            <p:cNvSpPr/>
            <p:nvPr/>
          </p:nvSpPr>
          <p:spPr>
            <a:xfrm>
              <a:off x="4772237" y="4242050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柱形 19"/>
            <p:cNvSpPr/>
            <p:nvPr/>
          </p:nvSpPr>
          <p:spPr>
            <a:xfrm>
              <a:off x="4772237" y="3859665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871" y="3639624"/>
            <a:ext cx="773776" cy="7737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386" y="4611234"/>
            <a:ext cx="542405" cy="5424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811" y="1523772"/>
            <a:ext cx="327467" cy="32746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647" y="3639624"/>
            <a:ext cx="773776" cy="77377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600" y="3639624"/>
            <a:ext cx="773776" cy="77377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269226" y="396253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31" name="右大括号 30"/>
          <p:cNvSpPr/>
          <p:nvPr/>
        </p:nvSpPr>
        <p:spPr>
          <a:xfrm rot="5400000">
            <a:off x="8764235" y="3640031"/>
            <a:ext cx="525101" cy="28065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8737379" y="5880064"/>
            <a:ext cx="1327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K=5</a:t>
            </a:r>
            <a:r>
              <a:rPr lang="en-US" altLang="zh-CN"/>
              <a:t> users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737379" y="5326066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Group2</a:t>
            </a:r>
            <a:endParaRPr lang="zh-CN" altLang="en-US" b="1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692" y="4533596"/>
            <a:ext cx="286627" cy="286627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694422" y="4517258"/>
            <a:ext cx="279346" cy="279346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24735" y="4504531"/>
            <a:ext cx="304800" cy="30480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0" t="6268" r="7452" b="13559"/>
          <a:stretch/>
        </p:blipFill>
        <p:spPr>
          <a:xfrm>
            <a:off x="4972074" y="4150727"/>
            <a:ext cx="643695" cy="603820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232" y="1058409"/>
            <a:ext cx="286627" cy="286627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708479" y="1071136"/>
            <a:ext cx="279346" cy="279346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463369" y="1058409"/>
            <a:ext cx="304800" cy="304800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4065567" y="1017056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SS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3922970" y="148190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PK SK</a:t>
            </a:r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653" y="1529368"/>
            <a:ext cx="340044" cy="340044"/>
          </a:xfrm>
          <a:prstGeom prst="rect">
            <a:avLst/>
          </a:prstGeom>
        </p:spPr>
      </p:pic>
      <p:sp>
        <p:nvSpPr>
          <p:cNvPr id="50" name="右箭头 49"/>
          <p:cNvSpPr/>
          <p:nvPr/>
        </p:nvSpPr>
        <p:spPr>
          <a:xfrm rot="5400000">
            <a:off x="8116277" y="2601860"/>
            <a:ext cx="1324133" cy="2178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005395" y="2107443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SS</a:t>
            </a:r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014344" y="2585385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mtClean="0"/>
              <a:t>PK</a:t>
            </a:r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6316610" y="3607976"/>
            <a:ext cx="1089047" cy="132209"/>
            <a:chOff x="8093133" y="5669000"/>
            <a:chExt cx="1089047" cy="132209"/>
          </a:xfrm>
        </p:grpSpPr>
        <p:sp>
          <p:nvSpPr>
            <p:cNvPr id="54" name="矩形 53"/>
            <p:cNvSpPr/>
            <p:nvPr/>
          </p:nvSpPr>
          <p:spPr>
            <a:xfrm>
              <a:off x="8093133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8227701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8362269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/>
            <p:cNvSpPr/>
            <p:nvPr/>
          </p:nvSpPr>
          <p:spPr>
            <a:xfrm>
              <a:off x="8496837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8643908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8778476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8913044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9047612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331064" y="3077832"/>
            <a:ext cx="1089047" cy="132209"/>
            <a:chOff x="8093133" y="5669000"/>
            <a:chExt cx="1089047" cy="132209"/>
          </a:xfrm>
        </p:grpSpPr>
        <p:sp>
          <p:nvSpPr>
            <p:cNvPr id="64" name="矩形 63"/>
            <p:cNvSpPr/>
            <p:nvPr/>
          </p:nvSpPr>
          <p:spPr>
            <a:xfrm>
              <a:off x="8093133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8227701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8362269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8496837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8643908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8778476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8913044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>
            <a:xfrm>
              <a:off x="9047612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6341432" y="2644671"/>
            <a:ext cx="1089047" cy="132209"/>
            <a:chOff x="8093133" y="5669000"/>
            <a:chExt cx="1089047" cy="132209"/>
          </a:xfrm>
        </p:grpSpPr>
        <p:sp>
          <p:nvSpPr>
            <p:cNvPr id="74" name="矩形 73"/>
            <p:cNvSpPr/>
            <p:nvPr/>
          </p:nvSpPr>
          <p:spPr>
            <a:xfrm>
              <a:off x="8093133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8227701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8362269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8496837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8643908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8778476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8913044" y="5669000"/>
              <a:ext cx="134568" cy="1322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9047612" y="5669000"/>
              <a:ext cx="134568" cy="13220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2" name="图片 7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702" y="3115276"/>
            <a:ext cx="340044" cy="340044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702" y="3674080"/>
            <a:ext cx="340044" cy="340044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399" y="2682853"/>
            <a:ext cx="340044" cy="340044"/>
          </a:xfrm>
          <a:prstGeom prst="rect">
            <a:avLst/>
          </a:prstGeom>
        </p:spPr>
      </p:pic>
      <p:sp>
        <p:nvSpPr>
          <p:cNvPr id="83" name="右箭头 82"/>
          <p:cNvSpPr/>
          <p:nvPr/>
        </p:nvSpPr>
        <p:spPr>
          <a:xfrm rot="10800000">
            <a:off x="6106346" y="4122380"/>
            <a:ext cx="1324133" cy="2094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右箭头 83"/>
          <p:cNvSpPr/>
          <p:nvPr/>
        </p:nvSpPr>
        <p:spPr>
          <a:xfrm>
            <a:off x="6092340" y="4874485"/>
            <a:ext cx="1324133" cy="2179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6513443" y="4619035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AD</a:t>
            </a:r>
            <a:endParaRPr lang="zh-CN" altLang="en-US"/>
          </a:p>
        </p:txBody>
      </p:sp>
      <p:sp>
        <p:nvSpPr>
          <p:cNvPr id="86" name="右箭头 85"/>
          <p:cNvSpPr/>
          <p:nvPr/>
        </p:nvSpPr>
        <p:spPr>
          <a:xfrm rot="5400000">
            <a:off x="3852180" y="2467017"/>
            <a:ext cx="1009074" cy="2125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右箭头 86"/>
          <p:cNvSpPr/>
          <p:nvPr/>
        </p:nvSpPr>
        <p:spPr>
          <a:xfrm rot="16200000">
            <a:off x="3028590" y="2504461"/>
            <a:ext cx="1009074" cy="2125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2318673" y="3752899"/>
            <a:ext cx="5693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Req</a:t>
            </a:r>
          </a:p>
          <a:p>
            <a:r>
              <a:rPr lang="en-US" altLang="zh-CN"/>
              <a:t>EPf</a:t>
            </a:r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2404859" y="2212178"/>
            <a:ext cx="10631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Req</a:t>
            </a:r>
          </a:p>
          <a:p>
            <a:r>
              <a:rPr lang="en-US" altLang="zh-CN"/>
              <a:t>EAggGPf</a:t>
            </a:r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6552426" y="3855589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EPf</a:t>
            </a:r>
            <a:endParaRPr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4420096" y="235067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Res</a:t>
            </a:r>
            <a:endParaRPr lang="zh-CN" altLang="en-US"/>
          </a:p>
        </p:txBody>
      </p:sp>
      <p:pic>
        <p:nvPicPr>
          <p:cNvPr id="93" name="图片 9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52861" y="2962080"/>
            <a:ext cx="304800" cy="304800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476395" y="3530390"/>
            <a:ext cx="279346" cy="279346"/>
          </a:xfrm>
          <a:prstGeom prst="rect">
            <a:avLst/>
          </a:prstGeom>
        </p:spPr>
      </p:pic>
      <p:sp>
        <p:nvSpPr>
          <p:cNvPr id="95" name="文本框 94"/>
          <p:cNvSpPr txBox="1"/>
          <p:nvPr/>
        </p:nvSpPr>
        <p:spPr>
          <a:xfrm rot="5400000">
            <a:off x="6745140" y="3240888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F9CF29E2-4561-4157-A691-F2C71512B9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773" y="2583285"/>
            <a:ext cx="286627" cy="286627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179" y="4514520"/>
            <a:ext cx="340044" cy="340044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073" y="4522257"/>
            <a:ext cx="340044" cy="340044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771" y="4522257"/>
            <a:ext cx="340044" cy="34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6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50" grpId="0" animBg="1"/>
      <p:bldP spid="51" grpId="0"/>
      <p:bldP spid="52" grpId="0"/>
      <p:bldP spid="83" grpId="0" animBg="1"/>
      <p:bldP spid="84" grpId="0" animBg="1"/>
      <p:bldP spid="85" grpId="0"/>
      <p:bldP spid="86" grpId="0" animBg="1"/>
      <p:bldP spid="87" grpId="0" animBg="1"/>
      <p:bldP spid="88" grpId="0"/>
      <p:bldP spid="89" grpId="0"/>
      <p:bldP spid="90" grpId="0"/>
      <p:bldP spid="91" grpId="0"/>
      <p:bldP spid="9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9157028" y="2876197"/>
            <a:ext cx="2533233" cy="27265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68014" y="2876198"/>
            <a:ext cx="2278451" cy="272657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68014" y="782191"/>
            <a:ext cx="11255379" cy="14186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963093" y="2876198"/>
            <a:ext cx="4130040" cy="27265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12158" y="562558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87124" y="562691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3942" y="562691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Advertiser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97400" y="23879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PSP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左箭头 1"/>
          <p:cNvSpPr/>
          <p:nvPr/>
        </p:nvSpPr>
        <p:spPr>
          <a:xfrm>
            <a:off x="8093134" y="3973477"/>
            <a:ext cx="1028460" cy="532014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881389" y="1172114"/>
                <a:ext cx="83402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mtClean="0"/>
                  <a:t>D</a:t>
                </a:r>
                <a:r>
                  <a:rPr lang="zh-CN" altLang="en-US"/>
                  <a:t>　</a:t>
                </a:r>
                <a:r>
                  <a:rPr lang="en-US" altLang="zh-CN" smtClean="0"/>
                  <a:t>Dset  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分隔符 每个用户在组中独一</a:t>
                </a:r>
                <a:r>
                  <a:rPr lang="zh-CN" altLang="en-US"/>
                  <a:t>无</a:t>
                </a:r>
                <a:r>
                  <a:rPr lang="zh-CN" altLang="en-US" smtClean="0"/>
                  <a:t>二</a:t>
                </a:r>
                <a:r>
                  <a:rPr lang="en-US" altLang="zh-CN" smtClean="0"/>
                  <a:t>Dset={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…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mtClean="0"/>
                  <a:t>}  </a:t>
                </a:r>
                <a:r>
                  <a:rPr lang="zh-CN" altLang="en-US" smtClean="0"/>
                  <a:t>超增长序列    </a:t>
                </a:r>
                <a:endParaRPr lang="en-US" altLang="zh-CN" dirty="0"/>
              </a:p>
              <a:p>
                <a:r>
                  <a:rPr lang="en-US" altLang="zh-CN" dirty="0"/>
                  <a:t>SS   GSS</a:t>
                </a:r>
                <a:r>
                  <a:rPr lang="zh-CN" altLang="en-US"/>
                  <a:t>群</a:t>
                </a:r>
                <a:r>
                  <a:rPr lang="zh-CN" altLang="en-US" dirty="0"/>
                  <a:t>组秘密共享 </a:t>
                </a:r>
                <a:r>
                  <a:rPr lang="en-US" altLang="zh-CN" dirty="0"/>
                  <a:t>GSS={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SS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SS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…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SS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mtClean="0"/>
                  <a:t>}   sum = 0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389" y="1172114"/>
                <a:ext cx="8340226" cy="646331"/>
              </a:xfrm>
              <a:prstGeom prst="rect">
                <a:avLst/>
              </a:prstGeom>
              <a:blipFill>
                <a:blip r:embed="rId2"/>
                <a:stretch>
                  <a:fillRect l="-658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0772012" y="23635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1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52606" y="2336259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GID UID D SS</a:t>
            </a:r>
            <a:endParaRPr lang="zh-CN" altLang="en-US" b="1"/>
          </a:p>
        </p:txBody>
      </p:sp>
      <p:sp>
        <p:nvSpPr>
          <p:cNvPr id="14" name="下箭头 13"/>
          <p:cNvSpPr/>
          <p:nvPr/>
        </p:nvSpPr>
        <p:spPr>
          <a:xfrm>
            <a:off x="10352667" y="2223448"/>
            <a:ext cx="419345" cy="66628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195904" y="3565104"/>
            <a:ext cx="25332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Uname</a:t>
            </a:r>
            <a:r>
              <a:rPr lang="en-US" altLang="zh-CN" dirty="0"/>
              <a:t> </a:t>
            </a:r>
            <a:r>
              <a:rPr lang="zh-CN" altLang="en-US" dirty="0"/>
              <a:t>一个用户名</a:t>
            </a:r>
            <a:endParaRPr lang="en-US" altLang="zh-CN" dirty="0"/>
          </a:p>
          <a:p>
            <a:r>
              <a:rPr lang="en-US" altLang="zh-CN" dirty="0" err="1"/>
              <a:t>AttSet</a:t>
            </a:r>
            <a:r>
              <a:rPr lang="en-US" altLang="zh-CN" dirty="0"/>
              <a:t>    </a:t>
            </a:r>
            <a:r>
              <a:rPr lang="zh-CN" altLang="en-US" dirty="0"/>
              <a:t>属性集合</a:t>
            </a:r>
            <a:endParaRPr lang="en-US" altLang="zh-CN" dirty="0"/>
          </a:p>
          <a:p>
            <a:r>
              <a:rPr lang="en-US" altLang="zh-CN" dirty="0" err="1"/>
              <a:t>EPf</a:t>
            </a:r>
            <a:r>
              <a:rPr lang="en-US" altLang="zh-CN" dirty="0"/>
              <a:t> </a:t>
            </a:r>
            <a:r>
              <a:rPr lang="zh-CN" altLang="en-US" b="1" dirty="0"/>
              <a:t>同态</a:t>
            </a:r>
            <a:r>
              <a:rPr lang="zh-CN" altLang="en-US" b="1" dirty="0">
                <a:solidFill>
                  <a:srgbClr val="FF0000"/>
                </a:solidFill>
              </a:rPr>
              <a:t>加密</a:t>
            </a:r>
            <a:r>
              <a:rPr lang="zh-CN" altLang="en-US" dirty="0"/>
              <a:t>的属性  </a:t>
            </a:r>
            <a:endParaRPr lang="en-US" altLang="zh-CN" dirty="0"/>
          </a:p>
          <a:p>
            <a:r>
              <a:rPr lang="en-US" altLang="zh-CN" dirty="0" err="1"/>
              <a:t>AttSet</a:t>
            </a:r>
            <a:r>
              <a:rPr lang="en-US" altLang="zh-CN" dirty="0"/>
              <a:t> D </a:t>
            </a:r>
            <a:r>
              <a:rPr lang="en-US" altLang="zh-CN"/>
              <a:t>SS </a:t>
            </a:r>
            <a:r>
              <a:rPr lang="en-US" altLang="zh-CN" smtClean="0"/>
              <a:t>PK  BF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341586" y="4519064"/>
            <a:ext cx="8931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Uname</a:t>
            </a:r>
          </a:p>
          <a:p>
            <a:r>
              <a:rPr lang="en-US" altLang="zh-CN"/>
              <a:t>GID  </a:t>
            </a:r>
          </a:p>
          <a:p>
            <a:r>
              <a:rPr lang="en-US" altLang="zh-CN"/>
              <a:t>EPf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701861" y="367282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2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26937" y="3015278"/>
            <a:ext cx="3405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DB  Insert(Uname GID Epf Epf</a:t>
            </a:r>
            <a:r>
              <a:rPr lang="zh-CN" altLang="en-US"/>
              <a:t>帽</a:t>
            </a:r>
            <a:r>
              <a:rPr lang="en-US" altLang="zh-CN"/>
              <a:t>)</a:t>
            </a:r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7148079" y="3497692"/>
            <a:ext cx="847898" cy="1263533"/>
            <a:chOff x="4772237" y="3859665"/>
            <a:chExt cx="847898" cy="1263533"/>
          </a:xfrm>
        </p:grpSpPr>
        <p:sp>
          <p:nvSpPr>
            <p:cNvPr id="21" name="圆柱形 20"/>
            <p:cNvSpPr/>
            <p:nvPr/>
          </p:nvSpPr>
          <p:spPr>
            <a:xfrm>
              <a:off x="4772237" y="4624435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柱形 19"/>
            <p:cNvSpPr/>
            <p:nvPr/>
          </p:nvSpPr>
          <p:spPr>
            <a:xfrm>
              <a:off x="4772237" y="4242050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柱形 18"/>
            <p:cNvSpPr/>
            <p:nvPr/>
          </p:nvSpPr>
          <p:spPr>
            <a:xfrm>
              <a:off x="4772237" y="3859665"/>
              <a:ext cx="847898" cy="498763"/>
            </a:xfrm>
            <a:prstGeom prst="can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411052" y="486687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DB</a:t>
            </a:r>
            <a:endParaRPr lang="zh-CN" altLang="en-US" b="1"/>
          </a:p>
        </p:txBody>
      </p:sp>
      <p:sp>
        <p:nvSpPr>
          <p:cNvPr id="23" name="文本框 22"/>
          <p:cNvSpPr txBox="1"/>
          <p:nvPr/>
        </p:nvSpPr>
        <p:spPr>
          <a:xfrm>
            <a:off x="233801" y="3571445"/>
            <a:ext cx="24080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PName </a:t>
            </a:r>
            <a:r>
              <a:rPr lang="zh-CN" altLang="en-US"/>
              <a:t>选择一个名字</a:t>
            </a:r>
            <a:endParaRPr lang="en-US" altLang="zh-CN"/>
          </a:p>
          <a:p>
            <a:r>
              <a:rPr lang="en-US" altLang="zh-CN"/>
              <a:t>Product </a:t>
            </a:r>
            <a:r>
              <a:rPr lang="zh-CN" altLang="en-US"/>
              <a:t>选择一个产品</a:t>
            </a:r>
            <a:endParaRPr lang="en-US" altLang="zh-CN"/>
          </a:p>
          <a:p>
            <a:r>
              <a:rPr lang="en-US" altLang="zh-CN"/>
              <a:t>Taud     </a:t>
            </a:r>
            <a:r>
              <a:rPr lang="zh-CN" altLang="en-US"/>
              <a:t>对象属性</a:t>
            </a:r>
            <a:endParaRPr lang="en-US" altLang="zh-CN"/>
          </a:p>
          <a:p>
            <a:r>
              <a:rPr lang="en-US" altLang="zh-CN"/>
              <a:t>Req       </a:t>
            </a:r>
            <a:r>
              <a:rPr lang="en-US" altLang="zh-CN" smtClean="0"/>
              <a:t>BF</a:t>
            </a:r>
            <a:endParaRPr lang="zh-CN" altLang="en-US"/>
          </a:p>
        </p:txBody>
      </p:sp>
      <p:sp>
        <p:nvSpPr>
          <p:cNvPr id="24" name="左箭头 23"/>
          <p:cNvSpPr/>
          <p:nvPr/>
        </p:nvSpPr>
        <p:spPr>
          <a:xfrm rot="10800000">
            <a:off x="2706224" y="3136233"/>
            <a:ext cx="1223531" cy="532014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055241" y="283638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3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65614" y="3574906"/>
            <a:ext cx="10230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Pname </a:t>
            </a:r>
          </a:p>
          <a:p>
            <a:r>
              <a:rPr lang="en-US" altLang="zh-CN"/>
              <a:t>Product </a:t>
            </a:r>
          </a:p>
          <a:p>
            <a:r>
              <a:rPr lang="en-US" altLang="zh-CN"/>
              <a:t>Req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089513" y="3402240"/>
            <a:ext cx="3722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RID </a:t>
            </a:r>
            <a:r>
              <a:rPr lang="zh-CN" altLang="en-US"/>
              <a:t>独一无二的请求</a:t>
            </a:r>
            <a:r>
              <a:rPr lang="en-US" altLang="zh-CN"/>
              <a:t>ID </a:t>
            </a:r>
          </a:p>
          <a:p>
            <a:r>
              <a:rPr lang="en-US" altLang="zh-CN"/>
              <a:t>DB Insert (RID  Pname Product Req)</a:t>
            </a:r>
            <a:endParaRPr lang="zh-CN" altLang="en-US"/>
          </a:p>
        </p:txBody>
      </p:sp>
      <p:sp>
        <p:nvSpPr>
          <p:cNvPr id="30" name="左箭头 29"/>
          <p:cNvSpPr/>
          <p:nvPr/>
        </p:nvSpPr>
        <p:spPr>
          <a:xfrm>
            <a:off x="2580678" y="4761225"/>
            <a:ext cx="1301606" cy="532014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089245" y="446057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4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916263" y="5299668"/>
            <a:ext cx="53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RID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795547" y="231329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5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363632" y="2331183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Req </a:t>
            </a:r>
            <a:r>
              <a:rPr lang="zh-CN" altLang="en-US" b="1"/>
              <a:t>聚合</a:t>
            </a:r>
          </a:p>
        </p:txBody>
      </p:sp>
      <p:sp>
        <p:nvSpPr>
          <p:cNvPr id="36" name="下箭头 35"/>
          <p:cNvSpPr/>
          <p:nvPr/>
        </p:nvSpPr>
        <p:spPr>
          <a:xfrm rot="10800000">
            <a:off x="6388917" y="2218636"/>
            <a:ext cx="419345" cy="66628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下箭头 36"/>
          <p:cNvSpPr/>
          <p:nvPr/>
        </p:nvSpPr>
        <p:spPr>
          <a:xfrm>
            <a:off x="7112691" y="2200830"/>
            <a:ext cx="419345" cy="666289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540513" y="23222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6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775134" y="2325004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Res</a:t>
            </a:r>
            <a:endParaRPr lang="zh-CN" altLang="en-US" b="1"/>
          </a:p>
        </p:txBody>
      </p:sp>
      <p:grpSp>
        <p:nvGrpSpPr>
          <p:cNvPr id="47" name="组合 46"/>
          <p:cNvGrpSpPr/>
          <p:nvPr/>
        </p:nvGrpSpPr>
        <p:grpSpPr>
          <a:xfrm>
            <a:off x="8067980" y="5386484"/>
            <a:ext cx="1089047" cy="132209"/>
            <a:chOff x="8093133" y="5669000"/>
            <a:chExt cx="1089047" cy="132209"/>
          </a:xfrm>
        </p:grpSpPr>
        <p:sp>
          <p:nvSpPr>
            <p:cNvPr id="25" name="矩形 24"/>
            <p:cNvSpPr/>
            <p:nvPr/>
          </p:nvSpPr>
          <p:spPr>
            <a:xfrm>
              <a:off x="8093133" y="5669000"/>
              <a:ext cx="134568" cy="13220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8227701" y="5669000"/>
              <a:ext cx="134568" cy="13220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8362269" y="5669000"/>
              <a:ext cx="134568" cy="13220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8496837" y="5669000"/>
              <a:ext cx="134568" cy="13220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8643908" y="5669000"/>
              <a:ext cx="134568" cy="13220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8778476" y="5669000"/>
              <a:ext cx="134568" cy="13220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8913044" y="5669000"/>
              <a:ext cx="134568" cy="13220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9047612" y="5669000"/>
              <a:ext cx="134568" cy="13220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矩形 48"/>
          <p:cNvSpPr/>
          <p:nvPr/>
        </p:nvSpPr>
        <p:spPr>
          <a:xfrm>
            <a:off x="2718525" y="2704178"/>
            <a:ext cx="134568" cy="1322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2853093" y="2704178"/>
            <a:ext cx="134568" cy="1322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2987661" y="2704178"/>
            <a:ext cx="134568" cy="1322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3122229" y="2704178"/>
            <a:ext cx="134568" cy="1322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258283" y="2704178"/>
            <a:ext cx="134568" cy="1322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392851" y="2704178"/>
            <a:ext cx="134568" cy="1322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538436" y="2704178"/>
            <a:ext cx="134568" cy="1322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3673004" y="2704178"/>
            <a:ext cx="134568" cy="1322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0" y="152400"/>
            <a:ext cx="3629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PPAD System Overview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82B6A66-5C15-4EE9-B43D-E06C94DAD5DD}"/>
              </a:ext>
            </a:extLst>
          </p:cNvPr>
          <p:cNvSpPr txBox="1"/>
          <p:nvPr/>
        </p:nvSpPr>
        <p:spPr>
          <a:xfrm>
            <a:off x="664050" y="1363674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PK </a:t>
            </a:r>
            <a:r>
              <a:rPr lang="en-US" altLang="zh-CN" smtClean="0"/>
              <a:t>SK  </a:t>
            </a:r>
            <a:r>
              <a:rPr lang="zh-CN" altLang="en-US" smtClean="0"/>
              <a:t>公私钥</a:t>
            </a:r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665F0DE-89A3-4A0C-A828-0B32025B795A}"/>
              </a:ext>
            </a:extLst>
          </p:cNvPr>
          <p:cNvSpPr/>
          <p:nvPr/>
        </p:nvSpPr>
        <p:spPr>
          <a:xfrm>
            <a:off x="8876476" y="2626276"/>
            <a:ext cx="5245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PK </a:t>
            </a:r>
            <a:endParaRPr lang="zh-CN" altLang="en-US" b="1" dirty="0"/>
          </a:p>
        </p:txBody>
      </p:sp>
      <p:sp>
        <p:nvSpPr>
          <p:cNvPr id="59" name="矩形 58"/>
          <p:cNvSpPr/>
          <p:nvPr/>
        </p:nvSpPr>
        <p:spPr>
          <a:xfrm>
            <a:off x="663215" y="857894"/>
            <a:ext cx="1527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GID</a:t>
            </a:r>
            <a:r>
              <a:rPr lang="zh-CN" altLang="en-US"/>
              <a:t>　</a:t>
            </a:r>
            <a:r>
              <a:rPr lang="zh-CN" altLang="en-US" smtClean="0"/>
              <a:t> 群</a:t>
            </a:r>
            <a:r>
              <a:rPr lang="zh-CN" altLang="en-US"/>
              <a:t>组</a:t>
            </a:r>
            <a:r>
              <a:rPr lang="en-US" altLang="zh-CN"/>
              <a:t>ID</a:t>
            </a:r>
            <a:endParaRPr lang="en-US" altLang="zh-CN" dirty="0"/>
          </a:p>
        </p:txBody>
      </p:sp>
      <p:sp>
        <p:nvSpPr>
          <p:cNvPr id="60" name="矩形 59"/>
          <p:cNvSpPr/>
          <p:nvPr/>
        </p:nvSpPr>
        <p:spPr>
          <a:xfrm>
            <a:off x="663215" y="1098794"/>
            <a:ext cx="1545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UID </a:t>
            </a:r>
            <a:r>
              <a:rPr lang="en-US" altLang="zh-CN" smtClean="0"/>
              <a:t>    </a:t>
            </a:r>
            <a:r>
              <a:rPr lang="zh-CN" altLang="en-US" smtClean="0"/>
              <a:t>用</a:t>
            </a:r>
            <a:r>
              <a:rPr lang="zh-CN" altLang="en-US"/>
              <a:t>户</a:t>
            </a:r>
            <a:r>
              <a:rPr lang="en-US" altLang="zh-CN"/>
              <a:t>ID</a:t>
            </a:r>
            <a:endParaRPr lang="zh-CN" altLang="en-US" dirty="0"/>
          </a:p>
        </p:txBody>
      </p:sp>
      <p:sp>
        <p:nvSpPr>
          <p:cNvPr id="61" name="矩形 60"/>
          <p:cNvSpPr/>
          <p:nvPr/>
        </p:nvSpPr>
        <p:spPr>
          <a:xfrm>
            <a:off x="719084" y="1615348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K </a:t>
            </a:r>
            <a:r>
              <a:rPr lang="en-US" altLang="zh-CN" smtClean="0"/>
              <a:t>       </a:t>
            </a:r>
            <a:r>
              <a:rPr lang="zh-CN" altLang="en-US" smtClean="0"/>
              <a:t>群</a:t>
            </a:r>
            <a:r>
              <a:rPr lang="zh-CN" altLang="en-US"/>
              <a:t>组大小</a:t>
            </a:r>
          </a:p>
        </p:txBody>
      </p:sp>
    </p:spTree>
    <p:extLst>
      <p:ext uri="{BB962C8B-B14F-4D97-AF65-F5344CB8AC3E}">
        <p14:creationId xmlns:p14="http://schemas.microsoft.com/office/powerpoint/2010/main" val="210645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39" y="294734"/>
            <a:ext cx="10933333" cy="33809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39" y="3800857"/>
            <a:ext cx="10933333" cy="3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78" y="801761"/>
            <a:ext cx="10343851" cy="498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8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1589</Words>
  <Application>Microsoft Office PowerPoint</Application>
  <PresentationFormat>宽屏</PresentationFormat>
  <Paragraphs>968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-apple-system</vt:lpstr>
      <vt:lpstr>Open Sans</vt:lpstr>
      <vt:lpstr>等线</vt:lpstr>
      <vt:lpstr>等线 Light</vt:lpstr>
      <vt:lpstr>微软雅黑</vt:lpstr>
      <vt:lpstr>Arial</vt:lpstr>
      <vt:lpstr>Cambria Math</vt:lpstr>
      <vt:lpstr>Segoe UI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Joe</dc:creator>
  <cp:lastModifiedBy>Joe</cp:lastModifiedBy>
  <cp:revision>192</cp:revision>
  <dcterms:created xsi:type="dcterms:W3CDTF">2019-06-01T08:00:36Z</dcterms:created>
  <dcterms:modified xsi:type="dcterms:W3CDTF">2019-06-19T00:30:08Z</dcterms:modified>
</cp:coreProperties>
</file>